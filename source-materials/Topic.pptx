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91" r:id="rId4"/>
    <p:sldMasterId id="2147483904" r:id="rId5"/>
  </p:sldMasterIdLst>
  <p:notesMasterIdLst>
    <p:notesMasterId r:id="rId14"/>
  </p:notesMasterIdLst>
  <p:handoutMasterIdLst>
    <p:handoutMasterId r:id="rId15"/>
  </p:handoutMasterIdLst>
  <p:sldIdLst>
    <p:sldId id="297" r:id="rId6"/>
    <p:sldId id="358" r:id="rId7"/>
    <p:sldId id="359" r:id="rId8"/>
    <p:sldId id="360" r:id="rId9"/>
    <p:sldId id="350" r:id="rId10"/>
    <p:sldId id="362" r:id="rId11"/>
    <p:sldId id="361" r:id="rId12"/>
    <p:sldId id="341" r:id="rId13"/>
  </p:sldIdLst>
  <p:sldSz cx="12192000" cy="6858000"/>
  <p:notesSz cx="6858000" cy="9144000"/>
  <p:defaultTextStyle>
    <a:defPPr>
      <a:defRPr lang="de-DE"/>
    </a:defPPr>
    <a:lvl1pPr marL="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1pPr>
    <a:lvl2pPr marL="4114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2pPr>
    <a:lvl3pPr marL="8229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3pPr>
    <a:lvl4pPr marL="12344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4pPr>
    <a:lvl5pPr marL="164592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5pPr>
    <a:lvl6pPr marL="205740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6pPr>
    <a:lvl7pPr marL="24688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7pPr>
    <a:lvl8pPr marL="28803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8pPr>
    <a:lvl9pPr marL="32918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nöfel,Anja" initials="K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8C"/>
    <a:srgbClr val="2F57B2"/>
    <a:srgbClr val="009EE0"/>
    <a:srgbClr val="49B7E8"/>
    <a:srgbClr val="336699"/>
    <a:srgbClr val="B2C1DB"/>
    <a:srgbClr val="13A983"/>
    <a:srgbClr val="009BA4"/>
    <a:srgbClr val="93C3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113A9D2-9D6B-4929-AA2D-F23B5EE8CBE7}" styleName="Designformatvorlage 2 - Akz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Dunkle Formatvorlage 1 - Akz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79" autoAdjust="0"/>
    <p:restoredTop sz="90099" autoAdjust="0"/>
  </p:normalViewPr>
  <p:slideViewPr>
    <p:cSldViewPr snapToGrid="0" snapToObjects="1">
      <p:cViewPr varScale="1">
        <p:scale>
          <a:sx n="144" d="100"/>
          <a:sy n="144" d="100"/>
        </p:scale>
        <p:origin x="52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AC6211-610F-44E5-BF19-D3CDF6EDD281}" type="datetimeFigureOut">
              <a:rPr lang="de-DE" smtClean="0"/>
              <a:t>21.04.26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61AA8-FB04-42D1-9939-D1A1356F80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31560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7435D3-23A6-45D3-8DFA-7317DC1E7A64}" type="datetimeFigureOut">
              <a:rPr lang="de-DE" smtClean="0"/>
              <a:t>21.04.26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9AC09-DF60-43F4-96BF-67D4D9A7409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318259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3481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elfolie_T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1025526"/>
            <a:ext cx="12192000" cy="5832476"/>
          </a:xfrm>
          <a:prstGeom prst="rect">
            <a:avLst/>
          </a:prstGeom>
          <a:gradFill>
            <a:gsLst>
              <a:gs pos="14000">
                <a:schemeClr val="tx2"/>
              </a:gs>
              <a:gs pos="100000">
                <a:schemeClr val="accent2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74714" y="4494775"/>
            <a:ext cx="10438871" cy="1334525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>
                    <a:alpha val="80000"/>
                  </a:schemeClr>
                </a:solidFill>
              </a:defRPr>
            </a:lvl1pPr>
            <a:lvl2pPr marL="457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  <a:br>
              <a:rPr lang="de-DE" dirty="0"/>
            </a:br>
            <a:r>
              <a:rPr lang="de-DE" dirty="0"/>
              <a:t>Ort oder Anlass des Vortrags // Samstag, 13. Januar 2018</a:t>
            </a:r>
          </a:p>
        </p:txBody>
      </p:sp>
      <p:sp>
        <p:nvSpPr>
          <p:cNvPr id="26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2420841"/>
            <a:ext cx="10438873" cy="828676"/>
          </a:xfrm>
          <a:ln>
            <a:noFill/>
          </a:ln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  <a:br>
              <a:rPr lang="de-DE" dirty="0"/>
            </a:br>
            <a:r>
              <a:rPr lang="de-DE" dirty="0"/>
              <a:t>Struktureinheit  der TU Dresden</a:t>
            </a:r>
          </a:p>
        </p:txBody>
      </p:sp>
      <p:sp>
        <p:nvSpPr>
          <p:cNvPr id="4" name="Rechteck 3"/>
          <p:cNvSpPr/>
          <p:nvPr/>
        </p:nvSpPr>
        <p:spPr>
          <a:xfrm>
            <a:off x="0" y="1025525"/>
            <a:ext cx="12192000" cy="171451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874713" y="3392203"/>
            <a:ext cx="10438873" cy="972108"/>
          </a:xfrm>
          <a:ln>
            <a:noFill/>
          </a:ln>
        </p:spPr>
        <p:txBody>
          <a:bodyPr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</a:t>
            </a:r>
            <a:br>
              <a:rPr lang="de-DE" dirty="0"/>
            </a:br>
            <a:r>
              <a:rPr lang="de-DE" dirty="0"/>
              <a:t>durch Klicken bearbeiten</a:t>
            </a:r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31"/>
            <a:ext cx="1764738" cy="51318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0964" y="389526"/>
            <a:ext cx="1248037" cy="47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912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_T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74712" y="4494775"/>
            <a:ext cx="10438873" cy="1334525"/>
          </a:xfrm>
        </p:spPr>
        <p:txBody>
          <a:bodyPr/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457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  <a:br>
              <a:rPr lang="de-DE" dirty="0"/>
            </a:br>
            <a:r>
              <a:rPr lang="de-DE" dirty="0"/>
              <a:t>Ort oder Anlass des Vortrags // Samstag, 13. Januar 2018</a:t>
            </a:r>
          </a:p>
        </p:txBody>
      </p:sp>
      <p:sp>
        <p:nvSpPr>
          <p:cNvPr id="26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2420841"/>
            <a:ext cx="10438873" cy="828676"/>
          </a:xfrm>
          <a:ln>
            <a:noFill/>
          </a:ln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  <a:br>
              <a:rPr lang="de-DE" dirty="0"/>
            </a:br>
            <a:r>
              <a:rPr lang="de-DE" dirty="0"/>
              <a:t>Struktureinheit  der TU Dresden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74713" y="3392203"/>
            <a:ext cx="10438873" cy="972108"/>
          </a:xfrm>
          <a:ln>
            <a:noFill/>
          </a:ln>
        </p:spPr>
        <p:txBody>
          <a:bodyPr/>
          <a:lstStyle>
            <a:lvl1pPr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</a:t>
            </a:r>
            <a:br>
              <a:rPr lang="de-DE" dirty="0"/>
            </a:br>
            <a:r>
              <a:rPr lang="de-DE" dirty="0"/>
              <a:t>durch Klicken bearbeiten</a:t>
            </a:r>
          </a:p>
        </p:txBody>
      </p:sp>
      <p:cxnSp>
        <p:nvCxnSpPr>
          <p:cNvPr id="8" name="Gerade Verbindung 14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4"/>
          <p:cNvCxnSpPr/>
          <p:nvPr/>
        </p:nvCxnSpPr>
        <p:spPr>
          <a:xfrm>
            <a:off x="0" y="1206000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31"/>
            <a:ext cx="1764738" cy="51318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0964" y="389526"/>
            <a:ext cx="1248037" cy="47339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417" y="429274"/>
            <a:ext cx="1269401" cy="34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19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/>
          </p:nvPr>
        </p:nvSpPr>
        <p:spPr>
          <a:xfrm>
            <a:off x="874711" y="1440000"/>
            <a:ext cx="10580688" cy="4680000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  <a:lvl3pPr>
              <a:spcBef>
                <a:spcPts val="600"/>
              </a:spcBef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28119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Viz-Kap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0" y="2"/>
            <a:ext cx="12192000" cy="6330948"/>
          </a:xfrm>
          <a:prstGeom prst="rect">
            <a:avLst/>
          </a:prstGeom>
          <a:gradFill>
            <a:gsLst>
              <a:gs pos="14000">
                <a:schemeClr val="tx2"/>
              </a:gs>
              <a:gs pos="100000">
                <a:schemeClr val="accent2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60651" y="1481138"/>
            <a:ext cx="9531350" cy="1198491"/>
          </a:xfrm>
        </p:spPr>
        <p:txBody>
          <a:bodyPr/>
          <a:lstStyle>
            <a:lvl1pPr>
              <a:defRPr sz="33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112071" y="1325593"/>
            <a:ext cx="1388697" cy="1209102"/>
          </a:xfrm>
        </p:spPr>
        <p:txBody>
          <a:bodyPr/>
          <a:lstStyle>
            <a:lvl1pPr algn="r">
              <a:defRPr sz="8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9600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067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365749" y="1440000"/>
            <a:ext cx="6089649" cy="440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874711" y="1440000"/>
            <a:ext cx="4300539" cy="1332000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de-DE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4"/>
          </p:nvPr>
        </p:nvSpPr>
        <p:spPr>
          <a:xfrm>
            <a:off x="874712" y="2932359"/>
            <a:ext cx="4300537" cy="1332000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de-DE"/>
          </a:p>
        </p:txBody>
      </p:sp>
      <p:sp>
        <p:nvSpPr>
          <p:cNvPr id="11" name="Bildplatzhalter 7"/>
          <p:cNvSpPr>
            <a:spLocks noGrp="1"/>
          </p:cNvSpPr>
          <p:nvPr>
            <p:ph type="pic" sz="quarter" idx="15"/>
          </p:nvPr>
        </p:nvSpPr>
        <p:spPr>
          <a:xfrm>
            <a:off x="874710" y="4402050"/>
            <a:ext cx="4300537" cy="1427249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1138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6267449" y="1440000"/>
            <a:ext cx="5187950" cy="4680000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4"/>
          </p:nvPr>
        </p:nvSpPr>
        <p:spPr>
          <a:xfrm>
            <a:off x="874713" y="1440000"/>
            <a:ext cx="5195887" cy="4680000"/>
          </a:xfrm>
        </p:spPr>
        <p:txBody>
          <a:bodyPr/>
          <a:lstStyle>
            <a:lvl3pPr marL="285750" indent="-285750" algn="l">
              <a:buFont typeface="Wingdings" charset="2"/>
              <a:buChar char="§"/>
              <a:defRPr/>
            </a:lvl3pPr>
            <a:lvl4pPr marL="395942" indent="-215969">
              <a:buFont typeface=".AppleSystemUIFont" charset="-120"/>
              <a:buChar char="-"/>
              <a:defRPr/>
            </a:lvl4pPr>
            <a:lvl5pPr>
              <a:defRPr/>
            </a:lvl5pPr>
            <a:lvl6pPr>
              <a:defRPr lang="en-US" sz="1400" b="0" kern="1200" baseline="0" dirty="0" smtClean="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70242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/>
          </p:nvPr>
        </p:nvSpPr>
        <p:spPr>
          <a:xfrm>
            <a:off x="874713" y="1440000"/>
            <a:ext cx="5195887" cy="4680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6267449" y="1440000"/>
            <a:ext cx="5187950" cy="4680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3661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5"/>
            <a:ext cx="10580687" cy="6842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/>
          </p:nvPr>
        </p:nvSpPr>
        <p:spPr>
          <a:xfrm>
            <a:off x="874712" y="1440000"/>
            <a:ext cx="3399576" cy="4689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8070849" y="1440000"/>
            <a:ext cx="3384550" cy="4689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4457700" y="1440000"/>
            <a:ext cx="3416300" cy="4689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43359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9847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0"/>
          </p:nvPr>
        </p:nvSpPr>
        <p:spPr>
          <a:xfrm>
            <a:off x="0" y="1030288"/>
            <a:ext cx="12192000" cy="5099050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8956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6"/>
            <a:ext cx="12192000" cy="6129331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9611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7C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8B918132-E4FF-8F24-35A1-809F67B76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678" t="40771" r="45859" b="45538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505012"/>
            <a:ext cx="7650822" cy="1403352"/>
          </a:xfrm>
          <a:prstGeom prst="rect">
            <a:avLst/>
          </a:prstGeom>
        </p:spPr>
        <p:txBody>
          <a:bodyPr anchor="ctr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Mastertitelformat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4140386"/>
            <a:ext cx="7250113" cy="539750"/>
          </a:xfrm>
        </p:spPr>
        <p:txBody>
          <a:bodyPr anchor="t"/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Master-</a:t>
            </a:r>
            <a:r>
              <a:rPr lang="en-US" dirty="0" err="1"/>
              <a:t>Untertitelformat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CEC26066-137F-4859-8099-2F31E34E41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400">
                <a:solidFill>
                  <a:srgbClr val="2F57B2"/>
                </a:solidFill>
              </a:defRPr>
            </a:lvl1pPr>
          </a:lstStyle>
          <a:p>
            <a:pPr lvl="0"/>
            <a:r>
              <a:rPr lang="en-US" dirty="0" err="1"/>
              <a:t>Mastertextformat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A00ECE15-2F3F-3AFD-9335-8F26D415AA1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597" y="5784654"/>
            <a:ext cx="2531286" cy="846000"/>
          </a:xfrm>
          <a:prstGeom prst="rect">
            <a:avLst/>
          </a:prstGeom>
        </p:spPr>
      </p:pic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4223FB7-5991-422E-240E-CED025B560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1736725"/>
            <a:ext cx="7650822" cy="539750"/>
          </a:xfrm>
        </p:spPr>
        <p:txBody>
          <a:bodyPr anchor="b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Mastertextformat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 err="1"/>
              <a:t>Dritte</a:t>
            </a:r>
            <a:r>
              <a:rPr lang="en-US" dirty="0"/>
              <a:t> Ebene</a:t>
            </a:r>
          </a:p>
          <a:p>
            <a:pPr lvl="3"/>
            <a:r>
              <a:rPr lang="en-US" dirty="0" err="1"/>
              <a:t>Vierte</a:t>
            </a:r>
            <a:r>
              <a:rPr lang="en-US" dirty="0"/>
              <a:t> Ebene</a:t>
            </a:r>
          </a:p>
          <a:p>
            <a:pPr lvl="4"/>
            <a:r>
              <a:rPr lang="en-US" dirty="0" err="1"/>
              <a:t>Fünfte</a:t>
            </a:r>
            <a:r>
              <a:rPr lang="en-US" dirty="0"/>
              <a:t> Ebene</a:t>
            </a:r>
          </a:p>
        </p:txBody>
      </p:sp>
    </p:spTree>
    <p:extLst>
      <p:ext uri="{BB962C8B-B14F-4D97-AF65-F5344CB8AC3E}">
        <p14:creationId xmlns:p14="http://schemas.microsoft.com/office/powerpoint/2010/main" val="2088313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7C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8B918132-E4FF-8F24-35A1-809F67B76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678" t="40771" r="45859" b="45538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505012"/>
            <a:ext cx="7650822" cy="1403352"/>
          </a:xfrm>
          <a:prstGeom prst="rect">
            <a:avLst/>
          </a:prstGeom>
        </p:spPr>
        <p:txBody>
          <a:bodyPr anchor="ctr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Mastertitelformat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4140386"/>
            <a:ext cx="7250113" cy="539750"/>
          </a:xfrm>
        </p:spPr>
        <p:txBody>
          <a:bodyPr anchor="t"/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Master-</a:t>
            </a:r>
            <a:r>
              <a:rPr lang="en-US" dirty="0" err="1"/>
              <a:t>Untertitelformat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CEC26066-137F-4859-8099-2F31E34E41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400">
                <a:solidFill>
                  <a:srgbClr val="2F57B2"/>
                </a:solidFill>
              </a:defRPr>
            </a:lvl1pPr>
          </a:lstStyle>
          <a:p>
            <a:pPr lvl="0"/>
            <a:r>
              <a:rPr lang="en-US" dirty="0" err="1"/>
              <a:t>Mastertextformat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A00ECE15-2F3F-3AFD-9335-8F26D415AA1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597" y="5784654"/>
            <a:ext cx="2531286" cy="846000"/>
          </a:xfrm>
          <a:prstGeom prst="rect">
            <a:avLst/>
          </a:prstGeom>
        </p:spPr>
      </p:pic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4223FB7-5991-422E-240E-CED025B560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1736725"/>
            <a:ext cx="7650822" cy="539750"/>
          </a:xfrm>
        </p:spPr>
        <p:txBody>
          <a:bodyPr anchor="b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Mastertextformat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 err="1"/>
              <a:t>Dritte</a:t>
            </a:r>
            <a:r>
              <a:rPr lang="en-US" dirty="0"/>
              <a:t> Ebene</a:t>
            </a:r>
          </a:p>
          <a:p>
            <a:pPr lvl="3"/>
            <a:r>
              <a:rPr lang="en-US" dirty="0" err="1"/>
              <a:t>Vierte</a:t>
            </a:r>
            <a:r>
              <a:rPr lang="en-US" dirty="0"/>
              <a:t> Ebene</a:t>
            </a:r>
          </a:p>
          <a:p>
            <a:pPr lvl="4"/>
            <a:r>
              <a:rPr lang="en-US" dirty="0" err="1"/>
              <a:t>Fünfte</a:t>
            </a:r>
            <a:r>
              <a:rPr lang="en-US" dirty="0"/>
              <a:t> Ebene</a:t>
            </a:r>
          </a:p>
        </p:txBody>
      </p:sp>
    </p:spTree>
    <p:extLst>
      <p:ext uri="{BB962C8B-B14F-4D97-AF65-F5344CB8AC3E}">
        <p14:creationId xmlns:p14="http://schemas.microsoft.com/office/powerpoint/2010/main" val="2081625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ischenseite_variabel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B1607CC-7926-42F8-A9D4-9EB30CCC4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4013" t="41091" r="43585" b="4109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09599" y="4063913"/>
            <a:ext cx="7065197" cy="1350568"/>
          </a:xfrm>
          <a:prstGeom prst="rect">
            <a:avLst/>
          </a:prstGeom>
        </p:spPr>
        <p:txBody>
          <a:bodyPr anchor="t"/>
          <a:lstStyle>
            <a:lvl1pPr>
              <a:defRPr sz="28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 err="1"/>
              <a:t>Mastertitelformat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609599" y="3010328"/>
            <a:ext cx="6335731" cy="691160"/>
          </a:xfrm>
          <a:prstGeom prst="rect">
            <a:avLst/>
          </a:prstGeom>
        </p:spPr>
        <p:txBody>
          <a:bodyPr anchor="b"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 err="1"/>
              <a:t>Mastertextformat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D72FC72-0865-4AAF-8322-C3045B84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515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74712" y="346075"/>
            <a:ext cx="10580687" cy="68421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Das ist eine Überschrift</a:t>
            </a:r>
            <a:br>
              <a:rPr lang="de-DE" dirty="0"/>
            </a:br>
            <a:r>
              <a:rPr lang="de-DE" dirty="0"/>
              <a:t>in zwei Zeilen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74712" y="1440000"/>
            <a:ext cx="10580687" cy="46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Erste Textebene (16pt)</a:t>
            </a:r>
          </a:p>
          <a:p>
            <a:pPr lvl="1"/>
            <a:r>
              <a:rPr lang="de-DE" dirty="0"/>
              <a:t>Zweite Textebene für Aufzählungen</a:t>
            </a:r>
          </a:p>
          <a:p>
            <a:pPr lvl="2"/>
            <a:r>
              <a:rPr lang="de-DE" dirty="0"/>
              <a:t>Dritte Textebene bei viel Text (14pt)</a:t>
            </a:r>
          </a:p>
          <a:p>
            <a:pPr lvl="3"/>
            <a:r>
              <a:rPr lang="de-DE" dirty="0"/>
              <a:t>Vierte Textebene für Aufzählungen bei viel Text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Zwischenseite</a:t>
            </a:r>
          </a:p>
          <a:p>
            <a:pPr lvl="6"/>
            <a:r>
              <a:rPr lang="de-DE" dirty="0"/>
              <a:t>Für den nächsten Präsentationsabschnitt</a:t>
            </a:r>
          </a:p>
        </p:txBody>
      </p:sp>
      <p:sp>
        <p:nvSpPr>
          <p:cNvPr id="4" name="Textfeld 3"/>
          <p:cNvSpPr txBox="1"/>
          <p:nvPr userDrawn="1"/>
        </p:nvSpPr>
        <p:spPr>
          <a:xfrm>
            <a:off x="2662436" y="6543036"/>
            <a:ext cx="5187950" cy="10772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de-DE" sz="700" b="1" dirty="0">
                <a:solidFill>
                  <a:schemeClr val="bg2"/>
                </a:solidFill>
              </a:rPr>
              <a:t>CMS Team Project Interactive Visual Computing</a:t>
            </a:r>
            <a:r>
              <a:rPr lang="de-DE" sz="7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anose="05000000000000000000" pitchFamily="2" charset="2"/>
              </a:rPr>
              <a:t>,</a:t>
            </a:r>
            <a:r>
              <a:rPr lang="de-DE" sz="700" baseline="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anose="05000000000000000000" pitchFamily="2" charset="2"/>
              </a:rPr>
              <a:t> </a:t>
            </a:r>
            <a:r>
              <a:rPr lang="de-DE" sz="700" baseline="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© 2026.</a:t>
            </a:r>
          </a:p>
        </p:txBody>
      </p:sp>
      <p:cxnSp>
        <p:nvCxnSpPr>
          <p:cNvPr id="8" name="Gerade Verbindung 14"/>
          <p:cNvCxnSpPr/>
          <p:nvPr/>
        </p:nvCxnSpPr>
        <p:spPr>
          <a:xfrm>
            <a:off x="0" y="6336553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11314804" y="6336554"/>
            <a:ext cx="704850" cy="52144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baseline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fld id="{38F97D41-8991-4148-BA02-56FEE4AAF2CC}" type="slidenum">
              <a:rPr lang="de-DE" sz="1800" baseline="0" smtClean="0">
                <a:solidFill>
                  <a:schemeClr val="bg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2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de-DE" sz="1800">
              <a:solidFill>
                <a:schemeClr val="bg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806" y="6378490"/>
            <a:ext cx="1248037" cy="473393"/>
          </a:xfrm>
          <a:prstGeom prst="rect">
            <a:avLst/>
          </a:prstGeom>
        </p:spPr>
      </p:pic>
      <p:pic>
        <p:nvPicPr>
          <p:cNvPr id="6" name="Grafik 16">
            <a:extLst>
              <a:ext uri="{FF2B5EF4-FFF2-40B4-BE49-F238E27FC236}">
                <a16:creationId xmlns:a16="http://schemas.microsoft.com/office/drawing/2014/main" id="{A71BC20E-0454-0464-89EC-216A80D0A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59702" y="6415761"/>
            <a:ext cx="1131297" cy="362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890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1" r:id="rId9"/>
    <p:sldLayoutId id="2147483902" r:id="rId10"/>
    <p:sldLayoutId id="2147483903" r:id="rId11"/>
    <p:sldLayoutId id="2147483907" r:id="rId12"/>
  </p:sldLayoutIdLst>
  <p:hf hdr="0" dt="0"/>
  <p:txStyles>
    <p:titleStyle>
      <a:lvl1pPr algn="l" defTabSz="914269" rtl="0" eaLnBrk="1" latinLnBrk="0" hangingPunct="1">
        <a:spcBef>
          <a:spcPct val="0"/>
        </a:spcBef>
        <a:buNone/>
        <a:defRPr sz="2400" b="1" kern="1200" baseline="0">
          <a:solidFill>
            <a:schemeClr val="accent1"/>
          </a:solidFill>
          <a:latin typeface="Open Sans" panose="020B0606030504020204" pitchFamily="34" charset="0"/>
          <a:ea typeface="+mj-ea"/>
          <a:cs typeface="+mj-cs"/>
        </a:defRPr>
      </a:lvl1pPr>
    </p:titleStyle>
    <p:bodyStyle>
      <a:lvl1pPr marL="0" indent="0" algn="l" defTabSz="914269" rtl="0" eaLnBrk="1" latinLnBrk="0" hangingPunct="1">
        <a:spcBef>
          <a:spcPts val="600"/>
        </a:spcBef>
        <a:buFont typeface="Arial" panose="020B0604020202020204" pitchFamily="34" charset="0"/>
        <a:buNone/>
        <a:defRPr sz="1800" kern="1200">
          <a:solidFill>
            <a:schemeClr val="tx2"/>
          </a:solidFill>
          <a:latin typeface="Open Sans" panose="020B0606030504020204" pitchFamily="34" charset="0"/>
          <a:ea typeface="+mn-ea"/>
          <a:cs typeface="+mn-cs"/>
        </a:defRPr>
      </a:lvl1pPr>
      <a:lvl2pPr marL="360000" indent="-360000" algn="l" defTabSz="914269" rtl="0" eaLnBrk="1" latinLnBrk="0" hangingPunct="1">
        <a:spcBef>
          <a:spcPts val="600"/>
        </a:spcBef>
        <a:buClr>
          <a:schemeClr val="accent1"/>
        </a:buClr>
        <a:buSzPct val="110000"/>
        <a:buFont typeface="Wingdings" charset="2"/>
        <a:buChar char="§"/>
        <a:defRPr sz="1800" kern="1200">
          <a:solidFill>
            <a:schemeClr val="tx2"/>
          </a:solidFill>
          <a:latin typeface="Open Sans" panose="020B0606030504020204" pitchFamily="34" charset="0"/>
          <a:ea typeface="+mn-ea"/>
          <a:cs typeface="+mn-cs"/>
        </a:defRPr>
      </a:lvl2pPr>
      <a:lvl3pPr marL="719138" indent="-360000" algn="l" defTabSz="914269" rtl="0" eaLnBrk="1" latinLnBrk="0" hangingPunct="1"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Open Sans" panose="020B0606030504020204" pitchFamily="34" charset="0"/>
          <a:ea typeface="+mn-ea"/>
          <a:cs typeface="+mn-cs"/>
        </a:defRPr>
      </a:lvl3pPr>
      <a:lvl4pPr marL="360000" indent="0" algn="l" defTabSz="914269" rtl="0" eaLnBrk="1" latinLnBrk="0" hangingPunct="1">
        <a:spcBef>
          <a:spcPts val="600"/>
        </a:spcBef>
        <a:buFontTx/>
        <a:buNone/>
        <a:defRPr sz="1600" kern="1200">
          <a:solidFill>
            <a:schemeClr val="tx2"/>
          </a:solidFill>
          <a:latin typeface="Open Sans" panose="020B0606030504020204" pitchFamily="34" charset="0"/>
          <a:ea typeface="+mn-ea"/>
          <a:cs typeface="+mn-cs"/>
        </a:defRPr>
      </a:lvl4pPr>
      <a:lvl5pPr marL="1080000" indent="-360000" algn="l" defTabSz="914269" rtl="0" eaLnBrk="1" latinLnBrk="0" hangingPunct="1">
        <a:spcBef>
          <a:spcPts val="400"/>
        </a:spcBef>
        <a:buFont typeface="Wingdings" charset="2"/>
        <a:buChar char="§"/>
        <a:defRPr sz="1400" kern="1200" baseline="0">
          <a:solidFill>
            <a:schemeClr val="tx2"/>
          </a:solidFill>
          <a:latin typeface="Open Sans" panose="020B0606030504020204" pitchFamily="34" charset="0"/>
          <a:ea typeface="+mn-ea"/>
          <a:cs typeface="+mn-cs"/>
        </a:defRPr>
      </a:lvl5pPr>
      <a:lvl6pPr marL="358723" indent="0" algn="l" defTabSz="914269" rtl="0" eaLnBrk="1" latinLnBrk="0" hangingPunct="1">
        <a:spcBef>
          <a:spcPts val="0"/>
        </a:spcBef>
        <a:buFont typeface="Arial" panose="020B0604020202020204" pitchFamily="34" charset="0"/>
        <a:buNone/>
        <a:defRPr sz="3200" b="1" kern="1200">
          <a:solidFill>
            <a:schemeClr val="bg1"/>
          </a:solidFill>
          <a:latin typeface="+mn-lt"/>
          <a:ea typeface="+mn-ea"/>
          <a:cs typeface="+mn-cs"/>
        </a:defRPr>
      </a:lvl6pPr>
      <a:lvl7pPr marL="358723" indent="0" algn="l" defTabSz="914269" rtl="0" eaLnBrk="1" latinLnBrk="0" hangingPunct="1">
        <a:spcBef>
          <a:spcPts val="0"/>
        </a:spcBef>
        <a:buFont typeface="Arial" panose="020B0604020202020204" pitchFamily="34" charset="0"/>
        <a:buNone/>
        <a:defRPr sz="3200" kern="1200">
          <a:solidFill>
            <a:schemeClr val="bg1"/>
          </a:solidFill>
          <a:latin typeface="+mn-lt"/>
          <a:ea typeface="+mn-ea"/>
          <a:cs typeface="+mn-cs"/>
        </a:defRPr>
      </a:lvl7pPr>
      <a:lvl8pPr marL="3428502" indent="-228566" algn="l" defTabSz="91426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35" indent="-228566" algn="l" defTabSz="91426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5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69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2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34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7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03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36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7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992">
          <p15:clr>
            <a:srgbClr val="F26B43"/>
          </p15:clr>
        </p15:guide>
        <p15:guide id="7" pos="1120">
          <p15:clr>
            <a:srgbClr val="F26B43"/>
          </p15:clr>
        </p15:guide>
        <p15:guide id="8" pos="1676">
          <p15:clr>
            <a:srgbClr val="F26B43"/>
          </p15:clr>
        </p15:guide>
        <p15:guide id="9" pos="1556">
          <p15:clr>
            <a:srgbClr val="F26B43"/>
          </p15:clr>
        </p15:guide>
        <p15:guide id="10" pos="2252">
          <p15:clr>
            <a:srgbClr val="F26B43"/>
          </p15:clr>
        </p15:guide>
        <p15:guide id="11" pos="2128">
          <p15:clr>
            <a:srgbClr val="F26B43"/>
          </p15:clr>
        </p15:guide>
        <p15:guide id="16" pos="3824">
          <p15:clr>
            <a:srgbClr val="F26B43"/>
          </p15:clr>
        </p15:guide>
        <p15:guide id="17" pos="3948">
          <p15:clr>
            <a:srgbClr val="F26B43"/>
          </p15:clr>
        </p15:guide>
        <p15:guide id="20" pos="4384">
          <p15:clr>
            <a:srgbClr val="F26B43"/>
          </p15:clr>
        </p15:guide>
        <p15:guide id="21" pos="4508">
          <p15:clr>
            <a:srgbClr val="F26B43"/>
          </p15:clr>
        </p15:guide>
        <p15:guide id="22" pos="6780">
          <p15:clr>
            <a:srgbClr val="F26B43"/>
          </p15:clr>
        </p15:guide>
        <p15:guide id="23" pos="6656">
          <p15:clr>
            <a:srgbClr val="F26B43"/>
          </p15:clr>
        </p15:guide>
        <p15:guide id="24" pos="4960">
          <p15:clr>
            <a:srgbClr val="F26B43"/>
          </p15:clr>
        </p15:guide>
        <p15:guide id="25" pos="5084">
          <p15:clr>
            <a:srgbClr val="F26B43"/>
          </p15:clr>
        </p15:guide>
        <p15:guide id="30" orient="horz" pos="527">
          <p15:clr>
            <a:srgbClr val="F26B43"/>
          </p15:clr>
        </p15:guide>
        <p15:guide id="31" pos="551">
          <p15:clr>
            <a:srgbClr val="F26B43"/>
          </p15:clr>
        </p15:guide>
        <p15:guide id="39" pos="6092">
          <p15:clr>
            <a:srgbClr val="F26B43"/>
          </p15:clr>
        </p15:guide>
        <p15:guide id="40" pos="6216">
          <p15:clr>
            <a:srgbClr val="F26B43"/>
          </p15:clr>
        </p15:guide>
        <p15:guide id="41" pos="2692">
          <p15:clr>
            <a:srgbClr val="F26B43"/>
          </p15:clr>
        </p15:guide>
        <p15:guide id="42" pos="2808">
          <p15:clr>
            <a:srgbClr val="F26B43"/>
          </p15:clr>
        </p15:guide>
        <p15:guide id="43" pos="3260">
          <p15:clr>
            <a:srgbClr val="F26B43"/>
          </p15:clr>
        </p15:guide>
        <p15:guide id="44" pos="3380">
          <p15:clr>
            <a:srgbClr val="F26B43"/>
          </p15:clr>
        </p15:guide>
        <p15:guide id="50" pos="5518">
          <p15:clr>
            <a:srgbClr val="F26B43"/>
          </p15:clr>
        </p15:guide>
        <p15:guide id="52" orient="horz" pos="933">
          <p15:clr>
            <a:srgbClr val="F26B43"/>
          </p15:clr>
        </p15:guide>
        <p15:guide id="53" orient="horz" pos="759">
          <p15:clr>
            <a:srgbClr val="F26B43"/>
          </p15:clr>
        </p15:guide>
        <p15:guide id="58" orient="horz" pos="218">
          <p15:clr>
            <a:srgbClr val="F26B43"/>
          </p15:clr>
        </p15:guide>
        <p15:guide id="59" orient="horz" pos="3680">
          <p15:clr>
            <a:srgbClr val="F26B43"/>
          </p15:clr>
        </p15:guide>
        <p15:guide id="60" orient="horz" pos="3861">
          <p15:clr>
            <a:srgbClr val="F26B43"/>
          </p15:clr>
        </p15:guide>
        <p15:guide id="62" orient="horz" pos="2130">
          <p15:clr>
            <a:srgbClr val="F26B43"/>
          </p15:clr>
        </p15:guide>
        <p15:guide id="65" pos="5632">
          <p15:clr>
            <a:srgbClr val="F26B43"/>
          </p15:clr>
        </p15:guide>
        <p15:guide id="66" orient="horz" pos="649">
          <p15:clr>
            <a:srgbClr val="F26B43"/>
          </p15:clr>
        </p15:guide>
        <p15:guide id="67" pos="7216">
          <p15:clr>
            <a:srgbClr val="F26B43"/>
          </p15:clr>
        </p15:guide>
        <p15:guide id="69" orient="horz" pos="3988">
          <p15:clr>
            <a:srgbClr val="F26B43"/>
          </p15:clr>
        </p15:guide>
        <p15:guide id="70" orient="horz" pos="4196">
          <p15:clr>
            <a:srgbClr val="F26B43"/>
          </p15:clr>
        </p15:guide>
        <p15:guide id="71" pos="318">
          <p15:clr>
            <a:srgbClr val="F26B43"/>
          </p15:clr>
        </p15:guide>
        <p15:guide id="72" orient="horz" pos="411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>
            <a:extLst>
              <a:ext uri="{FF2B5EF4-FFF2-40B4-BE49-F238E27FC236}">
                <a16:creationId xmlns:a16="http://schemas.microsoft.com/office/drawing/2014/main" id="{A5CE2D21-B81F-483B-9FE8-AF317984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en-US" dirty="0" err="1"/>
              <a:t>Mastertitelformat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6FA640-4158-403C-98E2-E7FCEBC54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err="1"/>
              <a:t>Mastertextformat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r>
              <a:rPr lang="en-US" dirty="0"/>
              <a:t> </a:t>
            </a:r>
            <a:r>
              <a:rPr lang="en-US" dirty="0" err="1"/>
              <a:t>erste</a:t>
            </a:r>
            <a:r>
              <a:rPr lang="en-US" dirty="0"/>
              <a:t> Ebene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 err="1"/>
              <a:t>Dritte</a:t>
            </a:r>
            <a:r>
              <a:rPr lang="en-US" dirty="0"/>
              <a:t> Ebene</a:t>
            </a:r>
          </a:p>
          <a:p>
            <a:pPr lvl="3"/>
            <a:r>
              <a:rPr lang="en-US" dirty="0" err="1"/>
              <a:t>Vierte</a:t>
            </a:r>
            <a:r>
              <a:rPr lang="en-US" dirty="0"/>
              <a:t> Ebene</a:t>
            </a:r>
          </a:p>
          <a:p>
            <a:pPr lvl="4"/>
            <a:r>
              <a:rPr lang="en-US" dirty="0" err="1"/>
              <a:t>Fünfte</a:t>
            </a:r>
            <a:r>
              <a:rPr lang="en-US" dirty="0"/>
              <a:t> Ebene</a:t>
            </a:r>
          </a:p>
          <a:p>
            <a:pPr lvl="5"/>
            <a:r>
              <a:rPr lang="en-US" dirty="0" err="1"/>
              <a:t>Sechste</a:t>
            </a:r>
            <a:r>
              <a:rPr lang="en-US" dirty="0"/>
              <a:t> Ebene</a:t>
            </a:r>
          </a:p>
          <a:p>
            <a:pPr lvl="6"/>
            <a:r>
              <a:rPr lang="en-US" dirty="0" err="1"/>
              <a:t>Siebte</a:t>
            </a:r>
            <a:r>
              <a:rPr lang="en-US" dirty="0"/>
              <a:t> Ebene</a:t>
            </a:r>
          </a:p>
          <a:p>
            <a:pPr lvl="7"/>
            <a:r>
              <a:rPr lang="en-US" dirty="0"/>
              <a:t>Achte Ebene</a:t>
            </a:r>
          </a:p>
          <a:p>
            <a:pPr lvl="8"/>
            <a:r>
              <a:rPr lang="en-US" dirty="0" err="1"/>
              <a:t>Neunte</a:t>
            </a:r>
            <a:r>
              <a:rPr lang="en-US" dirty="0"/>
              <a:t> Ebene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F0A8DA4-796C-4D83-A511-7E33ECC19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F5E54477-AC5B-4EB3-AE9F-0854A752BD2F}"/>
              </a:ext>
            </a:extLst>
          </p:cNvPr>
          <p:cNvSpPr txBox="1"/>
          <p:nvPr/>
        </p:nvSpPr>
        <p:spPr>
          <a:xfrm>
            <a:off x="1558925" y="6308279"/>
            <a:ext cx="72374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Titel der </a:t>
            </a:r>
            <a:r>
              <a:rPr lang="en-US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Präsentation</a:t>
            </a:r>
            <a:r>
              <a:rPr lang="en-US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• </a:t>
            </a:r>
            <a:r>
              <a:rPr lang="en-US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Vortragende</a:t>
            </a:r>
            <a:r>
              <a:rPr lang="en-US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• </a:t>
            </a:r>
            <a:r>
              <a:rPr lang="en-US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Seite</a:t>
            </a:r>
            <a:r>
              <a:rPr lang="en-US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fld id="{BB345A75-B580-4544-AA90-56924E4BB115}" type="slidenum">
              <a:rPr lang="en-US" sz="1200" kern="1200" smtClean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rgbClr val="00008C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3994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3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5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3" pos="384">
          <p15:clr>
            <a:srgbClr val="F26B43"/>
          </p15:clr>
        </p15:guide>
        <p15:guide id="4" pos="7296">
          <p15:clr>
            <a:srgbClr val="F26B43"/>
          </p15:clr>
        </p15:guide>
        <p15:guide id="5" pos="846">
          <p15:clr>
            <a:srgbClr val="F26B43"/>
          </p15:clr>
        </p15:guide>
        <p15:guide id="6" pos="982">
          <p15:clr>
            <a:srgbClr val="F26B43"/>
          </p15:clr>
        </p15:guide>
        <p15:guide id="7" pos="1436">
          <p15:clr>
            <a:srgbClr val="F26B43"/>
          </p15:clr>
        </p15:guide>
        <p15:guide id="8" pos="1560">
          <p15:clr>
            <a:srgbClr val="F26B43"/>
          </p15:clr>
        </p15:guide>
        <p15:guide id="9" pos="2026">
          <p15:clr>
            <a:srgbClr val="F26B43"/>
          </p15:clr>
        </p15:guide>
        <p15:guide id="10" pos="2139">
          <p15:clr>
            <a:srgbClr val="F26B43"/>
          </p15:clr>
        </p15:guide>
        <p15:guide id="11" pos="2593">
          <p15:clr>
            <a:srgbClr val="F26B43"/>
          </p15:clr>
        </p15:guide>
        <p15:guide id="12" pos="2736">
          <p15:clr>
            <a:srgbClr val="F26B43"/>
          </p15:clr>
        </p15:guide>
        <p15:guide id="13" pos="3182">
          <p15:clr>
            <a:srgbClr val="F26B43"/>
          </p15:clr>
        </p15:guide>
        <p15:guide id="14" pos="3318">
          <p15:clr>
            <a:srgbClr val="F26B43"/>
          </p15:clr>
        </p15:guide>
        <p15:guide id="15" pos="3772">
          <p15:clr>
            <a:srgbClr val="F26B43"/>
          </p15:clr>
        </p15:guide>
        <p15:guide id="16" pos="3908">
          <p15:clr>
            <a:srgbClr val="F26B43"/>
          </p15:clr>
        </p15:guide>
        <p15:guide id="17" pos="4362">
          <p15:clr>
            <a:srgbClr val="F26B43"/>
          </p15:clr>
        </p15:guide>
        <p15:guide id="18" pos="4498">
          <p15:clr>
            <a:srgbClr val="F26B43"/>
          </p15:clr>
        </p15:guide>
        <p15:guide id="19" pos="4951">
          <p15:clr>
            <a:srgbClr val="F26B43"/>
          </p15:clr>
        </p15:guide>
        <p15:guide id="20" pos="5087">
          <p15:clr>
            <a:srgbClr val="F26B43"/>
          </p15:clr>
        </p15:guide>
        <p15:guide id="21" pos="5541">
          <p15:clr>
            <a:srgbClr val="F26B43"/>
          </p15:clr>
        </p15:guide>
        <p15:guide id="22" pos="5654">
          <p15:clr>
            <a:srgbClr val="F26B43"/>
          </p15:clr>
        </p15:guide>
        <p15:guide id="23" pos="6120">
          <p15:clr>
            <a:srgbClr val="F26B43"/>
          </p15:clr>
        </p15:guide>
        <p15:guide id="24" pos="6244">
          <p15:clr>
            <a:srgbClr val="F26B43"/>
          </p15:clr>
        </p15:guide>
        <p15:guide id="25" pos="6698">
          <p15:clr>
            <a:srgbClr val="F26B43"/>
          </p15:clr>
        </p15:guide>
        <p15:guide id="26" pos="6834">
          <p15:clr>
            <a:srgbClr val="F26B43"/>
          </p15:clr>
        </p15:guide>
        <p15:guide id="27" orient="horz" pos="2160">
          <p15:clr>
            <a:srgbClr val="F26B43"/>
          </p15:clr>
        </p15:guide>
        <p15:guide id="28" orient="horz" pos="4065">
          <p15:clr>
            <a:srgbClr val="F26B43"/>
          </p15:clr>
        </p15:guide>
        <p15:guide id="29" orient="horz" pos="3816">
          <p15:clr>
            <a:srgbClr val="F26B43"/>
          </p15:clr>
        </p15:guide>
        <p15:guide id="30" orient="horz" pos="663">
          <p15:clr>
            <a:srgbClr val="F26B43"/>
          </p15:clr>
        </p15:guide>
        <p15:guide id="31" orient="horz" pos="550">
          <p15:clr>
            <a:srgbClr val="F26B43"/>
          </p15:clr>
        </p15:guide>
        <p15:guide id="32" orient="horz" pos="2341">
          <p15:clr>
            <a:srgbClr val="F26B43"/>
          </p15:clr>
        </p15:guide>
        <p15:guide id="34" orient="horz" pos="3680">
          <p15:clr>
            <a:srgbClr val="F26B43"/>
          </p15:clr>
        </p15:guide>
        <p15:guide id="35" orient="horz" pos="1094">
          <p15:clr>
            <a:srgbClr val="F26B43"/>
          </p15:clr>
        </p15:guide>
        <p15:guide id="36" orient="horz" pos="3543">
          <p15:clr>
            <a:srgbClr val="F26B43"/>
          </p15:clr>
        </p15:guide>
        <p15:guide id="37" orient="horz" pos="197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julian.mendez2@tu-dresden.de" TargetMode="External"/><Relationship Id="rId2" Type="http://schemas.openxmlformats.org/officeDocument/2006/relationships/hyperlink" Target="mailto:susmita.khadse@u-Dresden.de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EEEC16-C60D-6A90-B5E1-8A6DB00CB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505012"/>
            <a:ext cx="7650822" cy="1403352"/>
          </a:xfrm>
        </p:spPr>
        <p:txBody>
          <a:bodyPr/>
          <a:lstStyle/>
          <a:p>
            <a:r>
              <a:rPr lang="en-US" dirty="0"/>
              <a:t>CMS Team Project Interactive Visual Computing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8714778-D358-FAC7-14C7-55D951AB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4140386"/>
            <a:ext cx="7250113" cy="539750"/>
          </a:xfrm>
        </p:spPr>
        <p:txBody>
          <a:bodyPr/>
          <a:lstStyle/>
          <a:p>
            <a:r>
              <a:rPr lang="en-US" dirty="0"/>
              <a:t>AI-Powered Data Storytelling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58AB4C3-957D-CE53-1F12-EF6D1A26DC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/>
          <a:p>
            <a:r>
              <a:rPr lang="en-US" dirty="0"/>
              <a:t>Faculty of Computer Science – Chair of Multimedia Technology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D1FC732-D360-1DA5-1B62-E629B30280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1736725"/>
            <a:ext cx="7650822" cy="539750"/>
          </a:xfrm>
        </p:spPr>
        <p:txBody>
          <a:bodyPr/>
          <a:lstStyle/>
          <a:p>
            <a:r>
              <a:rPr lang="en-US" dirty="0"/>
              <a:t>Summer Term 2026- Prof. Dr.-Ing. Raimund Dachselt</a:t>
            </a:r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FE29DEC3-049D-7766-F810-F5D7C777F717}"/>
              </a:ext>
            </a:extLst>
          </p:cNvPr>
          <p:cNvSpPr txBox="1">
            <a:spLocks/>
          </p:cNvSpPr>
          <p:nvPr/>
        </p:nvSpPr>
        <p:spPr>
          <a:xfrm>
            <a:off x="547991" y="4680136"/>
            <a:ext cx="7250113" cy="53975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Open Sans" panose="020B0606030504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Open Sans" panose="020B0606030504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Supported by: Susmita Khadse M.Sc., Julián Méndez M.Sc.</a:t>
            </a:r>
            <a:br>
              <a:rPr lang="en-US" sz="1200" dirty="0"/>
            </a:br>
            <a:r>
              <a:rPr lang="en-US" sz="1200" dirty="0" err="1"/>
              <a:t>susmita.khadse@tu-dresden.de</a:t>
            </a:r>
            <a:r>
              <a:rPr lang="en-US" sz="1200" dirty="0"/>
              <a:t>, julian.mendez2@tu-dresden.de</a:t>
            </a:r>
          </a:p>
          <a:p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68174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0C7BD-FD00-1645-517A-B67A80000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8C"/>
                </a:solidFill>
              </a:rPr>
              <a:t>AI Powered Data Storytelling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557C3C8-7343-C123-5EFB-81E798FE0C99}"/>
              </a:ext>
            </a:extLst>
          </p:cNvPr>
          <p:cNvSpPr txBox="1">
            <a:spLocks/>
          </p:cNvSpPr>
          <p:nvPr/>
        </p:nvSpPr>
        <p:spPr>
          <a:xfrm>
            <a:off x="874711" y="1089000"/>
            <a:ext cx="10580688" cy="46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914269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1pPr>
            <a:lvl2pPr marL="360000" indent="-360000" algn="l" defTabSz="914269" rtl="0" eaLnBrk="1" latinLnBrk="0" hangingPunct="1">
              <a:spcBef>
                <a:spcPts val="600"/>
              </a:spcBef>
              <a:buClr>
                <a:schemeClr val="accent1"/>
              </a:buClr>
              <a:buSzPct val="110000"/>
              <a:buFont typeface="Wingdings" charset="2"/>
              <a:buChar char="§"/>
              <a:defRPr sz="18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2pPr>
            <a:lvl3pPr marL="719138" indent="-360000" algn="l" defTabSz="914269" rtl="0" eaLnBrk="1" latinLnBrk="0" hangingPunct="1"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3pPr>
            <a:lvl4pPr marL="360000" indent="0" algn="l" defTabSz="914269" rtl="0" eaLnBrk="1" latinLnBrk="0" hangingPunct="1">
              <a:spcBef>
                <a:spcPts val="600"/>
              </a:spcBef>
              <a:buFontTx/>
              <a:buNone/>
              <a:defRPr sz="16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4pPr>
            <a:lvl5pPr marL="1080000" indent="-360000" algn="l" defTabSz="914269" rtl="0" eaLnBrk="1" latinLnBrk="0" hangingPunct="1">
              <a:spcBef>
                <a:spcPts val="400"/>
              </a:spcBef>
              <a:buFont typeface="Wingdings" charset="2"/>
              <a:buChar char="§"/>
              <a:defRPr sz="1400" kern="1200" baseline="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5pPr>
            <a:lvl6pPr marL="358723" indent="0" algn="l" defTabSz="914269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3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358723" indent="0" algn="l" defTabSz="914269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428502" indent="-228566" algn="l" defTabSz="91426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635" indent="-228566" algn="l" defTabSz="91426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Data storytelling is the art of transforming complex data into accessible, memorable, and actionable insights by weaving together data, narrative, and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Data stories are projected to be the primary way analytics are consumed, with AI-generated narratives becoming mainstream.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With the introduction of Generative AI, it is easy to generate domain and medium specific data stories, efficient, and accurate.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Data stories have applications in many domains: marketing, journalism, public health, education, finance, policy making etc.,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u="sng" dirty="0">
                <a:solidFill>
                  <a:srgbClr val="000000"/>
                </a:solidFill>
              </a:rPr>
              <a:t>To know more visit: https://</a:t>
            </a:r>
            <a:r>
              <a:rPr lang="en-US" sz="1400" u="sng" dirty="0" err="1">
                <a:solidFill>
                  <a:srgbClr val="000000"/>
                </a:solidFill>
              </a:rPr>
              <a:t>www.microsoft.com</a:t>
            </a:r>
            <a:r>
              <a:rPr lang="en-US" sz="1400" u="sng" dirty="0">
                <a:solidFill>
                  <a:srgbClr val="000000"/>
                </a:solidFill>
              </a:rPr>
              <a:t>/</a:t>
            </a:r>
            <a:r>
              <a:rPr lang="en-US" sz="1400" u="sng" dirty="0" err="1">
                <a:solidFill>
                  <a:srgbClr val="000000"/>
                </a:solidFill>
              </a:rPr>
              <a:t>en</a:t>
            </a:r>
            <a:r>
              <a:rPr lang="en-US" sz="1400" u="sng" dirty="0">
                <a:solidFill>
                  <a:srgbClr val="000000"/>
                </a:solidFill>
              </a:rPr>
              <a:t>-us/research/project/data-driven-storytelling/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1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1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649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D0EE0-A816-646B-3DEF-10484D229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8C"/>
                </a:solidFill>
              </a:rPr>
              <a:t>AI Powered Data Storytelling: Goals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0E1308C-3A64-2BAF-2B7D-9DD46E218D04}"/>
              </a:ext>
            </a:extLst>
          </p:cNvPr>
          <p:cNvSpPr txBox="1">
            <a:spLocks/>
          </p:cNvSpPr>
          <p:nvPr/>
        </p:nvSpPr>
        <p:spPr>
          <a:xfrm>
            <a:off x="874711" y="1089000"/>
            <a:ext cx="10580688" cy="46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914269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1pPr>
            <a:lvl2pPr marL="360000" indent="-360000" algn="l" defTabSz="914269" rtl="0" eaLnBrk="1" latinLnBrk="0" hangingPunct="1">
              <a:spcBef>
                <a:spcPts val="600"/>
              </a:spcBef>
              <a:buClr>
                <a:schemeClr val="accent1"/>
              </a:buClr>
              <a:buSzPct val="110000"/>
              <a:buFont typeface="Wingdings" charset="2"/>
              <a:buChar char="§"/>
              <a:defRPr sz="18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2pPr>
            <a:lvl3pPr marL="719138" indent="-360000" algn="l" defTabSz="914269" rtl="0" eaLnBrk="1" latinLnBrk="0" hangingPunct="1"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3pPr>
            <a:lvl4pPr marL="360000" indent="0" algn="l" defTabSz="914269" rtl="0" eaLnBrk="1" latinLnBrk="0" hangingPunct="1">
              <a:spcBef>
                <a:spcPts val="600"/>
              </a:spcBef>
              <a:buFontTx/>
              <a:buNone/>
              <a:defRPr sz="16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4pPr>
            <a:lvl5pPr marL="1080000" indent="-360000" algn="l" defTabSz="914269" rtl="0" eaLnBrk="1" latinLnBrk="0" hangingPunct="1">
              <a:spcBef>
                <a:spcPts val="400"/>
              </a:spcBef>
              <a:buFont typeface="Wingdings" charset="2"/>
              <a:buChar char="§"/>
              <a:defRPr sz="1400" kern="1200" baseline="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5pPr>
            <a:lvl6pPr marL="358723" indent="0" algn="l" defTabSz="914269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3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358723" indent="0" algn="l" defTabSz="914269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428502" indent="-228566" algn="l" defTabSz="91426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635" indent="-228566" algn="l" defTabSz="91426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1"/>
          </a:p>
        </p:txBody>
      </p:sp>
      <p:sp>
        <p:nvSpPr>
          <p:cNvPr id="7" name="Inhaltsplatzhalter 4">
            <a:extLst>
              <a:ext uri="{FF2B5EF4-FFF2-40B4-BE49-F238E27FC236}">
                <a16:creationId xmlns:a16="http://schemas.microsoft.com/office/drawing/2014/main" id="{A1DE4358-35C7-F41F-2ACF-B82F51E5AA58}"/>
              </a:ext>
            </a:extLst>
          </p:cNvPr>
          <p:cNvSpPr txBox="1">
            <a:spLocks/>
          </p:cNvSpPr>
          <p:nvPr/>
        </p:nvSpPr>
        <p:spPr>
          <a:xfrm>
            <a:off x="1027111" y="1241400"/>
            <a:ext cx="10580688" cy="46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914269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1pPr>
            <a:lvl2pPr marL="360000" indent="-360000" algn="l" defTabSz="914269" rtl="0" eaLnBrk="1" latinLnBrk="0" hangingPunct="1">
              <a:spcBef>
                <a:spcPts val="600"/>
              </a:spcBef>
              <a:buClr>
                <a:schemeClr val="accent1"/>
              </a:buClr>
              <a:buSzPct val="110000"/>
              <a:buFont typeface="Wingdings" charset="2"/>
              <a:buChar char="§"/>
              <a:defRPr sz="18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2pPr>
            <a:lvl3pPr marL="719138" indent="-360000" algn="l" defTabSz="914269" rtl="0" eaLnBrk="1" latinLnBrk="0" hangingPunct="1"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3pPr>
            <a:lvl4pPr marL="360000" indent="0" algn="l" defTabSz="914269" rtl="0" eaLnBrk="1" latinLnBrk="0" hangingPunct="1">
              <a:spcBef>
                <a:spcPts val="600"/>
              </a:spcBef>
              <a:buFontTx/>
              <a:buNone/>
              <a:defRPr sz="16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4pPr>
            <a:lvl5pPr marL="1080000" indent="-360000" algn="l" defTabSz="914269" rtl="0" eaLnBrk="1" latinLnBrk="0" hangingPunct="1">
              <a:spcBef>
                <a:spcPts val="400"/>
              </a:spcBef>
              <a:buFont typeface="Wingdings" charset="2"/>
              <a:buChar char="§"/>
              <a:defRPr sz="1400" kern="1200" baseline="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5pPr>
            <a:lvl6pPr marL="358723" indent="0" algn="l" defTabSz="914269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3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358723" indent="0" algn="l" defTabSz="914269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428502" indent="-228566" algn="l" defTabSz="91426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635" indent="-228566" algn="l" defTabSz="91426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1"/>
          </a:p>
        </p:txBody>
      </p:sp>
      <p:sp>
        <p:nvSpPr>
          <p:cNvPr id="8" name="Inhaltsplatzhalter 4">
            <a:extLst>
              <a:ext uri="{FF2B5EF4-FFF2-40B4-BE49-F238E27FC236}">
                <a16:creationId xmlns:a16="http://schemas.microsoft.com/office/drawing/2014/main" id="{14C3BB36-6330-FC83-F574-F07288B4C731}"/>
              </a:ext>
            </a:extLst>
          </p:cNvPr>
          <p:cNvSpPr txBox="1">
            <a:spLocks/>
          </p:cNvSpPr>
          <p:nvPr/>
        </p:nvSpPr>
        <p:spPr>
          <a:xfrm>
            <a:off x="736601" y="1165200"/>
            <a:ext cx="10580688" cy="46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914269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1pPr>
            <a:lvl2pPr marL="360000" indent="-360000" algn="l" defTabSz="914269" rtl="0" eaLnBrk="1" latinLnBrk="0" hangingPunct="1">
              <a:spcBef>
                <a:spcPts val="600"/>
              </a:spcBef>
              <a:buClr>
                <a:schemeClr val="accent1"/>
              </a:buClr>
              <a:buSzPct val="110000"/>
              <a:buFont typeface="Wingdings" charset="2"/>
              <a:buChar char="§"/>
              <a:defRPr sz="18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2pPr>
            <a:lvl3pPr marL="719138" indent="-360000" algn="l" defTabSz="914269" rtl="0" eaLnBrk="1" latinLnBrk="0" hangingPunct="1"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3pPr>
            <a:lvl4pPr marL="360000" indent="0" algn="l" defTabSz="914269" rtl="0" eaLnBrk="1" latinLnBrk="0" hangingPunct="1">
              <a:spcBef>
                <a:spcPts val="600"/>
              </a:spcBef>
              <a:buFontTx/>
              <a:buNone/>
              <a:defRPr sz="16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4pPr>
            <a:lvl5pPr marL="1080000" indent="-360000" algn="l" defTabSz="914269" rtl="0" eaLnBrk="1" latinLnBrk="0" hangingPunct="1">
              <a:spcBef>
                <a:spcPts val="400"/>
              </a:spcBef>
              <a:buFont typeface="Wingdings" charset="2"/>
              <a:buChar char="§"/>
              <a:defRPr sz="1400" kern="1200" baseline="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5pPr>
            <a:lvl6pPr marL="358723" indent="0" algn="l" defTabSz="914269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3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358723" indent="0" algn="l" defTabSz="914269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428502" indent="-228566" algn="l" defTabSz="91426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635" indent="-228566" algn="l" defTabSz="91426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LLMs: transform structured data into natural language stories.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Interface: design how users interact with story generation tools.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Comparison: evaluate quality, readability, trust, and engagement.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Agentic AI: create adaptive, conversational, goal-oriented storytelling systems.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rgbClr val="2F57B2"/>
                </a:solidFill>
              </a:rPr>
              <a:t>Key Concepts: </a:t>
            </a:r>
            <a:r>
              <a:rPr lang="en-US" dirty="0">
                <a:solidFill>
                  <a:srgbClr val="000000"/>
                </a:solidFill>
              </a:rPr>
              <a:t>Data storytelling, Large Language Models, Interface design</a:t>
            </a:r>
          </a:p>
          <a:p>
            <a:endParaRPr lang="en-US" b="1" dirty="0">
              <a:solidFill>
                <a:srgbClr val="009EE0"/>
              </a:solidFill>
            </a:endParaRP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139777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C29D9-503A-EF3E-C7E5-FCA3E890B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8C"/>
                </a:solidFill>
              </a:rPr>
              <a:t>AI Powered Data Storytelling: Tasks</a:t>
            </a:r>
          </a:p>
        </p:txBody>
      </p:sp>
      <p:sp>
        <p:nvSpPr>
          <p:cNvPr id="4" name="Inhaltsplatzhalter 4">
            <a:extLst>
              <a:ext uri="{FF2B5EF4-FFF2-40B4-BE49-F238E27FC236}">
                <a16:creationId xmlns:a16="http://schemas.microsoft.com/office/drawing/2014/main" id="{37323D39-28E4-EAED-C290-185FC1A49D44}"/>
              </a:ext>
            </a:extLst>
          </p:cNvPr>
          <p:cNvSpPr txBox="1">
            <a:spLocks/>
          </p:cNvSpPr>
          <p:nvPr/>
        </p:nvSpPr>
        <p:spPr>
          <a:xfrm>
            <a:off x="736601" y="1165200"/>
            <a:ext cx="10580688" cy="468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914269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1pPr>
            <a:lvl2pPr marL="360000" indent="-360000" algn="l" defTabSz="914269" rtl="0" eaLnBrk="1" latinLnBrk="0" hangingPunct="1">
              <a:spcBef>
                <a:spcPts val="600"/>
              </a:spcBef>
              <a:buClr>
                <a:schemeClr val="accent1"/>
              </a:buClr>
              <a:buSzPct val="110000"/>
              <a:buFont typeface="Wingdings" charset="2"/>
              <a:buChar char="§"/>
              <a:defRPr sz="18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2pPr>
            <a:lvl3pPr marL="719138" indent="-360000" algn="l" defTabSz="914269" rtl="0" eaLnBrk="1" latinLnBrk="0" hangingPunct="1"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3pPr>
            <a:lvl4pPr marL="360000" indent="0" algn="l" defTabSz="914269" rtl="0" eaLnBrk="1" latinLnBrk="0" hangingPunct="1">
              <a:spcBef>
                <a:spcPts val="600"/>
              </a:spcBef>
              <a:buFontTx/>
              <a:buNone/>
              <a:defRPr sz="16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4pPr>
            <a:lvl5pPr marL="1080000" indent="-360000" algn="l" defTabSz="914269" rtl="0" eaLnBrk="1" latinLnBrk="0" hangingPunct="1">
              <a:spcBef>
                <a:spcPts val="400"/>
              </a:spcBef>
              <a:buFont typeface="Wingdings" charset="2"/>
              <a:buChar char="§"/>
              <a:defRPr sz="1400" kern="1200" baseline="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5pPr>
            <a:lvl6pPr marL="358723" indent="0" algn="l" defTabSz="914269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3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358723" indent="0" algn="l" defTabSz="914269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428502" indent="-228566" algn="l" defTabSz="91426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635" indent="-228566" algn="l" defTabSz="91426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>
                <a:solidFill>
                  <a:srgbClr val="000000"/>
                </a:solidFill>
              </a:rPr>
              <a:t>Analyse AI tools for generating data stories, agentic AI and its role in data story generation. Write a report on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1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>
                <a:solidFill>
                  <a:srgbClr val="000000"/>
                </a:solidFill>
              </a:rPr>
              <a:t>Find exciting dataset for generating data story.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1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>
                <a:solidFill>
                  <a:srgbClr val="000000"/>
                </a:solidFill>
              </a:rPr>
              <a:t>Analyse this dataset and write a story which is human written and integrate it into an interface.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1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>
                <a:solidFill>
                  <a:srgbClr val="000000"/>
                </a:solidFill>
              </a:rPr>
              <a:t>Use the same dataset for generating story with LLMs. Now use a general LLM for story generation and an Agentic LLM for moderation of the emotional content of the story. Integrate in the same interface.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1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>
                <a:solidFill>
                  <a:srgbClr val="000000"/>
                </a:solidFill>
              </a:rPr>
              <a:t>Compare both the stories and evaluate either with metrics or by conducting a user study. </a:t>
            </a:r>
          </a:p>
        </p:txBody>
      </p:sp>
    </p:spTree>
    <p:extLst>
      <p:ext uri="{BB962C8B-B14F-4D97-AF65-F5344CB8AC3E}">
        <p14:creationId xmlns:p14="http://schemas.microsoft.com/office/powerpoint/2010/main" val="557320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31130" y="756172"/>
            <a:ext cx="10013005" cy="684213"/>
          </a:xfrm>
        </p:spPr>
        <p:txBody>
          <a:bodyPr/>
          <a:lstStyle/>
          <a:p>
            <a:r>
              <a:rPr lang="en-US" dirty="0">
                <a:solidFill>
                  <a:srgbClr val="00008C"/>
                </a:solidFill>
              </a:rPr>
              <a:t>AI Powered Data Storytelling: Requirements</a:t>
            </a:r>
            <a:endParaRPr lang="en-US" noProof="0" dirty="0">
              <a:solidFill>
                <a:srgbClr val="00008C"/>
              </a:solidFill>
            </a:endParaRPr>
          </a:p>
        </p:txBody>
      </p:sp>
      <p:sp>
        <p:nvSpPr>
          <p:cNvPr id="10" name="Textplatzhalter 3"/>
          <p:cNvSpPr txBox="1">
            <a:spLocks/>
          </p:cNvSpPr>
          <p:nvPr/>
        </p:nvSpPr>
        <p:spPr>
          <a:xfrm>
            <a:off x="1050586" y="1440385"/>
            <a:ext cx="9993549" cy="3722451"/>
          </a:xfrm>
          <a:prstGeom prst="rect">
            <a:avLst/>
          </a:prstGeom>
          <a:ln w="19050">
            <a:solidFill>
              <a:srgbClr val="00008C"/>
            </a:solidFill>
          </a:ln>
        </p:spPr>
        <p:txBody>
          <a:bodyPr vert="horz" lIns="180000" tIns="180000" rIns="180000" bIns="180000" rtlCol="0">
            <a:noAutofit/>
          </a:bodyPr>
          <a:lstStyle>
            <a:lvl1pPr marL="0" indent="0" algn="l" defTabSz="914269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1pPr>
            <a:lvl2pPr marL="360000" indent="-360000" algn="l" defTabSz="914269" rtl="0" eaLnBrk="1" latinLnBrk="0" hangingPunct="1">
              <a:spcBef>
                <a:spcPts val="600"/>
              </a:spcBef>
              <a:buClr>
                <a:schemeClr val="accent1"/>
              </a:buClr>
              <a:buSzPct val="110000"/>
              <a:buFont typeface="Wingdings" charset="2"/>
              <a:buChar char="§"/>
              <a:defRPr sz="18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2pPr>
            <a:lvl3pPr marL="285750" indent="-285750" algn="l" defTabSz="914269" rtl="0" eaLnBrk="1" latinLnBrk="0" hangingPunct="1">
              <a:spcBef>
                <a:spcPts val="600"/>
              </a:spcBef>
              <a:buFont typeface="Wingdings" charset="2"/>
              <a:buChar char="§"/>
              <a:defRPr sz="16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3pPr>
            <a:lvl4pPr marL="395942" indent="-215969" algn="l" defTabSz="914269" rtl="0" eaLnBrk="1" latinLnBrk="0" hangingPunct="1">
              <a:spcBef>
                <a:spcPts val="600"/>
              </a:spcBef>
              <a:buFont typeface=".AppleSystemUIFont" charset="-120"/>
              <a:buChar char="-"/>
              <a:defRPr sz="16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4pPr>
            <a:lvl5pPr marL="1080000" indent="-360000" algn="l" defTabSz="914269" rtl="0" eaLnBrk="1" latinLnBrk="0" hangingPunct="1">
              <a:spcBef>
                <a:spcPts val="400"/>
              </a:spcBef>
              <a:buFont typeface="Wingdings" charset="2"/>
              <a:buChar char="§"/>
              <a:defRPr sz="1400" kern="1200" baseline="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5pPr>
            <a:lvl6pPr marL="358723" indent="0" algn="l" defTabSz="914269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lang="en-US" sz="1400" b="0" kern="1200" baseline="0" dirty="0" smtClean="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6pPr>
            <a:lvl7pPr marL="358723" indent="0" algn="l" defTabSz="914269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428502" indent="-228566" algn="l" defTabSz="91426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635" indent="-228566" algn="l" defTabSz="91426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2F57B2"/>
                </a:solidFill>
              </a:rPr>
              <a:t>Requirements:</a:t>
            </a:r>
          </a:p>
          <a:p>
            <a:endParaRPr lang="en-US" dirty="0"/>
          </a:p>
          <a:p>
            <a:pPr lvl="1"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Interest and/or experience in</a:t>
            </a:r>
          </a:p>
          <a:p>
            <a:pPr lvl="4"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LLMs and Interface Development. </a:t>
            </a:r>
          </a:p>
          <a:p>
            <a:pPr lvl="4"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Human Computer Interaction</a:t>
            </a:r>
          </a:p>
          <a:p>
            <a:pPr marL="720000" lvl="4" indent="0">
              <a:buClr>
                <a:srgbClr val="000000"/>
              </a:buClr>
              <a:buNone/>
            </a:pPr>
            <a:endParaRPr lang="en-US" dirty="0">
              <a:solidFill>
                <a:srgbClr val="000000"/>
              </a:solidFill>
            </a:endParaRPr>
          </a:p>
          <a:p>
            <a:pPr lvl="1"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Creativity and teamwork skills</a:t>
            </a:r>
          </a:p>
          <a:p>
            <a:pPr lvl="4"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Project will be self-managed.</a:t>
            </a:r>
          </a:p>
          <a:p>
            <a:pPr lvl="4">
              <a:buClr>
                <a:srgbClr val="000000"/>
              </a:buClr>
            </a:pPr>
            <a:endParaRPr lang="en-US" dirty="0">
              <a:solidFill>
                <a:srgbClr val="000000"/>
              </a:solidFill>
            </a:endParaRPr>
          </a:p>
          <a:p>
            <a:pPr lvl="1"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Choice of technology is open, however:</a:t>
            </a:r>
          </a:p>
          <a:p>
            <a:pPr lvl="4"/>
            <a:r>
              <a:rPr lang="en-US" i="1" dirty="0">
                <a:solidFill>
                  <a:srgbClr val="000000"/>
                </a:solidFill>
              </a:rPr>
              <a:t>Lab access </a:t>
            </a:r>
            <a:r>
              <a:rPr lang="en-US" b="1" i="1" dirty="0">
                <a:solidFill>
                  <a:srgbClr val="000000"/>
                </a:solidFill>
              </a:rPr>
              <a:t>can not </a:t>
            </a:r>
            <a:r>
              <a:rPr lang="en-US" i="1" dirty="0">
                <a:solidFill>
                  <a:srgbClr val="000000"/>
                </a:solidFill>
              </a:rPr>
              <a:t>be guaranteed for the whole project duration! Plan accordingly! </a:t>
            </a:r>
          </a:p>
        </p:txBody>
      </p:sp>
    </p:spTree>
    <p:extLst>
      <p:ext uri="{BB962C8B-B14F-4D97-AF65-F5344CB8AC3E}">
        <p14:creationId xmlns:p14="http://schemas.microsoft.com/office/powerpoint/2010/main" val="1349711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41E9A-A1FC-D0E4-4D28-50A6E2652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0E885E-A6DA-56C2-F41B-D921FA59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805" y="454331"/>
            <a:ext cx="10013005" cy="68421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008C"/>
                </a:solidFill>
              </a:rPr>
              <a:t>AI Powered Data Storytelling: Proposed Schedule</a:t>
            </a:r>
            <a:endParaRPr lang="en-US" noProof="0" dirty="0">
              <a:solidFill>
                <a:srgbClr val="00008C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813B618-2A36-12D2-2AD3-FD8DD43B87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285488"/>
              </p:ext>
            </p:extLst>
          </p:nvPr>
        </p:nvGraphicFramePr>
        <p:xfrm>
          <a:off x="1309657" y="1153885"/>
          <a:ext cx="9902840" cy="4272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52136">
                  <a:extLst>
                    <a:ext uri="{9D8B030D-6E8A-4147-A177-3AD203B41FA5}">
                      <a16:colId xmlns:a16="http://schemas.microsoft.com/office/drawing/2014/main" val="2665855444"/>
                    </a:ext>
                  </a:extLst>
                </a:gridCol>
                <a:gridCol w="3052136">
                  <a:extLst>
                    <a:ext uri="{9D8B030D-6E8A-4147-A177-3AD203B41FA5}">
                      <a16:colId xmlns:a16="http://schemas.microsoft.com/office/drawing/2014/main" val="1506620005"/>
                    </a:ext>
                  </a:extLst>
                </a:gridCol>
                <a:gridCol w="3798568">
                  <a:extLst>
                    <a:ext uri="{9D8B030D-6E8A-4147-A177-3AD203B41FA5}">
                      <a16:colId xmlns:a16="http://schemas.microsoft.com/office/drawing/2014/main" val="207502132"/>
                    </a:ext>
                  </a:extLst>
                </a:gridCol>
              </a:tblGrid>
              <a:tr h="347014">
                <a:tc>
                  <a:txBody>
                    <a:bodyPr/>
                    <a:lstStyle/>
                    <a:p>
                      <a:r>
                        <a:rPr lang="en-US" sz="1600" dirty="0"/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Location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777670"/>
                  </a:ext>
                </a:extLst>
              </a:tr>
              <a:tr h="540027">
                <a:tc>
                  <a:txBody>
                    <a:bodyPr/>
                    <a:lstStyle/>
                    <a:p>
                      <a:r>
                        <a:rPr lang="en-US" sz="1600" dirty="0"/>
                        <a:t>April 20, 2026; 10:00-11:00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BigBluebutton</a:t>
                      </a:r>
                      <a:r>
                        <a:rPr lang="en-US" sz="1600" dirty="0"/>
                        <a:t> (Link in Opal and on </a:t>
                      </a:r>
                      <a:r>
                        <a:rPr lang="en-US" sz="1600" dirty="0" err="1"/>
                        <a:t>imld.de</a:t>
                      </a:r>
                      <a:r>
                        <a:rPr lang="en-US" sz="16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Introduction and Kickoff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985130"/>
                  </a:ext>
                </a:extLst>
              </a:tr>
              <a:tr h="540027">
                <a:tc>
                  <a:txBody>
                    <a:bodyPr/>
                    <a:lstStyle/>
                    <a:p>
                      <a:r>
                        <a:rPr lang="en-US" sz="1600" dirty="0"/>
                        <a:t>May 05, 2026; 23:59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Email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Send us team name and matriculation 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139202"/>
                  </a:ext>
                </a:extLst>
              </a:tr>
              <a:tr h="347014">
                <a:tc>
                  <a:txBody>
                    <a:bodyPr/>
                    <a:lstStyle/>
                    <a:p>
                      <a:r>
                        <a:rPr lang="en-US" sz="1600" dirty="0"/>
                        <a:t>May 10, 2026; 23:59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OPAL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Deadline for enrollment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751077"/>
                  </a:ext>
                </a:extLst>
              </a:tr>
              <a:tr h="347014">
                <a:tc>
                  <a:txBody>
                    <a:bodyPr/>
                    <a:lstStyle/>
                    <a:p>
                      <a:r>
                        <a:rPr lang="en-US" sz="1600" dirty="0"/>
                        <a:t>From April 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Project work 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100564"/>
                  </a:ext>
                </a:extLst>
              </a:tr>
              <a:tr h="347014">
                <a:tc>
                  <a:txBody>
                    <a:bodyPr/>
                    <a:lstStyle/>
                    <a:p>
                      <a:r>
                        <a:rPr lang="en-US" sz="1600" dirty="0"/>
                        <a:t>June 21, 2026; 23:59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Via Email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Interim presentation report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954780"/>
                  </a:ext>
                </a:extLst>
              </a:tr>
              <a:tr h="540027">
                <a:tc>
                  <a:txBody>
                    <a:bodyPr/>
                    <a:lstStyle/>
                    <a:p>
                      <a:r>
                        <a:rPr lang="en-US" sz="1600" dirty="0"/>
                        <a:t>June 22, 2026 13:00-14:30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BigBluebutton</a:t>
                      </a:r>
                      <a:r>
                        <a:rPr lang="en-US" sz="1600" dirty="0"/>
                        <a:t> (Link in Opal and on </a:t>
                      </a:r>
                      <a:r>
                        <a:rPr lang="en-US" sz="1600" dirty="0" err="1"/>
                        <a:t>imld.de</a:t>
                      </a:r>
                      <a:r>
                        <a:rPr lang="en-US" sz="16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Interim Presentations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210484"/>
                  </a:ext>
                </a:extLst>
              </a:tr>
              <a:tr h="375357">
                <a:tc>
                  <a:txBody>
                    <a:bodyPr/>
                    <a:lstStyle/>
                    <a:p>
                      <a:r>
                        <a:rPr lang="en-US" sz="1600" dirty="0"/>
                        <a:t>August 10, 2026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Room 2042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Final Project presentations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684073"/>
                  </a:ext>
                </a:extLst>
              </a:tr>
              <a:tr h="771467">
                <a:tc>
                  <a:txBody>
                    <a:bodyPr/>
                    <a:lstStyle/>
                    <a:p>
                      <a:r>
                        <a:rPr lang="en-US" sz="1600" dirty="0"/>
                        <a:t>August 16, 2026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Email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Final submission with report, other docs  and 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0483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E0D1A04-3948-34A2-8073-0A9FACE9F20D}"/>
              </a:ext>
            </a:extLst>
          </p:cNvPr>
          <p:cNvSpPr txBox="1"/>
          <p:nvPr/>
        </p:nvSpPr>
        <p:spPr>
          <a:xfrm>
            <a:off x="1012054" y="5513033"/>
            <a:ext cx="104401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0000"/>
                </a:solidFill>
              </a:rPr>
              <a:t>Individual appointments can be arranged via email for guidance. Susmita Khadse: </a:t>
            </a:r>
            <a:r>
              <a:rPr lang="en-US" sz="1600" b="1" dirty="0">
                <a:solidFill>
                  <a:srgbClr val="00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susmita.khadse@u-Dresden.de</a:t>
            </a:r>
            <a:r>
              <a:rPr lang="en-US" sz="1600" b="1" dirty="0">
                <a:solidFill>
                  <a:srgbClr val="000000"/>
                </a:solidFill>
              </a:rPr>
              <a:t>, Julián Méndez:  </a:t>
            </a:r>
            <a:r>
              <a:rPr lang="en-US" sz="1600" b="1" dirty="0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julian.mendez2@tu-dresden.de</a:t>
            </a:r>
            <a:r>
              <a:rPr lang="en-US" sz="1600" b="1" dirty="0">
                <a:solidFill>
                  <a:srgbClr val="00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5045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646E4-D480-BFC9-9A6E-3D016327A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84C820-140E-1A95-9A92-9CDF5385B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130" y="756172"/>
            <a:ext cx="10013005" cy="684213"/>
          </a:xfrm>
        </p:spPr>
        <p:txBody>
          <a:bodyPr/>
          <a:lstStyle/>
          <a:p>
            <a:r>
              <a:rPr lang="en-US" dirty="0">
                <a:solidFill>
                  <a:srgbClr val="00008C"/>
                </a:solidFill>
              </a:rPr>
              <a:t>AI Powered Data Storytelling: Deliverables</a:t>
            </a:r>
            <a:endParaRPr lang="en-US" noProof="0" dirty="0">
              <a:solidFill>
                <a:srgbClr val="00008C"/>
              </a:solidFill>
            </a:endParaRP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0C5F7B59-127D-9701-0F15-767CA4271D7F}"/>
              </a:ext>
            </a:extLst>
          </p:cNvPr>
          <p:cNvSpPr txBox="1">
            <a:spLocks/>
          </p:cNvSpPr>
          <p:nvPr/>
        </p:nvSpPr>
        <p:spPr>
          <a:xfrm>
            <a:off x="1050586" y="1440385"/>
            <a:ext cx="9993549" cy="3722451"/>
          </a:xfrm>
          <a:prstGeom prst="rect">
            <a:avLst/>
          </a:prstGeom>
          <a:ln w="19050">
            <a:solidFill>
              <a:srgbClr val="00008C"/>
            </a:solidFill>
          </a:ln>
        </p:spPr>
        <p:txBody>
          <a:bodyPr vert="horz" lIns="180000" tIns="180000" rIns="180000" bIns="180000" rtlCol="0">
            <a:noAutofit/>
          </a:bodyPr>
          <a:lstStyle>
            <a:lvl1pPr marL="0" indent="0" algn="l" defTabSz="914269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1pPr>
            <a:lvl2pPr marL="360000" indent="-360000" algn="l" defTabSz="914269" rtl="0" eaLnBrk="1" latinLnBrk="0" hangingPunct="1">
              <a:spcBef>
                <a:spcPts val="600"/>
              </a:spcBef>
              <a:buClr>
                <a:schemeClr val="accent1"/>
              </a:buClr>
              <a:buSzPct val="110000"/>
              <a:buFont typeface="Wingdings" charset="2"/>
              <a:buChar char="§"/>
              <a:defRPr sz="18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2pPr>
            <a:lvl3pPr marL="285750" indent="-285750" algn="l" defTabSz="914269" rtl="0" eaLnBrk="1" latinLnBrk="0" hangingPunct="1">
              <a:spcBef>
                <a:spcPts val="600"/>
              </a:spcBef>
              <a:buFont typeface="Wingdings" charset="2"/>
              <a:buChar char="§"/>
              <a:defRPr sz="16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3pPr>
            <a:lvl4pPr marL="395942" indent="-215969" algn="l" defTabSz="914269" rtl="0" eaLnBrk="1" latinLnBrk="0" hangingPunct="1">
              <a:spcBef>
                <a:spcPts val="600"/>
              </a:spcBef>
              <a:buFont typeface=".AppleSystemUIFont" charset="-120"/>
              <a:buChar char="-"/>
              <a:defRPr sz="16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4pPr>
            <a:lvl5pPr marL="1080000" indent="-360000" algn="l" defTabSz="914269" rtl="0" eaLnBrk="1" latinLnBrk="0" hangingPunct="1">
              <a:spcBef>
                <a:spcPts val="400"/>
              </a:spcBef>
              <a:buFont typeface="Wingdings" charset="2"/>
              <a:buChar char="§"/>
              <a:defRPr sz="1400" kern="1200" baseline="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5pPr>
            <a:lvl6pPr marL="358723" indent="0" algn="l" defTabSz="914269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lang="en-US" sz="1400" b="0" kern="1200" baseline="0" dirty="0" smtClean="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6pPr>
            <a:lvl7pPr marL="358723" indent="0" algn="l" defTabSz="914269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428502" indent="-228566" algn="l" defTabSz="91426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635" indent="-228566" algn="l" defTabSz="91426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2F57B2"/>
                </a:solidFill>
              </a:rPr>
              <a:t>Deliverables:</a:t>
            </a:r>
          </a:p>
          <a:p>
            <a:pPr marL="720000" lvl="4" indent="0">
              <a:buNone/>
            </a:pPr>
            <a:endParaRPr lang="en-US" dirty="0"/>
          </a:p>
          <a:p>
            <a:pPr lvl="1">
              <a:buClr>
                <a:srgbClr val="000000"/>
              </a:buClr>
            </a:pPr>
            <a:r>
              <a:rPr lang="en-US" i="1" dirty="0"/>
              <a:t> </a:t>
            </a:r>
            <a:r>
              <a:rPr lang="en-US" i="1" dirty="0">
                <a:solidFill>
                  <a:srgbClr val="000000"/>
                </a:solidFill>
              </a:rPr>
              <a:t>Task sheet: maintain a sheet for who did which tasks in the group.</a:t>
            </a:r>
          </a:p>
          <a:p>
            <a:pPr lvl="1">
              <a:buClr>
                <a:srgbClr val="000000"/>
              </a:buClr>
            </a:pPr>
            <a:endParaRPr lang="en-US" i="1" dirty="0">
              <a:solidFill>
                <a:srgbClr val="000000"/>
              </a:solidFill>
            </a:endParaRPr>
          </a:p>
          <a:p>
            <a:pPr lvl="1">
              <a:buClr>
                <a:srgbClr val="000000"/>
              </a:buClr>
            </a:pPr>
            <a:r>
              <a:rPr lang="en-US" i="1" dirty="0">
                <a:solidFill>
                  <a:srgbClr val="000000"/>
                </a:solidFill>
              </a:rPr>
              <a:t>Report on AI tools analysis.</a:t>
            </a:r>
          </a:p>
          <a:p>
            <a:pPr lvl="1">
              <a:buClr>
                <a:srgbClr val="000000"/>
              </a:buClr>
            </a:pPr>
            <a:endParaRPr lang="en-US" i="1" dirty="0">
              <a:solidFill>
                <a:srgbClr val="000000"/>
              </a:solidFill>
            </a:endParaRPr>
          </a:p>
          <a:p>
            <a:pPr lvl="1">
              <a:buClr>
                <a:srgbClr val="000000"/>
              </a:buClr>
            </a:pPr>
            <a:r>
              <a:rPr lang="en-US" i="1" dirty="0">
                <a:solidFill>
                  <a:srgbClr val="000000"/>
                </a:solidFill>
              </a:rPr>
              <a:t>Git repository.</a:t>
            </a:r>
          </a:p>
          <a:p>
            <a:pPr lvl="1">
              <a:buClr>
                <a:srgbClr val="000000"/>
              </a:buClr>
            </a:pPr>
            <a:endParaRPr lang="en-US" i="1" dirty="0">
              <a:solidFill>
                <a:srgbClr val="000000"/>
              </a:solidFill>
            </a:endParaRPr>
          </a:p>
          <a:p>
            <a:pPr lvl="1">
              <a:buClr>
                <a:srgbClr val="000000"/>
              </a:buClr>
            </a:pPr>
            <a:r>
              <a:rPr lang="en-US" i="1" dirty="0">
                <a:solidFill>
                  <a:srgbClr val="000000"/>
                </a:solidFill>
              </a:rPr>
              <a:t>Final report with the user study.</a:t>
            </a:r>
          </a:p>
        </p:txBody>
      </p:sp>
    </p:spTree>
    <p:extLst>
      <p:ext uri="{BB962C8B-B14F-4D97-AF65-F5344CB8AC3E}">
        <p14:creationId xmlns:p14="http://schemas.microsoft.com/office/powerpoint/2010/main" val="1065295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86602-3581-E870-8987-8A547B259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6CF980-E0F3-771B-A06C-8FCDDBD84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505012"/>
            <a:ext cx="7650822" cy="1403352"/>
          </a:xfrm>
        </p:spPr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8E511B2-16F7-A53E-B260-464F41541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2570" y="3908364"/>
            <a:ext cx="7250113" cy="539750"/>
          </a:xfrm>
        </p:spPr>
        <p:txBody>
          <a:bodyPr/>
          <a:lstStyle/>
          <a:p>
            <a:r>
              <a:rPr lang="en-US" dirty="0"/>
              <a:t>Contact: Susmita Khadse M.Sc.</a:t>
            </a:r>
            <a:br>
              <a:rPr lang="en-US" dirty="0"/>
            </a:br>
            <a:r>
              <a:rPr lang="en-US" sz="1800" dirty="0" err="1"/>
              <a:t>susmita.khadse@tu-dresden.de</a:t>
            </a:r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0997332-D384-8C14-809C-1257FEDB03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6312025"/>
            <a:ext cx="7833064" cy="256573"/>
          </a:xfrm>
        </p:spPr>
        <p:txBody>
          <a:bodyPr/>
          <a:lstStyle/>
          <a:p>
            <a:r>
              <a:rPr lang="en-US" dirty="0"/>
              <a:t>Faculty of Computer Science – Chair of Multimedia Technology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F92B830-A9EE-1BFA-0B66-6870032E7E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1736725"/>
            <a:ext cx="7650822" cy="539750"/>
          </a:xfrm>
        </p:spPr>
        <p:txBody>
          <a:bodyPr/>
          <a:lstStyle/>
          <a:p>
            <a:r>
              <a:rPr lang="en-US" dirty="0"/>
              <a:t>Summer Term 2026- Prof. Dr.-Ing. Raimund Dachselt</a:t>
            </a:r>
          </a:p>
        </p:txBody>
      </p:sp>
    </p:spTree>
    <p:extLst>
      <p:ext uri="{BB962C8B-B14F-4D97-AF65-F5344CB8AC3E}">
        <p14:creationId xmlns:p14="http://schemas.microsoft.com/office/powerpoint/2010/main" val="2411055937"/>
      </p:ext>
    </p:extLst>
  </p:cSld>
  <p:clrMapOvr>
    <a:masterClrMapping/>
  </p:clrMapOvr>
</p:sld>
</file>

<file path=ppt/theme/theme1.xml><?xml version="1.0" encoding="utf-8"?>
<a:theme xmlns:a="http://schemas.openxmlformats.org/drawingml/2006/main" name="TUD_2018_16zu9">
  <a:themeElements>
    <a:clrScheme name="TUD_Farben">
      <a:dk1>
        <a:srgbClr val="00305E"/>
      </a:dk1>
      <a:lt1>
        <a:srgbClr val="FFFFFF"/>
      </a:lt1>
      <a:dk2>
        <a:srgbClr val="00305E"/>
      </a:dk2>
      <a:lt2>
        <a:srgbClr val="727879"/>
      </a:lt2>
      <a:accent1>
        <a:srgbClr val="009EE0"/>
      </a:accent1>
      <a:accent2>
        <a:srgbClr val="006AB3"/>
      </a:accent2>
      <a:accent3>
        <a:srgbClr val="6AB023"/>
      </a:accent3>
      <a:accent4>
        <a:srgbClr val="007D40"/>
      </a:accent4>
      <a:accent5>
        <a:srgbClr val="93107E"/>
      </a:accent5>
      <a:accent6>
        <a:srgbClr val="54378A"/>
      </a:accent6>
      <a:hlink>
        <a:srgbClr val="009EE0"/>
      </a:hlink>
      <a:folHlink>
        <a:srgbClr val="006AB3"/>
      </a:folHlink>
    </a:clrScheme>
    <a:fontScheme name="TUD_Open San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800" dirty="0" err="1" smtClean="0">
            <a:solidFill>
              <a:schemeClr val="bg1">
                <a:lumMod val="50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57C8D47D-C401-4EE1-BDE7-44A31DD9F0E9}" vid="{32192CAF-097F-4FAF-B79D-D16E995EDBE8}"/>
    </a:ext>
  </a:extLst>
</a:theme>
</file>

<file path=ppt/theme/theme2.xml><?xml version="1.0" encoding="utf-8"?>
<a:theme xmlns:a="http://schemas.openxmlformats.org/drawingml/2006/main" name="250829_TUD_Präsentation">
  <a:themeElements>
    <a:clrScheme name="TUD_2025_Blau-Türkis">
      <a:dk1>
        <a:srgbClr val="000000"/>
      </a:dk1>
      <a:lt1>
        <a:sysClr val="window" lastClr="FFFFFF"/>
      </a:lt1>
      <a:dk2>
        <a:srgbClr val="566371"/>
      </a:dk2>
      <a:lt2>
        <a:srgbClr val="FFFFFF"/>
      </a:lt2>
      <a:accent1>
        <a:srgbClr val="00008C"/>
      </a:accent1>
      <a:accent2>
        <a:srgbClr val="97C6FF"/>
      </a:accent2>
      <a:accent3>
        <a:srgbClr val="2F57B2"/>
      </a:accent3>
      <a:accent4>
        <a:srgbClr val="00005A"/>
      </a:accent4>
      <a:accent5>
        <a:srgbClr val="0A777F"/>
      </a:accent5>
      <a:accent6>
        <a:srgbClr val="8CE6D7"/>
      </a:accent6>
      <a:hlink>
        <a:srgbClr val="00008C"/>
      </a:hlink>
      <a:folHlink>
        <a:srgbClr val="2F57B2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50829_TUD_Präsentation" id="{74CE661A-D83F-4267-88C9-0A244935CE67}" vid="{712F915C-54FF-4258-A6F7-525C1BD9DC60}"/>
    </a:ext>
  </a:extLst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AB2291DA4B98F43BE575CCF0DADC26F" ma:contentTypeVersion="0" ma:contentTypeDescription="Ein neues Dokument erstellen." ma:contentTypeScope="" ma:versionID="3010c4245f27ac75709b4cc096bc6f1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4f5dc90cf06628c3b90945c8266c24d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3089A6-18FD-4459-9500-73C758C1777A}">
  <ds:schemaRefs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41125-6F17-4725-AC01-6CDC213D78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5F6E3C8-146A-47C2-916B-B3617511693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1334</TotalTime>
  <Words>629</Words>
  <Application>Microsoft Macintosh PowerPoint</Application>
  <PresentationFormat>Widescreen</PresentationFormat>
  <Paragraphs>96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.AppleSystemUIFont</vt:lpstr>
      <vt:lpstr>Arial</vt:lpstr>
      <vt:lpstr>Calibri</vt:lpstr>
      <vt:lpstr>Noto Sans</vt:lpstr>
      <vt:lpstr>Noto Sans Medium</vt:lpstr>
      <vt:lpstr>Open Sans</vt:lpstr>
      <vt:lpstr>Open Sans Light</vt:lpstr>
      <vt:lpstr>Symbol</vt:lpstr>
      <vt:lpstr>Wingdings</vt:lpstr>
      <vt:lpstr>TUD_2018_16zu9</vt:lpstr>
      <vt:lpstr>250829_TUD_Präsentation</vt:lpstr>
      <vt:lpstr>CMS Team Project Interactive Visual Computing</vt:lpstr>
      <vt:lpstr>AI Powered Data Storytelling</vt:lpstr>
      <vt:lpstr>AI Powered Data Storytelling: Goals</vt:lpstr>
      <vt:lpstr>AI Powered Data Storytelling: Tasks</vt:lpstr>
      <vt:lpstr>AI Powered Data Storytelling: Requirements</vt:lpstr>
      <vt:lpstr>AI Powered Data Storytelling: Proposed Schedule</vt:lpstr>
      <vt:lpstr>AI Powered Data Storytelling: Deliverables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Präsentationsvorlagen im CD der TU Dresden</dc:title>
  <dc:creator>stefan.gumhold@tu-dresden.de;raimund.dachselt@tu-dresden.de</dc:creator>
  <cp:lastModifiedBy>Khadse, Susmita Sunil</cp:lastModifiedBy>
  <cp:revision>396</cp:revision>
  <dcterms:created xsi:type="dcterms:W3CDTF">2018-09-18T14:38:18Z</dcterms:created>
  <dcterms:modified xsi:type="dcterms:W3CDTF">2026-04-21T17:00:48Z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0x0101007AB2291DA4B98F43BE575CCF0DADC26F</vt:lpwstr>
  </property>
</Properties>
</file>