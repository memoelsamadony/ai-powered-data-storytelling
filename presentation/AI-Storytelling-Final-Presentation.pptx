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embeddedFontLst>
    <p:embeddedFont>
      <p:font typeface="IBM Plex Sans" panose="020B0604020202020204" charset="0"/>
      <p:regular r:id="rId25"/>
      <p:bold r:id="rId26"/>
      <p:italic r:id="rId27"/>
      <p:boldItalic r:id="rId28"/>
    </p:embeddedFont>
    <p:embeddedFont>
      <p:font typeface="Calibri" panose="020F050202020403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B14E88-7753-443F-B1A5-5DB88A1DE78E}">
  <a:tblStyle styleId="{04B14E88-7753-443F-B1A5-5DB88A1DE78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8D23185-9AAB-4605-A651-124715170B24}"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7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902318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 name="Google Shape;16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Calibri"/>
                <a:ea typeface="Calibri"/>
                <a:cs typeface="Calibri"/>
                <a:sym typeface="Calibri"/>
              </a:rPr>
              <a:t>Welcome. We are the AI-Powered Data Storytelling team. Our project turns data into a written story — and, as our novel contribution, an agent that moderates the emotional TONE of that story. Four parts: literature, dataset &amp; idea, models &amp; implementation, and the web application. Each of the four of us takes one part. [~20s]</a:t>
            </a:r>
            <a:endParaRPr/>
          </a:p>
        </p:txBody>
      </p:sp>
      <p:sp>
        <p:nvSpPr>
          <p:cNvPr id="170" name="Google Shape;170;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6650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 name="Google Shape;18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2" name="Google Shape;182;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70693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Speaker 1 takes over. One line: we surveyed AI / agentic data-story tools and found one thing nobody does. [~10s]</a:t>
            </a:r>
            <a:endParaRPr/>
          </a:p>
        </p:txBody>
      </p:sp>
      <p:sp>
        <p:nvSpPr>
          <p:cNvPr id="220" name="Google Shape;220;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4590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Define data storytelling in one line. Hullman &amp; Diakopoulos prove framing changes how people read data — that is the scientific justification for moderating tone. Then the key gap that motivates everything: existing agentic checks are about facts, never tone. [~1.5 min]</a:t>
            </a:r>
            <a:endParaRPr/>
          </a:p>
        </p:txBody>
      </p:sp>
      <p:sp>
        <p:nvSpPr>
          <p:cNvPr id="232" name="Google Shape;232;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853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8b8d83ad1f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6" name="Google Shape;246;g38b8d83ad1f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Define data storytelling in one line. Hullman &amp; Diakopoulos prove framing changes how people read data — that is the scientific justification for moderating tone. Then the key gap that motivates everything: existing agentic checks are about facts, never tone. [~1.5 min]</a:t>
            </a:r>
            <a:endParaRPr/>
          </a:p>
        </p:txBody>
      </p:sp>
      <p:sp>
        <p:nvSpPr>
          <p:cNvPr id="247" name="Google Shape;247;g38b8d83ad1f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2989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0" name="Google Shape;260;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Speaker 1 takes over. One line: we surveyed AI / agentic data-story tools and found one thing nobody does. [~10s]</a:t>
            </a:r>
            <a:endParaRPr/>
          </a:p>
        </p:txBody>
      </p:sp>
      <p:sp>
        <p:nvSpPr>
          <p:cNvPr id="261" name="Google Shape;261;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8751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1" name="Google Shape;271;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Define data storytelling in one line. Hullman &amp; Diakopoulos prove framing changes how people read data — that is the scientific justification for moderating tone. Then the key gap that motivates everything: existing agentic checks are about facts, never tone. [~1.5 min]</a:t>
            </a:r>
            <a:endParaRPr/>
          </a:p>
        </p:txBody>
      </p:sp>
      <p:sp>
        <p:nvSpPr>
          <p:cNvPr id="272" name="Google Shape;272;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690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2" name="Google Shape;28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Speaker 2. We picked a dataset whose natural failure mode is exactly what our agent must fix. [~10s]</a:t>
            </a:r>
            <a:endParaRPr/>
          </a:p>
        </p:txBody>
      </p:sp>
      <p:sp>
        <p:nvSpPr>
          <p:cNvPr id="283" name="Google Shape;283;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3111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ef0b6f54c1_0_15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ef0b6f54c1_0_1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404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Explain the join in one breath: two public tables merged on country + year, plus population. The chart is the whole premise — coverage stalls below the 95% herd line and cases rebound (669k in 2023, 676k in 2024). That is why we picked it: alarmism is the natural way this story goes wrong, exactly what the moderator must catch. [~1.5 min]</a:t>
            </a:r>
            <a:endParaRPr/>
          </a:p>
        </p:txBody>
      </p:sp>
      <p:sp>
        <p:nvSpPr>
          <p:cNvPr id="304" name="Google Shape;304;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92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9" name="Google Shape;31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This is the heart of the project. The agent reads the generated story and recalibrates tone while keeping the facts. The two-tone line makes it concrete — same data, very different reader reaction. The human-vs-LLM comparison is how we evaluate. [~1.5 min]</a:t>
            </a:r>
            <a:endParaRPr/>
          </a:p>
        </p:txBody>
      </p:sp>
      <p:sp>
        <p:nvSpPr>
          <p:cNvPr id="320" name="Google Shape;320;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8427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0" name="Google Shape;330;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Speaker 3. Everything here runs locally, and the real run gave us a result that shaped the design. [~10s]</a:t>
            </a:r>
            <a:endParaRPr/>
          </a:p>
        </p:txBody>
      </p:sp>
      <p:sp>
        <p:nvSpPr>
          <p:cNvPr id="331" name="Google Shape;331;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344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Three local stages: qwen generates, gemma moderates the tone, Opus judges. The dashed box is the factual-consistency agent we plan to add. The reproductions are why we trust the setup and why tone is the novelty: open models are already fairly faithful, but causal reasoning stays hard. [~1.5 min]</a:t>
            </a:r>
            <a:endParaRPr/>
          </a:p>
        </p:txBody>
      </p:sp>
      <p:sp>
        <p:nvSpPr>
          <p:cNvPr id="342" name="Google Shape;342;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6598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This is the most compelling slide — a real run on real data. The generator was fluent but alarmist AND hallucinated 'over a million' (real value 14,999). The moderator fixed the tone and accidentally the number but did not flag it. That gap is itself a result: it tells us to add a separate factual-consistency pass. [~1.5 min]</a:t>
            </a:r>
            <a:endParaRPr/>
          </a:p>
        </p:txBody>
      </p:sp>
      <p:sp>
        <p:nvSpPr>
          <p:cNvPr id="354" name="Google Shape;354;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4495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5" name="Google Shape;365;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These metrics come straight from our reproductions, extended to the tone task. The novel pair is the tone-calibration delta plus the faithfulness re-check that confirms the edit kept the facts. The user study answers the human-vs-LLM question. [~1 min]</a:t>
            </a:r>
            <a:endParaRPr/>
          </a:p>
        </p:txBody>
      </p:sp>
      <p:sp>
        <p:nvSpPr>
          <p:cNvPr id="366" name="Google Shape;366;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3220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7" name="Google Shape;387;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Speaker 4. The interface where a reader sees the data, both stories, and what the moderator changed. [~10s]</a:t>
            </a:r>
            <a:endParaRPr/>
          </a:p>
        </p:txBody>
      </p:sp>
      <p:sp>
        <p:nvSpPr>
          <p:cNvPr id="388" name="Google Shape;388;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7103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8" name="Google Shape;398;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Present the interface as three panels: see the data, read both stories side by side, and inspect what the moderator changed. We already built a working dashboard ('Red Pen') during the reproduction — this design extends it. [~1.5 min]</a:t>
            </a:r>
            <a:endParaRPr/>
          </a:p>
        </p:txBody>
      </p:sp>
      <p:sp>
        <p:nvSpPr>
          <p:cNvPr id="399" name="Google Shape;399;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2047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9" name="Google Shape;419;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Present the interface as three panels: see the data, read both stories side by side, and inspect what the moderator changed. We already built a working dashboard ('Red Pen') during the reproduction — this design extends it. [~1.5 min]</a:t>
            </a:r>
            <a:endParaRPr/>
          </a:p>
        </p:txBody>
      </p:sp>
      <p:sp>
        <p:nvSpPr>
          <p:cNvPr id="420" name="Google Shape;420;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3346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0" name="Google Shape;440;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Speaker 4. The interface where a reader sees the data, both stories, and what the moderator changed. [~10s]</a:t>
            </a:r>
            <a:endParaRPr/>
          </a:p>
        </p:txBody>
      </p:sp>
      <p:sp>
        <p:nvSpPr>
          <p:cNvPr id="441" name="Google Shape;441;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83565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1" name="Google Shape;451;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These metrics come straight from our reproductions, extended to the tone task. The novel pair is the tone-calibration delta plus the faithfulness re-check that confirms the edit kept the facts. The user study answers the human-vs-LLM question. [~1 min]</a:t>
            </a:r>
            <a:endParaRPr/>
          </a:p>
        </p:txBody>
      </p:sp>
      <p:sp>
        <p:nvSpPr>
          <p:cNvPr id="452" name="Google Shape;452;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44697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ef0b6f54c1_0_9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ef0b6f54c1_0_9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054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000000"/>
        </a:solidFill>
        <a:effectLst/>
      </p:bgPr>
    </p:bg>
    <p:spTree>
      <p:nvGrpSpPr>
        <p:cNvPr id="1" name="Shape 15"/>
        <p:cNvGrpSpPr/>
        <p:nvPr/>
      </p:nvGrpSpPr>
      <p:grpSpPr>
        <a:xfrm>
          <a:off x="0" y="0"/>
          <a:ext cx="0" cy="0"/>
          <a:chOff x="0" y="0"/>
          <a:chExt cx="0" cy="0"/>
        </a:xfrm>
      </p:grpSpPr>
      <p:pic>
        <p:nvPicPr>
          <p:cNvPr id="16" name="Google Shape;16;p3" descr="preencoded.png"/>
          <p:cNvPicPr preferRelativeResize="0"/>
          <p:nvPr/>
        </p:nvPicPr>
        <p:blipFill rotWithShape="1">
          <a:blip r:embed="rId2">
            <a:alphaModFix/>
          </a:blip>
          <a:srcRect/>
          <a:stretch/>
        </p:blipFill>
        <p:spPr>
          <a:xfrm>
            <a:off x="0" y="0"/>
            <a:ext cx="12191695" cy="6858000"/>
          </a:xfrm>
          <a:prstGeom prst="rect">
            <a:avLst/>
          </a:prstGeom>
          <a:noFill/>
          <a:ln>
            <a:noFill/>
          </a:ln>
        </p:spPr>
      </p:pic>
      <p:sp>
        <p:nvSpPr>
          <p:cNvPr id="17" name="Google Shape;17;p3"/>
          <p:cNvSpPr/>
          <p:nvPr/>
        </p:nvSpPr>
        <p:spPr>
          <a:xfrm>
            <a:off x="0" y="0"/>
            <a:ext cx="12191695" cy="6858000"/>
          </a:xfrm>
          <a:prstGeom prst="rect">
            <a:avLst/>
          </a:prstGeom>
          <a:solidFill>
            <a:srgbClr val="FFFFFF">
              <a:alpha val="9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3" descr="preencoded.png">
            <a:hlinkClick r:id="rId3"/>
          </p:cNvPr>
          <p:cNvPicPr preferRelativeResize="0"/>
          <p:nvPr/>
        </p:nvPicPr>
        <p:blipFill rotWithShape="1">
          <a:blip r:embed="rId4">
            <a:alphaModFix/>
          </a:blip>
          <a:srcRect/>
          <a:stretch/>
        </p:blipFill>
        <p:spPr>
          <a:xfrm>
            <a:off x="11076875" y="6558991"/>
            <a:ext cx="1071843" cy="256032"/>
          </a:xfrm>
          <a:prstGeom prst="rect">
            <a:avLst/>
          </a:prstGeom>
          <a:noFill/>
          <a:ln>
            <a:noFill/>
          </a:ln>
        </p:spPr>
      </p:pic>
      <p:sp>
        <p:nvSpPr>
          <p:cNvPr id="19" name="Google Shape;19;p3"/>
          <p:cNvSpPr txBox="1">
            <a:spLocks noGrp="1"/>
          </p:cNvSpPr>
          <p:nvPr>
            <p:ph type="sldNum" idx="12"/>
          </p:nvPr>
        </p:nvSpPr>
        <p:spPr>
          <a:xfrm>
            <a:off x="11409045" y="6333134"/>
            <a:ext cx="731700" cy="5250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3" name="Google Shape;23;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1"/>
          <p:cNvSpPr>
            <a:spLocks noGrp="1"/>
          </p:cNvSpPr>
          <p:nvPr>
            <p:ph type="pic" idx="2"/>
          </p:nvPr>
        </p:nvSpPr>
        <p:spPr>
          <a:xfrm>
            <a:off x="1792288" y="612775"/>
            <a:ext cx="5486400" cy="4114800"/>
          </a:xfrm>
          <a:prstGeom prst="rect">
            <a:avLst/>
          </a:prstGeom>
          <a:noFill/>
          <a:ln>
            <a:noFill/>
          </a:ln>
        </p:spPr>
      </p:sp>
      <p:sp>
        <p:nvSpPr>
          <p:cNvPr id="69" name="Google Shape;69;p1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1"/>
        <p:cNvGrpSpPr/>
        <p:nvPr/>
      </p:nvGrpSpPr>
      <p:grpSpPr>
        <a:xfrm>
          <a:off x="0" y="0"/>
          <a:ext cx="0" cy="0"/>
          <a:chOff x="0" y="0"/>
          <a:chExt cx="0" cy="0"/>
        </a:xfrm>
      </p:grpSpPr>
      <p:sp>
        <p:nvSpPr>
          <p:cNvPr id="92" name="Google Shape;92;p1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000000"/>
        </a:solidFill>
        <a:effectLst/>
      </p:bgPr>
    </p:bg>
    <p:spTree>
      <p:nvGrpSpPr>
        <p:cNvPr id="1" name="Shape 95"/>
        <p:cNvGrpSpPr/>
        <p:nvPr/>
      </p:nvGrpSpPr>
      <p:grpSpPr>
        <a:xfrm>
          <a:off x="0" y="0"/>
          <a:ext cx="0" cy="0"/>
          <a:chOff x="0" y="0"/>
          <a:chExt cx="0" cy="0"/>
        </a:xfrm>
      </p:grpSpPr>
      <p:pic>
        <p:nvPicPr>
          <p:cNvPr id="96" name="Google Shape;96;p16" descr="preencoded.png"/>
          <p:cNvPicPr preferRelativeResize="0"/>
          <p:nvPr/>
        </p:nvPicPr>
        <p:blipFill rotWithShape="1">
          <a:blip r:embed="rId2">
            <a:alphaModFix/>
          </a:blip>
          <a:srcRect/>
          <a:stretch/>
        </p:blipFill>
        <p:spPr>
          <a:xfrm>
            <a:off x="0" y="0"/>
            <a:ext cx="12191695" cy="6858000"/>
          </a:xfrm>
          <a:prstGeom prst="rect">
            <a:avLst/>
          </a:prstGeom>
          <a:noFill/>
          <a:ln>
            <a:noFill/>
          </a:ln>
        </p:spPr>
      </p:pic>
      <p:sp>
        <p:nvSpPr>
          <p:cNvPr id="97" name="Google Shape;97;p16"/>
          <p:cNvSpPr/>
          <p:nvPr/>
        </p:nvSpPr>
        <p:spPr>
          <a:xfrm>
            <a:off x="0" y="0"/>
            <a:ext cx="12191700" cy="6858000"/>
          </a:xfrm>
          <a:prstGeom prst="rect">
            <a:avLst/>
          </a:prstGeom>
          <a:solidFill>
            <a:srgbClr val="FFFFFF">
              <a:alpha val="9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 name="Google Shape;98;p16" descr="preencoded.png">
            <a:hlinkClick r:id="rId3"/>
          </p:cNvPr>
          <p:cNvPicPr preferRelativeResize="0"/>
          <p:nvPr/>
        </p:nvPicPr>
        <p:blipFill rotWithShape="1">
          <a:blip r:embed="rId4">
            <a:alphaModFix/>
          </a:blip>
          <a:srcRect/>
          <a:stretch/>
        </p:blipFill>
        <p:spPr>
          <a:xfrm>
            <a:off x="11076875" y="6558991"/>
            <a:ext cx="1071844" cy="256032"/>
          </a:xfrm>
          <a:prstGeom prst="rect">
            <a:avLst/>
          </a:prstGeom>
          <a:noFill/>
          <a:ln>
            <a:noFill/>
          </a:ln>
        </p:spPr>
      </p:pic>
      <p:sp>
        <p:nvSpPr>
          <p:cNvPr id="99" name="Google Shape;99;p16"/>
          <p:cNvSpPr txBox="1">
            <a:spLocks noGrp="1"/>
          </p:cNvSpPr>
          <p:nvPr>
            <p:ph type="sldNum" idx="12"/>
          </p:nvPr>
        </p:nvSpPr>
        <p:spPr>
          <a:xfrm>
            <a:off x="11409045" y="6333134"/>
            <a:ext cx="731700" cy="5250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0"/>
        <p:cNvGrpSpPr/>
        <p:nvPr/>
      </p:nvGrpSpPr>
      <p:grpSpPr>
        <a:xfrm>
          <a:off x="0" y="0"/>
          <a:ext cx="0" cy="0"/>
          <a:chOff x="0" y="0"/>
          <a:chExt cx="0" cy="0"/>
        </a:xfrm>
      </p:grpSpPr>
      <p:sp>
        <p:nvSpPr>
          <p:cNvPr id="101" name="Google Shape;101;p17"/>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03" name="Google Shape;103;p1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6"/>
        <p:cNvGrpSpPr/>
        <p:nvPr/>
      </p:nvGrpSpPr>
      <p:grpSpPr>
        <a:xfrm>
          <a:off x="0" y="0"/>
          <a:ext cx="0" cy="0"/>
          <a:chOff x="0" y="0"/>
          <a:chExt cx="0" cy="0"/>
        </a:xfrm>
      </p:grpSpPr>
      <p:sp>
        <p:nvSpPr>
          <p:cNvPr id="107" name="Google Shape;107;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8"/>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9" name="Google Shape;109;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2"/>
        <p:cNvGrpSpPr/>
        <p:nvPr/>
      </p:nvGrpSpPr>
      <p:grpSpPr>
        <a:xfrm>
          <a:off x="0" y="0"/>
          <a:ext cx="0" cy="0"/>
          <a:chOff x="0" y="0"/>
          <a:chExt cx="0" cy="0"/>
        </a:xfrm>
      </p:grpSpPr>
      <p:sp>
        <p:nvSpPr>
          <p:cNvPr id="113" name="Google Shape;113;p19"/>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19"/>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5" name="Google Shape;115;p1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0"/>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21" name="Google Shape;121;p20"/>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22" name="Google Shape;122;p2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21"/>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8" name="Google Shape;128;p21"/>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9" name="Google Shape;129;p21"/>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30" name="Google Shape;130;p21"/>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31" name="Google Shape;131;p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2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2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9"/>
        <p:cNvGrpSpPr/>
        <p:nvPr/>
      </p:nvGrpSpPr>
      <p:grpSpPr>
        <a:xfrm>
          <a:off x="0" y="0"/>
          <a:ext cx="0" cy="0"/>
          <a:chOff x="0" y="0"/>
          <a:chExt cx="0" cy="0"/>
        </a:xfrm>
      </p:grpSpPr>
      <p:sp>
        <p:nvSpPr>
          <p:cNvPr id="140" name="Google Shape;140;p23"/>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3"/>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42" name="Google Shape;142;p23"/>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3" name="Google Shape;143;p2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2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6"/>
        <p:cNvGrpSpPr/>
        <p:nvPr/>
      </p:nvGrpSpPr>
      <p:grpSpPr>
        <a:xfrm>
          <a:off x="0" y="0"/>
          <a:ext cx="0" cy="0"/>
          <a:chOff x="0" y="0"/>
          <a:chExt cx="0" cy="0"/>
        </a:xfrm>
      </p:grpSpPr>
      <p:sp>
        <p:nvSpPr>
          <p:cNvPr id="147" name="Google Shape;147;p24"/>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24"/>
          <p:cNvSpPr>
            <a:spLocks noGrp="1"/>
          </p:cNvSpPr>
          <p:nvPr>
            <p:ph type="pic" idx="2"/>
          </p:nvPr>
        </p:nvSpPr>
        <p:spPr>
          <a:xfrm>
            <a:off x="1792288" y="612775"/>
            <a:ext cx="5486400" cy="4114800"/>
          </a:xfrm>
          <a:prstGeom prst="rect">
            <a:avLst/>
          </a:prstGeom>
          <a:noFill/>
          <a:ln>
            <a:noFill/>
          </a:ln>
        </p:spPr>
      </p:sp>
      <p:sp>
        <p:nvSpPr>
          <p:cNvPr id="149" name="Google Shape;149;p24"/>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0" name="Google Shape;150;p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3"/>
        <p:cNvGrpSpPr/>
        <p:nvPr/>
      </p:nvGrpSpPr>
      <p:grpSpPr>
        <a:xfrm>
          <a:off x="0" y="0"/>
          <a:ext cx="0" cy="0"/>
          <a:chOff x="0" y="0"/>
          <a:chExt cx="0" cy="0"/>
        </a:xfrm>
      </p:grpSpPr>
      <p:sp>
        <p:nvSpPr>
          <p:cNvPr id="154" name="Google Shape;154;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25"/>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6" name="Google Shape;156;p2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2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6"/>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2" name="Google Shape;162;p2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2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2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lide master 1 1">
  <p:cSld name="Slide master 1 (g3ef0b6f54c1_48_0)">
    <p:bg>
      <p:bgPr>
        <a:solidFill>
          <a:srgbClr val="000000"/>
        </a:solidFill>
        <a:effectLst/>
      </p:bgPr>
    </p:bg>
    <p:spTree>
      <p:nvGrpSpPr>
        <p:cNvPr id="1" name="Shape 165"/>
        <p:cNvGrpSpPr/>
        <p:nvPr/>
      </p:nvGrpSpPr>
      <p:grpSpPr>
        <a:xfrm>
          <a:off x="0" y="0"/>
          <a:ext cx="0" cy="0"/>
          <a:chOff x="0" y="0"/>
          <a:chExt cx="0" cy="0"/>
        </a:xfrm>
      </p:grpSpPr>
      <p:sp>
        <p:nvSpPr>
          <p:cNvPr id="166" name="Google Shape;166;p27"/>
          <p:cNvSpPr txBox="1">
            <a:spLocks noGrp="1"/>
          </p:cNvSpPr>
          <p:nvPr>
            <p:ph type="sldNum" idx="12"/>
          </p:nvPr>
        </p:nvSpPr>
        <p:spPr>
          <a:xfrm>
            <a:off x="11409045" y="6333134"/>
            <a:ext cx="731700" cy="5250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7" name="Google Shape;87;p14"/>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p:nvPr/>
        </p:nvSpPr>
        <p:spPr>
          <a:xfrm>
            <a:off x="0" y="0"/>
            <a:ext cx="12191695"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3" name="Google Shape;173;p28"/>
          <p:cNvSpPr/>
          <p:nvPr/>
        </p:nvSpPr>
        <p:spPr>
          <a:xfrm>
            <a:off x="0" y="0"/>
            <a:ext cx="320040" cy="6858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74" name="Google Shape;174;p28" descr="tud_logo.png"/>
          <p:cNvPicPr preferRelativeResize="0"/>
          <p:nvPr/>
        </p:nvPicPr>
        <p:blipFill rotWithShape="1">
          <a:blip r:embed="rId3">
            <a:alphaModFix/>
          </a:blip>
          <a:srcRect/>
          <a:stretch/>
        </p:blipFill>
        <p:spPr>
          <a:xfrm>
            <a:off x="822960" y="640080"/>
            <a:ext cx="3108960" cy="1301877"/>
          </a:xfrm>
          <a:prstGeom prst="rect">
            <a:avLst/>
          </a:prstGeom>
          <a:noFill/>
          <a:ln>
            <a:noFill/>
          </a:ln>
        </p:spPr>
      </p:pic>
      <p:sp>
        <p:nvSpPr>
          <p:cNvPr id="175" name="Google Shape;175;p28"/>
          <p:cNvSpPr txBox="1"/>
          <p:nvPr/>
        </p:nvSpPr>
        <p:spPr>
          <a:xfrm>
            <a:off x="822960" y="2286000"/>
            <a:ext cx="10545900" cy="1436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00305D"/>
                </a:solidFill>
                <a:latin typeface="Calibri"/>
                <a:ea typeface="Calibri"/>
                <a:cs typeface="Calibri"/>
                <a:sym typeface="Calibri"/>
              </a:rPr>
              <a:t>Medical Information Storytelling Tone Regulation</a:t>
            </a:r>
            <a:endParaRPr/>
          </a:p>
          <a:p>
            <a:pPr marL="0" marR="0" lvl="0" indent="0" algn="l" rtl="0">
              <a:spcBef>
                <a:spcPts val="600"/>
              </a:spcBef>
              <a:spcAft>
                <a:spcPts val="0"/>
              </a:spcAft>
              <a:buNone/>
            </a:pPr>
            <a:r>
              <a:rPr lang="en-US" sz="2000" b="0" i="1" u="none" strike="noStrike" cap="none">
                <a:solidFill>
                  <a:srgbClr val="3C6E9E"/>
                </a:solidFill>
                <a:latin typeface="Calibri"/>
                <a:ea typeface="Calibri"/>
                <a:cs typeface="Calibri"/>
                <a:sym typeface="Calibri"/>
              </a:rPr>
              <a:t>An Agentic Approach to Moderating the Emotional Tone of Data Narratives</a:t>
            </a:r>
            <a:endParaRPr/>
          </a:p>
          <a:p>
            <a:pPr marL="0" marR="0" lvl="0" indent="0" algn="l" rtl="0">
              <a:spcBef>
                <a:spcPts val="1000"/>
              </a:spcBef>
              <a:spcAft>
                <a:spcPts val="0"/>
              </a:spcAft>
              <a:buNone/>
            </a:pPr>
            <a:r>
              <a:rPr lang="en-US" sz="1400" b="0" i="0" u="none" strike="noStrike" cap="none">
                <a:solidFill>
                  <a:srgbClr val="5A5A5A"/>
                </a:solidFill>
                <a:latin typeface="Calibri"/>
                <a:ea typeface="Calibri"/>
                <a:cs typeface="Calibri"/>
                <a:sym typeface="Calibri"/>
              </a:rPr>
              <a:t>Interim Presentation  ·  CMS Team Project  ·  TU Dresden  ·  Summer Term 2026</a:t>
            </a:r>
            <a:endParaRPr/>
          </a:p>
        </p:txBody>
      </p:sp>
      <p:sp>
        <p:nvSpPr>
          <p:cNvPr id="176" name="Google Shape;176;p28"/>
          <p:cNvSpPr/>
          <p:nvPr/>
        </p:nvSpPr>
        <p:spPr>
          <a:xfrm>
            <a:off x="841248" y="4736592"/>
            <a:ext cx="2926080" cy="508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7" name="Google Shape;177;p28"/>
          <p:cNvSpPr txBox="1"/>
          <p:nvPr/>
        </p:nvSpPr>
        <p:spPr>
          <a:xfrm>
            <a:off x="822960" y="5029200"/>
            <a:ext cx="10545775" cy="1463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1A1A1A"/>
                </a:solidFill>
                <a:latin typeface="Calibri"/>
                <a:ea typeface="Calibri"/>
                <a:cs typeface="Calibri"/>
                <a:sym typeface="Calibri"/>
              </a:rPr>
              <a:t>Mahmoud Elsamadony  ·  Ahmed Okasha  ·  Ahmed Elsaadani  ·  Ahmed Ramadan</a:t>
            </a:r>
            <a:endParaRPr/>
          </a:p>
          <a:p>
            <a:pPr marL="0" marR="0" lvl="0" indent="0" algn="l" rtl="0">
              <a:spcBef>
                <a:spcPts val="400"/>
              </a:spcBef>
              <a:spcAft>
                <a:spcPts val="0"/>
              </a:spcAft>
              <a:buNone/>
            </a:pPr>
            <a:r>
              <a:rPr lang="en-US" sz="1200" b="0" i="0" u="none" strike="noStrike" cap="none">
                <a:solidFill>
                  <a:srgbClr val="5A5A5A"/>
                </a:solidFill>
                <a:latin typeface="Calibri"/>
                <a:ea typeface="Calibri"/>
                <a:cs typeface="Calibri"/>
                <a:sym typeface="Calibri"/>
              </a:rPr>
              <a:t>Supervisors: Susmita Khadse, Julián Méndez  ·  Chair: Prof. Dr. Raimund Dachselt (IMLD)</a:t>
            </a:r>
            <a:endParaRPr/>
          </a:p>
        </p:txBody>
      </p:sp>
      <p:sp>
        <p:nvSpPr>
          <p:cNvPr id="178" name="Google Shape;178;p28"/>
          <p:cNvSpPr txBox="1">
            <a:spLocks noGrp="1"/>
          </p:cNvSpPr>
          <p:nvPr>
            <p:ph type="sldNum" idx="12"/>
          </p:nvPr>
        </p:nvSpPr>
        <p:spPr>
          <a:xfrm>
            <a:off x="9815250" y="6394875"/>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600"/>
              <a:t>1</a:t>
            </a:fld>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3"/>
        <p:cNvGrpSpPr/>
        <p:nvPr/>
      </p:nvGrpSpPr>
      <p:grpSpPr>
        <a:xfrm>
          <a:off x="0" y="0"/>
          <a:ext cx="0" cy="0"/>
          <a:chOff x="0" y="0"/>
          <a:chExt cx="0" cy="0"/>
        </a:xfrm>
      </p:grpSpPr>
      <p:sp>
        <p:nvSpPr>
          <p:cNvPr id="184" name="Google Shape;184;p29"/>
          <p:cNvSpPr/>
          <p:nvPr/>
        </p:nvSpPr>
        <p:spPr>
          <a:xfrm>
            <a:off x="0" y="0"/>
            <a:ext cx="320100" cy="6858000"/>
          </a:xfrm>
          <a:prstGeom prst="rect">
            <a:avLst/>
          </a:prstGeom>
          <a:solidFill>
            <a:srgbClr val="0030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85" name="Google Shape;185;p29"/>
          <p:cNvPicPr preferRelativeResize="0"/>
          <p:nvPr/>
        </p:nvPicPr>
        <p:blipFill rotWithShape="1">
          <a:blip r:embed="rId4">
            <a:alphaModFix/>
          </a:blip>
          <a:srcRect/>
          <a:stretch/>
        </p:blipFill>
        <p:spPr>
          <a:xfrm>
            <a:off x="822960" y="428625"/>
            <a:ext cx="2286000" cy="957300"/>
          </a:xfrm>
          <a:prstGeom prst="rect">
            <a:avLst/>
          </a:prstGeom>
          <a:noFill/>
          <a:ln>
            <a:noFill/>
          </a:ln>
        </p:spPr>
      </p:pic>
      <p:grpSp>
        <p:nvGrpSpPr>
          <p:cNvPr id="186" name="Google Shape;186;p29"/>
          <p:cNvGrpSpPr/>
          <p:nvPr/>
        </p:nvGrpSpPr>
        <p:grpSpPr>
          <a:xfrm>
            <a:off x="822960" y="1619250"/>
            <a:ext cx="10544100" cy="1285950"/>
            <a:chOff x="0" y="0"/>
            <a:chExt cx="10544100" cy="1285950"/>
          </a:xfrm>
        </p:grpSpPr>
        <p:sp>
          <p:nvSpPr>
            <p:cNvPr id="187" name="Google Shape;187;p29"/>
            <p:cNvSpPr txBox="1"/>
            <p:nvPr/>
          </p:nvSpPr>
          <p:spPr>
            <a:xfrm>
              <a:off x="0" y="0"/>
              <a:ext cx="105441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 b="1">
                  <a:solidFill>
                    <a:srgbClr val="00305D"/>
                  </a:solidFill>
                  <a:latin typeface="Calibri"/>
                  <a:ea typeface="Calibri"/>
                  <a:cs typeface="Calibri"/>
                  <a:sym typeface="Calibri"/>
                </a:rPr>
                <a:t>Table of Contents</a:t>
              </a:r>
              <a:endParaRPr sz="4000" b="1">
                <a:solidFill>
                  <a:srgbClr val="00305D"/>
                </a:solidFill>
                <a:latin typeface="Calibri"/>
                <a:ea typeface="Calibri"/>
                <a:cs typeface="Calibri"/>
                <a:sym typeface="Calibri"/>
              </a:endParaRPr>
            </a:p>
          </p:txBody>
        </p:sp>
        <p:sp>
          <p:nvSpPr>
            <p:cNvPr id="188" name="Google Shape;188;p29"/>
            <p:cNvSpPr txBox="1"/>
            <p:nvPr/>
          </p:nvSpPr>
          <p:spPr>
            <a:xfrm>
              <a:off x="0" y="809625"/>
              <a:ext cx="105441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0">
                  <a:solidFill>
                    <a:srgbClr val="5A5A5A"/>
                  </a:solidFill>
                  <a:latin typeface="Calibri"/>
                  <a:ea typeface="Calibri"/>
                  <a:cs typeface="Calibri"/>
                  <a:sym typeface="Calibri"/>
                </a:rPr>
                <a:t>This presentation walks through our research motivation, prior work, dataset, system design, and the path ahead.</a:t>
              </a:r>
              <a:endParaRPr sz="1400" b="0">
                <a:solidFill>
                  <a:srgbClr val="5A5A5A"/>
                </a:solidFill>
                <a:latin typeface="Calibri"/>
                <a:ea typeface="Calibri"/>
                <a:cs typeface="Calibri"/>
                <a:sym typeface="Calibri"/>
              </a:endParaRPr>
            </a:p>
          </p:txBody>
        </p:sp>
        <p:sp>
          <p:nvSpPr>
            <p:cNvPr id="189" name="Google Shape;189;p29"/>
            <p:cNvSpPr/>
            <p:nvPr/>
          </p:nvSpPr>
          <p:spPr>
            <a:xfrm>
              <a:off x="0" y="1238250"/>
              <a:ext cx="2857500" cy="47700"/>
            </a:xfrm>
            <a:prstGeom prst="rect">
              <a:avLst/>
            </a:prstGeom>
            <a:solidFill>
              <a:srgbClr val="0F8A7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90" name="Google Shape;190;p29"/>
          <p:cNvGrpSpPr/>
          <p:nvPr/>
        </p:nvGrpSpPr>
        <p:grpSpPr>
          <a:xfrm>
            <a:off x="822960" y="3238500"/>
            <a:ext cx="10287000" cy="3238500"/>
            <a:chOff x="0" y="0"/>
            <a:chExt cx="10287000" cy="3238500"/>
          </a:xfrm>
        </p:grpSpPr>
        <p:grpSp>
          <p:nvGrpSpPr>
            <p:cNvPr id="191" name="Google Shape;191;p29"/>
            <p:cNvGrpSpPr/>
            <p:nvPr/>
          </p:nvGrpSpPr>
          <p:grpSpPr>
            <a:xfrm>
              <a:off x="0" y="0"/>
              <a:ext cx="4953000" cy="3238500"/>
              <a:chOff x="0" y="0"/>
              <a:chExt cx="4953000" cy="3238500"/>
            </a:xfrm>
          </p:grpSpPr>
          <p:grpSp>
            <p:nvGrpSpPr>
              <p:cNvPr id="192" name="Google Shape;192;p29"/>
              <p:cNvGrpSpPr/>
              <p:nvPr/>
            </p:nvGrpSpPr>
            <p:grpSpPr>
              <a:xfrm>
                <a:off x="0" y="0"/>
                <a:ext cx="4953000" cy="952500"/>
                <a:chOff x="0" y="0"/>
                <a:chExt cx="4953000" cy="952500"/>
              </a:xfrm>
            </p:grpSpPr>
            <p:sp>
              <p:nvSpPr>
                <p:cNvPr id="193" name="Google Shape;193;p29"/>
                <p:cNvSpPr/>
                <p:nvPr/>
              </p:nvSpPr>
              <p:spPr>
                <a:xfrm>
                  <a:off x="0" y="0"/>
                  <a:ext cx="4953000" cy="952500"/>
                </a:xfrm>
                <a:prstGeom prst="roundRect">
                  <a:avLst>
                    <a:gd name="adj" fmla="val 4000"/>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4" name="Google Shape;194;p29"/>
                <p:cNvSpPr txBox="1"/>
                <p:nvPr/>
              </p:nvSpPr>
              <p:spPr>
                <a:xfrm>
                  <a:off x="142875" y="95250"/>
                  <a:ext cx="381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01</a:t>
                  </a:r>
                  <a:endParaRPr sz="1800" b="1">
                    <a:solidFill>
                      <a:srgbClr val="00305D"/>
                    </a:solidFill>
                    <a:latin typeface="Calibri"/>
                    <a:ea typeface="Calibri"/>
                    <a:cs typeface="Calibri"/>
                    <a:sym typeface="Calibri"/>
                  </a:endParaRPr>
                </a:p>
              </p:txBody>
            </p:sp>
            <p:sp>
              <p:nvSpPr>
                <p:cNvPr id="195" name="Google Shape;195;p29"/>
                <p:cNvSpPr txBox="1"/>
                <p:nvPr/>
              </p:nvSpPr>
              <p:spPr>
                <a:xfrm>
                  <a:off x="619125" y="95250"/>
                  <a:ext cx="4191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Introduction</a:t>
                  </a:r>
                  <a:endParaRPr sz="1800" b="1">
                    <a:solidFill>
                      <a:srgbClr val="00305D"/>
                    </a:solidFill>
                    <a:latin typeface="Calibri"/>
                    <a:ea typeface="Calibri"/>
                    <a:cs typeface="Calibri"/>
                    <a:sym typeface="Calibri"/>
                  </a:endParaRPr>
                </a:p>
                <a:p>
                  <a:pPr marL="0" lvl="0" indent="0" algn="l" rtl="0">
                    <a:spcBef>
                      <a:spcPts val="300"/>
                    </a:spcBef>
                    <a:spcAft>
                      <a:spcPts val="0"/>
                    </a:spcAft>
                    <a:buNone/>
                  </a:pPr>
                  <a:r>
                    <a:rPr lang="en-US" sz="1100">
                      <a:solidFill>
                        <a:srgbClr val="666666"/>
                      </a:solidFill>
                      <a:latin typeface="Calibri"/>
                      <a:ea typeface="Calibri"/>
                      <a:cs typeface="Calibri"/>
                      <a:sym typeface="Calibri"/>
                    </a:rPr>
                    <a:t>What is AI-powered data storytelling and why does emotional tone matter?</a:t>
                  </a:r>
                  <a:endParaRPr sz="1100">
                    <a:solidFill>
                      <a:srgbClr val="666666"/>
                    </a:solidFill>
                    <a:latin typeface="Calibri"/>
                    <a:ea typeface="Calibri"/>
                    <a:cs typeface="Calibri"/>
                    <a:sym typeface="Calibri"/>
                  </a:endParaRPr>
                </a:p>
              </p:txBody>
            </p:sp>
          </p:grpSp>
          <p:grpSp>
            <p:nvGrpSpPr>
              <p:cNvPr id="196" name="Google Shape;196;p29"/>
              <p:cNvGrpSpPr/>
              <p:nvPr/>
            </p:nvGrpSpPr>
            <p:grpSpPr>
              <a:xfrm>
                <a:off x="0" y="1143000"/>
                <a:ext cx="4953000" cy="952500"/>
                <a:chOff x="0" y="0"/>
                <a:chExt cx="4953000" cy="952500"/>
              </a:xfrm>
            </p:grpSpPr>
            <p:sp>
              <p:nvSpPr>
                <p:cNvPr id="197" name="Google Shape;197;p29"/>
                <p:cNvSpPr/>
                <p:nvPr/>
              </p:nvSpPr>
              <p:spPr>
                <a:xfrm>
                  <a:off x="0" y="0"/>
                  <a:ext cx="4953000" cy="952500"/>
                </a:xfrm>
                <a:prstGeom prst="roundRect">
                  <a:avLst>
                    <a:gd name="adj" fmla="val 4000"/>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8" name="Google Shape;198;p29"/>
                <p:cNvSpPr txBox="1"/>
                <p:nvPr/>
              </p:nvSpPr>
              <p:spPr>
                <a:xfrm>
                  <a:off x="142875" y="95250"/>
                  <a:ext cx="381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03</a:t>
                  </a:r>
                  <a:endParaRPr sz="1800" b="1">
                    <a:solidFill>
                      <a:srgbClr val="00305D"/>
                    </a:solidFill>
                    <a:latin typeface="Calibri"/>
                    <a:ea typeface="Calibri"/>
                    <a:cs typeface="Calibri"/>
                    <a:sym typeface="Calibri"/>
                  </a:endParaRPr>
                </a:p>
              </p:txBody>
            </p:sp>
            <p:sp>
              <p:nvSpPr>
                <p:cNvPr id="199" name="Google Shape;199;p29"/>
                <p:cNvSpPr txBox="1"/>
                <p:nvPr/>
              </p:nvSpPr>
              <p:spPr>
                <a:xfrm>
                  <a:off x="619125" y="95250"/>
                  <a:ext cx="4191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Dataset</a:t>
                  </a:r>
                  <a:endParaRPr sz="1800" b="1">
                    <a:solidFill>
                      <a:srgbClr val="00305D"/>
                    </a:solidFill>
                    <a:latin typeface="Calibri"/>
                    <a:ea typeface="Calibri"/>
                    <a:cs typeface="Calibri"/>
                    <a:sym typeface="Calibri"/>
                  </a:endParaRPr>
                </a:p>
                <a:p>
                  <a:pPr marL="0" lvl="0" indent="0" algn="l" rtl="0">
                    <a:spcBef>
                      <a:spcPts val="300"/>
                    </a:spcBef>
                    <a:spcAft>
                      <a:spcPts val="0"/>
                    </a:spcAft>
                    <a:buNone/>
                  </a:pPr>
                  <a:r>
                    <a:rPr lang="en-US" sz="1100">
                      <a:solidFill>
                        <a:srgbClr val="666666"/>
                      </a:solidFill>
                      <a:latin typeface="Calibri"/>
                      <a:ea typeface="Calibri"/>
                      <a:cs typeface="Calibri"/>
                      <a:sym typeface="Calibri"/>
                    </a:rPr>
                    <a:t>Measles cases × vaccination coverage — a high-stakes real-world narrative.</a:t>
                  </a:r>
                  <a:endParaRPr sz="1100">
                    <a:solidFill>
                      <a:srgbClr val="666666"/>
                    </a:solidFill>
                    <a:latin typeface="Calibri"/>
                    <a:ea typeface="Calibri"/>
                    <a:cs typeface="Calibri"/>
                    <a:sym typeface="Calibri"/>
                  </a:endParaRPr>
                </a:p>
              </p:txBody>
            </p:sp>
          </p:grpSp>
          <p:grpSp>
            <p:nvGrpSpPr>
              <p:cNvPr id="200" name="Google Shape;200;p29"/>
              <p:cNvGrpSpPr/>
              <p:nvPr/>
            </p:nvGrpSpPr>
            <p:grpSpPr>
              <a:xfrm>
                <a:off x="0" y="2286000"/>
                <a:ext cx="4953000" cy="952500"/>
                <a:chOff x="0" y="0"/>
                <a:chExt cx="4953000" cy="952500"/>
              </a:xfrm>
            </p:grpSpPr>
            <p:sp>
              <p:nvSpPr>
                <p:cNvPr id="201" name="Google Shape;201;p29"/>
                <p:cNvSpPr/>
                <p:nvPr/>
              </p:nvSpPr>
              <p:spPr>
                <a:xfrm>
                  <a:off x="0" y="0"/>
                  <a:ext cx="4953000" cy="952500"/>
                </a:xfrm>
                <a:prstGeom prst="roundRect">
                  <a:avLst>
                    <a:gd name="adj" fmla="val 4000"/>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2" name="Google Shape;202;p29"/>
                <p:cNvSpPr txBox="1"/>
                <p:nvPr/>
              </p:nvSpPr>
              <p:spPr>
                <a:xfrm>
                  <a:off x="142875" y="95250"/>
                  <a:ext cx="381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05</a:t>
                  </a:r>
                  <a:endParaRPr sz="1800" b="1">
                    <a:solidFill>
                      <a:srgbClr val="00305D"/>
                    </a:solidFill>
                    <a:latin typeface="Calibri"/>
                    <a:ea typeface="Calibri"/>
                    <a:cs typeface="Calibri"/>
                    <a:sym typeface="Calibri"/>
                  </a:endParaRPr>
                </a:p>
              </p:txBody>
            </p:sp>
            <p:sp>
              <p:nvSpPr>
                <p:cNvPr id="203" name="Google Shape;203;p29"/>
                <p:cNvSpPr txBox="1"/>
                <p:nvPr/>
              </p:nvSpPr>
              <p:spPr>
                <a:xfrm>
                  <a:off x="619125" y="95250"/>
                  <a:ext cx="4191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Results</a:t>
                  </a:r>
                  <a:endParaRPr sz="1800" b="1">
                    <a:solidFill>
                      <a:srgbClr val="00305D"/>
                    </a:solidFill>
                    <a:latin typeface="Calibri"/>
                    <a:ea typeface="Calibri"/>
                    <a:cs typeface="Calibri"/>
                    <a:sym typeface="Calibri"/>
                  </a:endParaRPr>
                </a:p>
                <a:p>
                  <a:pPr marL="0" lvl="0" indent="0" algn="l" rtl="0">
                    <a:spcBef>
                      <a:spcPts val="300"/>
                    </a:spcBef>
                    <a:spcAft>
                      <a:spcPts val="0"/>
                    </a:spcAft>
                    <a:buNone/>
                  </a:pPr>
                  <a:r>
                    <a:rPr lang="en-US" sz="1100">
                      <a:solidFill>
                        <a:srgbClr val="666666"/>
                      </a:solidFill>
                      <a:latin typeface="Calibri"/>
                      <a:ea typeface="Calibri"/>
                      <a:cs typeface="Calibri"/>
                      <a:sym typeface="Calibri"/>
                    </a:rPr>
                    <a:t>Comparing the results of our pipeline to strong models like CLAUDE Opus and compute relevant metrics</a:t>
                  </a:r>
                  <a:endParaRPr sz="1100">
                    <a:solidFill>
                      <a:srgbClr val="666666"/>
                    </a:solidFill>
                    <a:latin typeface="Calibri"/>
                    <a:ea typeface="Calibri"/>
                    <a:cs typeface="Calibri"/>
                    <a:sym typeface="Calibri"/>
                  </a:endParaRPr>
                </a:p>
              </p:txBody>
            </p:sp>
          </p:grpSp>
        </p:grpSp>
        <p:grpSp>
          <p:nvGrpSpPr>
            <p:cNvPr id="204" name="Google Shape;204;p29"/>
            <p:cNvGrpSpPr/>
            <p:nvPr/>
          </p:nvGrpSpPr>
          <p:grpSpPr>
            <a:xfrm>
              <a:off x="5334000" y="0"/>
              <a:ext cx="4953000" cy="2095500"/>
              <a:chOff x="0" y="0"/>
              <a:chExt cx="4953000" cy="2095500"/>
            </a:xfrm>
          </p:grpSpPr>
          <p:grpSp>
            <p:nvGrpSpPr>
              <p:cNvPr id="205" name="Google Shape;205;p29"/>
              <p:cNvGrpSpPr/>
              <p:nvPr/>
            </p:nvGrpSpPr>
            <p:grpSpPr>
              <a:xfrm>
                <a:off x="0" y="0"/>
                <a:ext cx="4953000" cy="952500"/>
                <a:chOff x="0" y="0"/>
                <a:chExt cx="4953000" cy="952500"/>
              </a:xfrm>
            </p:grpSpPr>
            <p:sp>
              <p:nvSpPr>
                <p:cNvPr id="206" name="Google Shape;206;p29"/>
                <p:cNvSpPr/>
                <p:nvPr/>
              </p:nvSpPr>
              <p:spPr>
                <a:xfrm>
                  <a:off x="0" y="0"/>
                  <a:ext cx="4953000" cy="952500"/>
                </a:xfrm>
                <a:prstGeom prst="roundRect">
                  <a:avLst>
                    <a:gd name="adj" fmla="val 4000"/>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29"/>
                <p:cNvSpPr txBox="1"/>
                <p:nvPr/>
              </p:nvSpPr>
              <p:spPr>
                <a:xfrm>
                  <a:off x="142875" y="95250"/>
                  <a:ext cx="381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02</a:t>
                  </a:r>
                  <a:endParaRPr sz="1800" b="1">
                    <a:solidFill>
                      <a:srgbClr val="00305D"/>
                    </a:solidFill>
                    <a:latin typeface="Calibri"/>
                    <a:ea typeface="Calibri"/>
                    <a:cs typeface="Calibri"/>
                    <a:sym typeface="Calibri"/>
                  </a:endParaRPr>
                </a:p>
              </p:txBody>
            </p:sp>
            <p:sp>
              <p:nvSpPr>
                <p:cNvPr id="208" name="Google Shape;208;p29"/>
                <p:cNvSpPr txBox="1"/>
                <p:nvPr/>
              </p:nvSpPr>
              <p:spPr>
                <a:xfrm>
                  <a:off x="619125" y="95250"/>
                  <a:ext cx="4191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Literature Review</a:t>
                  </a:r>
                  <a:endParaRPr sz="1800" b="1">
                    <a:solidFill>
                      <a:srgbClr val="00305D"/>
                    </a:solidFill>
                    <a:latin typeface="Calibri"/>
                    <a:ea typeface="Calibri"/>
                    <a:cs typeface="Calibri"/>
                    <a:sym typeface="Calibri"/>
                  </a:endParaRPr>
                </a:p>
                <a:p>
                  <a:pPr marL="0" lvl="0" indent="0" algn="l" rtl="0">
                    <a:spcBef>
                      <a:spcPts val="300"/>
                    </a:spcBef>
                    <a:spcAft>
                      <a:spcPts val="0"/>
                    </a:spcAft>
                    <a:buNone/>
                  </a:pPr>
                  <a:r>
                    <a:rPr lang="en-US" sz="1100">
                      <a:solidFill>
                        <a:srgbClr val="666666"/>
                      </a:solidFill>
                      <a:latin typeface="Calibri"/>
                      <a:ea typeface="Calibri"/>
                      <a:cs typeface="Calibri"/>
                      <a:sym typeface="Calibri"/>
                    </a:rPr>
                    <a:t>Key papers: DataNarrative, DataTales, and open LLM benchmarking for data-to-text.</a:t>
                  </a:r>
                  <a:endParaRPr sz="1100">
                    <a:solidFill>
                      <a:srgbClr val="666666"/>
                    </a:solidFill>
                    <a:latin typeface="Calibri"/>
                    <a:ea typeface="Calibri"/>
                    <a:cs typeface="Calibri"/>
                    <a:sym typeface="Calibri"/>
                  </a:endParaRPr>
                </a:p>
              </p:txBody>
            </p:sp>
          </p:grpSp>
          <p:grpSp>
            <p:nvGrpSpPr>
              <p:cNvPr id="209" name="Google Shape;209;p29"/>
              <p:cNvGrpSpPr/>
              <p:nvPr/>
            </p:nvGrpSpPr>
            <p:grpSpPr>
              <a:xfrm>
                <a:off x="0" y="1143000"/>
                <a:ext cx="4953000" cy="952500"/>
                <a:chOff x="0" y="0"/>
                <a:chExt cx="4953000" cy="952500"/>
              </a:xfrm>
            </p:grpSpPr>
            <p:sp>
              <p:nvSpPr>
                <p:cNvPr id="210" name="Google Shape;210;p29"/>
                <p:cNvSpPr/>
                <p:nvPr/>
              </p:nvSpPr>
              <p:spPr>
                <a:xfrm>
                  <a:off x="0" y="0"/>
                  <a:ext cx="4953000" cy="952500"/>
                </a:xfrm>
                <a:prstGeom prst="roundRect">
                  <a:avLst>
                    <a:gd name="adj" fmla="val 4000"/>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1" name="Google Shape;211;p29"/>
                <p:cNvSpPr txBox="1"/>
                <p:nvPr/>
              </p:nvSpPr>
              <p:spPr>
                <a:xfrm>
                  <a:off x="142875" y="95250"/>
                  <a:ext cx="381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04</a:t>
                  </a:r>
                  <a:endParaRPr sz="1800" b="1">
                    <a:solidFill>
                      <a:srgbClr val="00305D"/>
                    </a:solidFill>
                    <a:latin typeface="Calibri"/>
                    <a:ea typeface="Calibri"/>
                    <a:cs typeface="Calibri"/>
                    <a:sym typeface="Calibri"/>
                  </a:endParaRPr>
                </a:p>
              </p:txBody>
            </p:sp>
            <p:sp>
              <p:nvSpPr>
                <p:cNvPr id="212" name="Google Shape;212;p29"/>
                <p:cNvSpPr txBox="1"/>
                <p:nvPr/>
              </p:nvSpPr>
              <p:spPr>
                <a:xfrm>
                  <a:off x="619125" y="95250"/>
                  <a:ext cx="4191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Pipeline</a:t>
                  </a:r>
                  <a:endParaRPr sz="1800" b="1">
                    <a:solidFill>
                      <a:srgbClr val="00305D"/>
                    </a:solidFill>
                    <a:latin typeface="Calibri"/>
                    <a:ea typeface="Calibri"/>
                    <a:cs typeface="Calibri"/>
                    <a:sym typeface="Calibri"/>
                  </a:endParaRPr>
                </a:p>
                <a:p>
                  <a:pPr marL="0" lvl="0" indent="0" algn="l" rtl="0">
                    <a:spcBef>
                      <a:spcPts val="300"/>
                    </a:spcBef>
                    <a:spcAft>
                      <a:spcPts val="0"/>
                    </a:spcAft>
                    <a:buNone/>
                  </a:pPr>
                  <a:r>
                    <a:rPr lang="en-US" sz="1100">
                      <a:solidFill>
                        <a:srgbClr val="666666"/>
                      </a:solidFill>
                      <a:latin typeface="Calibri"/>
                      <a:ea typeface="Calibri"/>
                      <a:cs typeface="Calibri"/>
                      <a:sym typeface="Calibri"/>
                    </a:rPr>
                    <a:t>The three-stage agentic pipeline and a novel tone-moderation contribution.</a:t>
                  </a:r>
                  <a:endParaRPr sz="1100">
                    <a:solidFill>
                      <a:srgbClr val="666666"/>
                    </a:solidFill>
                    <a:latin typeface="Calibri"/>
                    <a:ea typeface="Calibri"/>
                    <a:cs typeface="Calibri"/>
                    <a:sym typeface="Calibri"/>
                  </a:endParaRPr>
                </a:p>
              </p:txBody>
            </p:sp>
          </p:grpSp>
        </p:grpSp>
      </p:grpSp>
      <p:sp>
        <p:nvSpPr>
          <p:cNvPr id="213" name="Google Shape;213;p29"/>
          <p:cNvSpPr txBox="1">
            <a:spLocks noGrp="1"/>
          </p:cNvSpPr>
          <p:nvPr>
            <p:ph type="sldNum" idx="12"/>
          </p:nvPr>
        </p:nvSpPr>
        <p:spPr>
          <a:xfrm>
            <a:off x="11216395" y="6397359"/>
            <a:ext cx="731700" cy="5250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sz="1600"/>
              <a:t>2</a:t>
            </a:fld>
            <a:endParaRPr sz="1600"/>
          </a:p>
        </p:txBody>
      </p:sp>
      <p:sp>
        <p:nvSpPr>
          <p:cNvPr id="214" name="Google Shape;214;p29"/>
          <p:cNvSpPr/>
          <p:nvPr/>
        </p:nvSpPr>
        <p:spPr>
          <a:xfrm>
            <a:off x="6156960" y="5524500"/>
            <a:ext cx="4953000" cy="952500"/>
          </a:xfrm>
          <a:prstGeom prst="roundRect">
            <a:avLst>
              <a:gd name="adj" fmla="val 4000"/>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5" name="Google Shape;215;p29"/>
          <p:cNvSpPr txBox="1"/>
          <p:nvPr/>
        </p:nvSpPr>
        <p:spPr>
          <a:xfrm>
            <a:off x="6789310" y="5619750"/>
            <a:ext cx="4191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Web Application</a:t>
            </a:r>
            <a:endParaRPr sz="1800" b="1">
              <a:solidFill>
                <a:srgbClr val="00305D"/>
              </a:solidFill>
              <a:latin typeface="Calibri"/>
              <a:ea typeface="Calibri"/>
              <a:cs typeface="Calibri"/>
              <a:sym typeface="Calibri"/>
            </a:endParaRPr>
          </a:p>
          <a:p>
            <a:pPr marL="0" lvl="0" indent="0" algn="l" rtl="0">
              <a:spcBef>
                <a:spcPts val="300"/>
              </a:spcBef>
              <a:spcAft>
                <a:spcPts val="0"/>
              </a:spcAft>
              <a:buNone/>
            </a:pPr>
            <a:r>
              <a:rPr lang="en-US" sz="1100">
                <a:solidFill>
                  <a:srgbClr val="666666"/>
                </a:solidFill>
                <a:latin typeface="Calibri"/>
                <a:ea typeface="Calibri"/>
                <a:cs typeface="Calibri"/>
                <a:sym typeface="Calibri"/>
              </a:rPr>
              <a:t>The full pipeline integrated into a user-friendly web application</a:t>
            </a:r>
            <a:endParaRPr sz="1100">
              <a:solidFill>
                <a:srgbClr val="666666"/>
              </a:solidFill>
              <a:latin typeface="Calibri"/>
              <a:ea typeface="Calibri"/>
              <a:cs typeface="Calibri"/>
              <a:sym typeface="Calibri"/>
            </a:endParaRPr>
          </a:p>
        </p:txBody>
      </p:sp>
      <p:sp>
        <p:nvSpPr>
          <p:cNvPr id="216" name="Google Shape;216;p29"/>
          <p:cNvSpPr txBox="1"/>
          <p:nvPr/>
        </p:nvSpPr>
        <p:spPr>
          <a:xfrm>
            <a:off x="6304025" y="5619750"/>
            <a:ext cx="320100" cy="34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06</a:t>
            </a:r>
            <a:endParaRPr sz="1800" b="1">
              <a:solidFill>
                <a:srgbClr val="00305D"/>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0"/>
          <p:cNvSpPr/>
          <p:nvPr/>
        </p:nvSpPr>
        <p:spPr>
          <a:xfrm>
            <a:off x="0" y="0"/>
            <a:ext cx="12191695" cy="6858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30"/>
          <p:cNvSpPr/>
          <p:nvPr/>
        </p:nvSpPr>
        <p:spPr>
          <a:xfrm>
            <a:off x="0" y="0"/>
            <a:ext cx="256032" cy="68580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30"/>
          <p:cNvSpPr txBox="1"/>
          <p:nvPr/>
        </p:nvSpPr>
        <p:spPr>
          <a:xfrm>
            <a:off x="1004235" y="3044279"/>
            <a:ext cx="9997135"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i="0">
                <a:solidFill>
                  <a:srgbClr val="FFFFFF"/>
                </a:solidFill>
                <a:latin typeface="Calibri"/>
                <a:ea typeface="Calibri"/>
                <a:cs typeface="Calibri"/>
                <a:sym typeface="Calibri"/>
              </a:rPr>
              <a:t>Introduction</a:t>
            </a:r>
            <a:endParaRPr sz="4400" b="1" i="0">
              <a:solidFill>
                <a:srgbClr val="FFFFFF"/>
              </a:solidFill>
              <a:latin typeface="Calibri"/>
              <a:ea typeface="Calibri"/>
              <a:cs typeface="Calibri"/>
              <a:sym typeface="Calibri"/>
            </a:endParaRPr>
          </a:p>
        </p:txBody>
      </p:sp>
      <p:sp>
        <p:nvSpPr>
          <p:cNvPr id="225" name="Google Shape;225;p30"/>
          <p:cNvSpPr/>
          <p:nvPr/>
        </p:nvSpPr>
        <p:spPr>
          <a:xfrm>
            <a:off x="1234440" y="4160520"/>
            <a:ext cx="2377440" cy="508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30"/>
          <p:cNvSpPr txBox="1"/>
          <p:nvPr/>
        </p:nvSpPr>
        <p:spPr>
          <a:xfrm>
            <a:off x="0" y="6473952"/>
            <a:ext cx="12191700" cy="320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227" name="Google Shape;227;p30"/>
          <p:cNvSpPr txBox="1"/>
          <p:nvPr/>
        </p:nvSpPr>
        <p:spPr>
          <a:xfrm>
            <a:off x="11368735" y="6473952"/>
            <a:ext cx="6402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endParaRPr/>
          </a:p>
        </p:txBody>
      </p:sp>
      <p:sp>
        <p:nvSpPr>
          <p:cNvPr id="228" name="Google Shape;228;p30"/>
          <p:cNvSpPr txBox="1">
            <a:spLocks noGrp="1"/>
          </p:cNvSpPr>
          <p:nvPr>
            <p:ph type="sldNum" idx="12"/>
          </p:nvPr>
        </p:nvSpPr>
        <p:spPr>
          <a:xfrm>
            <a:off x="11546625" y="6409750"/>
            <a:ext cx="462300" cy="3720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600"/>
              <a:t>3</a:t>
            </a:fld>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1"/>
          <p:cNvSpPr/>
          <p:nvPr/>
        </p:nvSpPr>
        <p:spPr>
          <a:xfrm>
            <a:off x="0" y="0"/>
            <a:ext cx="12191695"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31"/>
          <p:cNvSpPr/>
          <p:nvPr/>
        </p:nvSpPr>
        <p:spPr>
          <a:xfrm>
            <a:off x="0" y="1143000"/>
            <a:ext cx="12191695"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31"/>
          <p:cNvSpPr txBox="1"/>
          <p:nvPr/>
        </p:nvSpPr>
        <p:spPr>
          <a:xfrm>
            <a:off x="548640" y="214074"/>
            <a:ext cx="11094300" cy="10620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3700" b="1">
                <a:solidFill>
                  <a:srgbClr val="FFFFFF"/>
                </a:solidFill>
                <a:latin typeface="Calibri"/>
                <a:ea typeface="Calibri"/>
                <a:cs typeface="Calibri"/>
                <a:sym typeface="Calibri"/>
              </a:rPr>
              <a:t>Medical Data Storytelling</a:t>
            </a:r>
            <a:endParaRPr sz="2500"/>
          </a:p>
          <a:p>
            <a:pPr marL="0" marR="0" lvl="0" indent="0" algn="l" rtl="0">
              <a:spcBef>
                <a:spcPts val="0"/>
              </a:spcBef>
              <a:spcAft>
                <a:spcPts val="0"/>
              </a:spcAft>
              <a:buNone/>
            </a:pPr>
            <a:endParaRPr sz="2600" b="1" i="0">
              <a:solidFill>
                <a:srgbClr val="FFFFFF"/>
              </a:solidFill>
              <a:latin typeface="Calibri"/>
              <a:ea typeface="Calibri"/>
              <a:cs typeface="Calibri"/>
              <a:sym typeface="Calibri"/>
            </a:endParaRPr>
          </a:p>
        </p:txBody>
      </p:sp>
      <p:sp>
        <p:nvSpPr>
          <p:cNvPr id="237" name="Google Shape;237;p31"/>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238" name="Google Shape;238;p31"/>
          <p:cNvSpPr txBox="1"/>
          <p:nvPr/>
        </p:nvSpPr>
        <p:spPr>
          <a:xfrm>
            <a:off x="11368735" y="6473952"/>
            <a:ext cx="6402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endParaRPr/>
          </a:p>
        </p:txBody>
      </p:sp>
      <p:sp>
        <p:nvSpPr>
          <p:cNvPr id="239" name="Google Shape;239;p31"/>
          <p:cNvSpPr/>
          <p:nvPr/>
        </p:nvSpPr>
        <p:spPr>
          <a:xfrm>
            <a:off x="548650" y="1459150"/>
            <a:ext cx="5891100" cy="50148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666666"/>
              </a:buClr>
              <a:buSzPts val="1450"/>
              <a:buFont typeface="IBM Plex Sans"/>
              <a:buNone/>
            </a:pPr>
            <a:r>
              <a:rPr lang="en-US" sz="2400">
                <a:solidFill>
                  <a:srgbClr val="666666"/>
                </a:solidFill>
                <a:latin typeface="IBM Plex Sans"/>
                <a:ea typeface="IBM Plex Sans"/>
                <a:cs typeface="IBM Plex Sans"/>
                <a:sym typeface="IBM Plex Sans"/>
              </a:rPr>
              <a:t>Our idea is to:</a:t>
            </a:r>
            <a:endParaRPr sz="2400">
              <a:solidFill>
                <a:srgbClr val="666666"/>
              </a:solidFill>
              <a:latin typeface="IBM Plex Sans"/>
              <a:ea typeface="IBM Plex Sans"/>
              <a:cs typeface="IBM Plex Sans"/>
              <a:sym typeface="IBM Plex Sans"/>
            </a:endParaRPr>
          </a:p>
          <a:p>
            <a:pPr marL="457200" marR="0" lvl="0" indent="-381000" algn="l" rtl="0">
              <a:lnSpc>
                <a:spcPct val="133000"/>
              </a:lnSpc>
              <a:spcBef>
                <a:spcPts val="0"/>
              </a:spcBef>
              <a:spcAft>
                <a:spcPts val="0"/>
              </a:spcAft>
              <a:buClr>
                <a:srgbClr val="666666"/>
              </a:buClr>
              <a:buSzPts val="2400"/>
              <a:buFont typeface="IBM Plex Sans"/>
              <a:buChar char="●"/>
            </a:pPr>
            <a:r>
              <a:rPr lang="en-US" sz="2400">
                <a:solidFill>
                  <a:srgbClr val="666666"/>
                </a:solidFill>
                <a:latin typeface="IBM Plex Sans"/>
                <a:ea typeface="IBM Plex Sans"/>
                <a:cs typeface="IBM Plex Sans"/>
                <a:sym typeface="IBM Plex Sans"/>
              </a:rPr>
              <a:t>Transform medical datasets into user stories that humans can easily read, interpret and understand</a:t>
            </a:r>
            <a:endParaRPr sz="2400">
              <a:solidFill>
                <a:srgbClr val="666666"/>
              </a:solidFill>
              <a:latin typeface="IBM Plex Sans"/>
              <a:ea typeface="IBM Plex Sans"/>
              <a:cs typeface="IBM Plex Sans"/>
              <a:sym typeface="IBM Plex Sans"/>
            </a:endParaRPr>
          </a:p>
          <a:p>
            <a:pPr marL="457200" marR="0" lvl="0" indent="0" algn="l" rtl="0">
              <a:lnSpc>
                <a:spcPct val="133000"/>
              </a:lnSpc>
              <a:spcBef>
                <a:spcPts val="0"/>
              </a:spcBef>
              <a:spcAft>
                <a:spcPts val="0"/>
              </a:spcAft>
              <a:buNone/>
            </a:pPr>
            <a:endParaRPr sz="2400">
              <a:solidFill>
                <a:srgbClr val="666666"/>
              </a:solidFill>
              <a:latin typeface="IBM Plex Sans"/>
              <a:ea typeface="IBM Plex Sans"/>
              <a:cs typeface="IBM Plex Sans"/>
              <a:sym typeface="IBM Plex Sans"/>
            </a:endParaRPr>
          </a:p>
          <a:p>
            <a:pPr marL="457200" marR="0" lvl="0" indent="-381000" algn="l" rtl="0">
              <a:lnSpc>
                <a:spcPct val="133000"/>
              </a:lnSpc>
              <a:spcBef>
                <a:spcPts val="0"/>
              </a:spcBef>
              <a:spcAft>
                <a:spcPts val="0"/>
              </a:spcAft>
              <a:buClr>
                <a:srgbClr val="666666"/>
              </a:buClr>
              <a:buSzPts val="2400"/>
              <a:buFont typeface="IBM Plex Sans"/>
              <a:buChar char="●"/>
            </a:pPr>
            <a:r>
              <a:rPr lang="en-US" sz="2400">
                <a:solidFill>
                  <a:srgbClr val="666666"/>
                </a:solidFill>
                <a:latin typeface="IBM Plex Sans"/>
                <a:ea typeface="IBM Plex Sans"/>
                <a:cs typeface="IBM Plex Sans"/>
                <a:sym typeface="IBM Plex Sans"/>
              </a:rPr>
              <a:t>Display visualizations that shows the user patterns and trends about the data</a:t>
            </a:r>
            <a:endParaRPr sz="2400">
              <a:solidFill>
                <a:srgbClr val="666666"/>
              </a:solidFill>
              <a:latin typeface="IBM Plex Sans"/>
              <a:ea typeface="IBM Plex Sans"/>
              <a:cs typeface="IBM Plex Sans"/>
              <a:sym typeface="IBM Plex Sans"/>
            </a:endParaRPr>
          </a:p>
          <a:p>
            <a:pPr marL="457200" marR="0" lvl="0" indent="0" algn="l" rtl="0">
              <a:lnSpc>
                <a:spcPct val="133000"/>
              </a:lnSpc>
              <a:spcBef>
                <a:spcPts val="0"/>
              </a:spcBef>
              <a:spcAft>
                <a:spcPts val="0"/>
              </a:spcAft>
              <a:buNone/>
            </a:pPr>
            <a:endParaRPr sz="2400">
              <a:solidFill>
                <a:srgbClr val="666666"/>
              </a:solidFill>
              <a:latin typeface="IBM Plex Sans"/>
              <a:ea typeface="IBM Plex Sans"/>
              <a:cs typeface="IBM Plex Sans"/>
              <a:sym typeface="IBM Plex Sans"/>
            </a:endParaRPr>
          </a:p>
          <a:p>
            <a:pPr marL="457200" marR="0" lvl="0" indent="-381000" algn="l" rtl="0">
              <a:lnSpc>
                <a:spcPct val="133000"/>
              </a:lnSpc>
              <a:spcBef>
                <a:spcPts val="0"/>
              </a:spcBef>
              <a:spcAft>
                <a:spcPts val="0"/>
              </a:spcAft>
              <a:buClr>
                <a:srgbClr val="666666"/>
              </a:buClr>
              <a:buSzPts val="2400"/>
              <a:buFont typeface="IBM Plex Sans"/>
              <a:buChar char="●"/>
            </a:pPr>
            <a:r>
              <a:rPr lang="en-US" sz="2400">
                <a:solidFill>
                  <a:srgbClr val="666666"/>
                </a:solidFill>
                <a:latin typeface="IBM Plex Sans"/>
                <a:ea typeface="IBM Plex Sans"/>
                <a:cs typeface="IBM Plex Sans"/>
                <a:sym typeface="IBM Plex Sans"/>
              </a:rPr>
              <a:t>Connect to the user using an emotional tone</a:t>
            </a:r>
            <a:endParaRPr sz="240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a:solidFill>
                <a:srgbClr val="666666"/>
              </a:solidFill>
              <a:latin typeface="IBM Plex Sans"/>
              <a:ea typeface="IBM Plex Sans"/>
              <a:cs typeface="IBM Plex Sans"/>
              <a:sym typeface="IBM Plex Sans"/>
            </a:endParaRPr>
          </a:p>
        </p:txBody>
      </p:sp>
      <p:sp>
        <p:nvSpPr>
          <p:cNvPr id="240" name="Google Shape;240;p31"/>
          <p:cNvSpPr txBox="1">
            <a:spLocks noGrp="1"/>
          </p:cNvSpPr>
          <p:nvPr>
            <p:ph type="sldNum" idx="12"/>
          </p:nvPr>
        </p:nvSpPr>
        <p:spPr>
          <a:xfrm>
            <a:off x="11456325" y="6433600"/>
            <a:ext cx="465000" cy="3885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r>
              <a:rPr lang="en-US" sz="1600"/>
              <a:t>4</a:t>
            </a:r>
            <a:endParaRPr sz="1600"/>
          </a:p>
        </p:txBody>
      </p:sp>
      <p:graphicFrame>
        <p:nvGraphicFramePr>
          <p:cNvPr id="241" name="Google Shape;241;p31"/>
          <p:cNvGraphicFramePr/>
          <p:nvPr>
            <p:extLst>
              <p:ext uri="{D42A27DB-BD31-4B8C-83A1-F6EECF244321}">
                <p14:modId xmlns:p14="http://schemas.microsoft.com/office/powerpoint/2010/main" val="4104331339"/>
              </p:ext>
            </p:extLst>
          </p:nvPr>
        </p:nvGraphicFramePr>
        <p:xfrm>
          <a:off x="7269525" y="1885475"/>
          <a:ext cx="4261575" cy="1584840"/>
        </p:xfrm>
        <a:graphic>
          <a:graphicData uri="http://schemas.openxmlformats.org/drawingml/2006/table">
            <a:tbl>
              <a:tblPr>
                <a:tableStyleId>{3C2FFA5D-87B4-456A-9821-1D502468CF0F}</a:tableStyleId>
              </a:tblPr>
              <a:tblGrid>
                <a:gridCol w="1420525"/>
                <a:gridCol w="1420525"/>
                <a:gridCol w="1420525"/>
              </a:tblGrid>
              <a:tr h="381000">
                <a:tc>
                  <a:txBody>
                    <a:bodyPr/>
                    <a:lstStyle/>
                    <a:p>
                      <a:pPr marL="0" lvl="0" indent="0" algn="l" rtl="0">
                        <a:spcBef>
                          <a:spcPts val="0"/>
                        </a:spcBef>
                        <a:spcAft>
                          <a:spcPts val="0"/>
                        </a:spcAft>
                        <a:buNone/>
                      </a:pPr>
                      <a:r>
                        <a:rPr lang="en-US" b="1" dirty="0"/>
                        <a:t>Year</a:t>
                      </a:r>
                      <a:endParaRPr b="1" dirty="0"/>
                    </a:p>
                  </a:txBody>
                  <a:tcPr marL="91425" marR="91425" marT="91425" marB="91425"/>
                </a:tc>
                <a:tc>
                  <a:txBody>
                    <a:bodyPr/>
                    <a:lstStyle/>
                    <a:p>
                      <a:pPr marL="0" lvl="0" indent="0" algn="l" rtl="0">
                        <a:spcBef>
                          <a:spcPts val="0"/>
                        </a:spcBef>
                        <a:spcAft>
                          <a:spcPts val="0"/>
                        </a:spcAft>
                        <a:buNone/>
                      </a:pPr>
                      <a:r>
                        <a:rPr lang="en-US" b="1"/>
                        <a:t>Cases</a:t>
                      </a:r>
                      <a:endParaRPr b="1"/>
                    </a:p>
                  </a:txBody>
                  <a:tcPr marL="91425" marR="91425" marT="91425" marB="91425"/>
                </a:tc>
                <a:tc>
                  <a:txBody>
                    <a:bodyPr/>
                    <a:lstStyle/>
                    <a:p>
                      <a:pPr marL="0" lvl="0" indent="0" algn="l" rtl="0">
                        <a:spcBef>
                          <a:spcPts val="0"/>
                        </a:spcBef>
                        <a:spcAft>
                          <a:spcPts val="0"/>
                        </a:spcAft>
                        <a:buNone/>
                      </a:pPr>
                      <a:r>
                        <a:rPr lang="en-US" b="1" dirty="0" err="1"/>
                        <a:t>Vacc</a:t>
                      </a:r>
                      <a:r>
                        <a:rPr lang="en-US" b="1" dirty="0"/>
                        <a:t>.</a:t>
                      </a:r>
                      <a:endParaRPr b="1" dirty="0"/>
                    </a:p>
                  </a:txBody>
                  <a:tcPr marL="91425" marR="91425" marT="91425" marB="91425"/>
                </a:tc>
              </a:tr>
              <a:tr h="381000">
                <a:tc>
                  <a:txBody>
                    <a:bodyPr/>
                    <a:lstStyle/>
                    <a:p>
                      <a:pPr marL="0" lvl="0" indent="0" algn="l" rtl="0">
                        <a:spcBef>
                          <a:spcPts val="0"/>
                        </a:spcBef>
                        <a:spcAft>
                          <a:spcPts val="0"/>
                        </a:spcAft>
                        <a:buNone/>
                      </a:pPr>
                      <a:r>
                        <a:rPr lang="en-US"/>
                        <a:t>2020</a:t>
                      </a:r>
                      <a:endParaRPr/>
                    </a:p>
                  </a:txBody>
                  <a:tcPr marL="91425" marR="91425" marT="91425" marB="91425"/>
                </a:tc>
                <a:tc>
                  <a:txBody>
                    <a:bodyPr/>
                    <a:lstStyle/>
                    <a:p>
                      <a:pPr marL="0" lvl="0" indent="0" algn="l" rtl="0">
                        <a:spcBef>
                          <a:spcPts val="0"/>
                        </a:spcBef>
                        <a:spcAft>
                          <a:spcPts val="0"/>
                        </a:spcAft>
                        <a:buNone/>
                      </a:pPr>
                      <a:r>
                        <a:rPr lang="en-US"/>
                        <a:t>600k</a:t>
                      </a:r>
                      <a:endParaRPr/>
                    </a:p>
                  </a:txBody>
                  <a:tcPr marL="91425" marR="91425" marT="91425" marB="91425"/>
                </a:tc>
                <a:tc>
                  <a:txBody>
                    <a:bodyPr/>
                    <a:lstStyle/>
                    <a:p>
                      <a:pPr marL="0" lvl="0" indent="0" algn="l" rtl="0">
                        <a:spcBef>
                          <a:spcPts val="0"/>
                        </a:spcBef>
                        <a:spcAft>
                          <a:spcPts val="0"/>
                        </a:spcAft>
                        <a:buNone/>
                      </a:pPr>
                      <a:r>
                        <a:rPr lang="en-US"/>
                        <a:t>550k</a:t>
                      </a:r>
                      <a:endParaRPr/>
                    </a:p>
                  </a:txBody>
                  <a:tcPr marL="91425" marR="91425" marT="91425" marB="91425"/>
                </a:tc>
              </a:tr>
              <a:tr h="381000">
                <a:tc>
                  <a:txBody>
                    <a:bodyPr/>
                    <a:lstStyle/>
                    <a:p>
                      <a:pPr marL="0" lvl="0" indent="0" algn="l" rtl="0">
                        <a:spcBef>
                          <a:spcPts val="0"/>
                        </a:spcBef>
                        <a:spcAft>
                          <a:spcPts val="0"/>
                        </a:spcAft>
                        <a:buNone/>
                      </a:pPr>
                      <a:r>
                        <a:rPr lang="en-US"/>
                        <a:t>2021</a:t>
                      </a:r>
                      <a:endParaRPr/>
                    </a:p>
                  </a:txBody>
                  <a:tcPr marL="91425" marR="91425" marT="91425" marB="91425"/>
                </a:tc>
                <a:tc>
                  <a:txBody>
                    <a:bodyPr/>
                    <a:lstStyle/>
                    <a:p>
                      <a:pPr marL="0" lvl="0" indent="0" algn="l" rtl="0">
                        <a:spcBef>
                          <a:spcPts val="0"/>
                        </a:spcBef>
                        <a:spcAft>
                          <a:spcPts val="0"/>
                        </a:spcAft>
                        <a:buNone/>
                      </a:pPr>
                      <a:r>
                        <a:rPr lang="en-US" dirty="0"/>
                        <a:t>800k</a:t>
                      </a:r>
                      <a:endParaRPr dirty="0"/>
                    </a:p>
                  </a:txBody>
                  <a:tcPr marL="91425" marR="91425" marT="91425" marB="91425"/>
                </a:tc>
                <a:tc>
                  <a:txBody>
                    <a:bodyPr/>
                    <a:lstStyle/>
                    <a:p>
                      <a:pPr marL="0" lvl="0" indent="0" algn="l" rtl="0">
                        <a:spcBef>
                          <a:spcPts val="0"/>
                        </a:spcBef>
                        <a:spcAft>
                          <a:spcPts val="0"/>
                        </a:spcAft>
                        <a:buNone/>
                      </a:pPr>
                      <a:r>
                        <a:rPr lang="en-US" dirty="0"/>
                        <a:t>600k</a:t>
                      </a:r>
                      <a:endParaRPr dirty="0"/>
                    </a:p>
                  </a:txBody>
                  <a:tcPr marL="91425" marR="91425" marT="91425" marB="91425"/>
                </a:tc>
              </a:tr>
              <a:tr h="381000">
                <a:tc>
                  <a:txBody>
                    <a:bodyPr/>
                    <a:lstStyle/>
                    <a:p>
                      <a:pPr marL="0" lvl="0" indent="0" algn="l" rtl="0">
                        <a:spcBef>
                          <a:spcPts val="0"/>
                        </a:spcBef>
                        <a:spcAft>
                          <a:spcPts val="0"/>
                        </a:spcAft>
                        <a:buNone/>
                      </a:pPr>
                      <a:r>
                        <a:rPr lang="en-US"/>
                        <a:t>2022</a:t>
                      </a:r>
                      <a:endParaRPr/>
                    </a:p>
                  </a:txBody>
                  <a:tcPr marL="91425" marR="91425" marT="91425" marB="91425"/>
                </a:tc>
                <a:tc>
                  <a:txBody>
                    <a:bodyPr/>
                    <a:lstStyle/>
                    <a:p>
                      <a:pPr marL="0" lvl="0" indent="0" algn="l" rtl="0">
                        <a:spcBef>
                          <a:spcPts val="0"/>
                        </a:spcBef>
                        <a:spcAft>
                          <a:spcPts val="0"/>
                        </a:spcAft>
                        <a:buNone/>
                      </a:pPr>
                      <a:r>
                        <a:rPr lang="en-US" dirty="0"/>
                        <a:t>900k</a:t>
                      </a:r>
                      <a:endParaRPr dirty="0"/>
                    </a:p>
                  </a:txBody>
                  <a:tcPr marL="91425" marR="91425" marT="91425" marB="91425"/>
                </a:tc>
                <a:tc>
                  <a:txBody>
                    <a:bodyPr/>
                    <a:lstStyle/>
                    <a:p>
                      <a:pPr marL="0" lvl="0" indent="0" algn="l" rtl="0">
                        <a:spcBef>
                          <a:spcPts val="0"/>
                        </a:spcBef>
                        <a:spcAft>
                          <a:spcPts val="0"/>
                        </a:spcAft>
                        <a:buNone/>
                      </a:pPr>
                      <a:r>
                        <a:rPr lang="en-US" dirty="0"/>
                        <a:t>650k</a:t>
                      </a:r>
                      <a:endParaRPr dirty="0"/>
                    </a:p>
                  </a:txBody>
                  <a:tcPr marL="91425" marR="91425" marT="91425" marB="91425"/>
                </a:tc>
              </a:tr>
            </a:tbl>
          </a:graphicData>
        </a:graphic>
      </p:graphicFrame>
      <p:sp>
        <p:nvSpPr>
          <p:cNvPr id="242" name="Google Shape;242;p31"/>
          <p:cNvSpPr/>
          <p:nvPr/>
        </p:nvSpPr>
        <p:spPr>
          <a:xfrm>
            <a:off x="8906475" y="3682100"/>
            <a:ext cx="677400" cy="7338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43" name="Google Shape;243;p31"/>
          <p:cNvSpPr/>
          <p:nvPr/>
        </p:nvSpPr>
        <p:spPr>
          <a:xfrm>
            <a:off x="7140225" y="4558325"/>
            <a:ext cx="4624200" cy="20418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666666"/>
              </a:buClr>
              <a:buSzPts val="1450"/>
              <a:buFont typeface="IBM Plex Sans"/>
              <a:buNone/>
            </a:pPr>
            <a:r>
              <a:rPr lang="en-US" sz="2400">
                <a:solidFill>
                  <a:srgbClr val="6AA84F"/>
                </a:solidFill>
                <a:latin typeface="IBM Plex Sans"/>
                <a:ea typeface="IBM Plex Sans"/>
                <a:cs typeface="IBM Plex Sans"/>
                <a:sym typeface="IBM Plex Sans"/>
              </a:rPr>
              <a:t>Measles cases has been steadily rising from 2020 to 2022 while vaccinations fail to cover the amount of cases</a:t>
            </a:r>
            <a:endParaRPr sz="2400">
              <a:solidFill>
                <a:srgbClr val="6AA84F"/>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a:solidFill>
                <a:srgbClr val="FF0000"/>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a:solidFill>
                <a:srgbClr val="666666"/>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2"/>
          <p:cNvSpPr/>
          <p:nvPr/>
        </p:nvSpPr>
        <p:spPr>
          <a:xfrm>
            <a:off x="0" y="0"/>
            <a:ext cx="12191700"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32"/>
          <p:cNvSpPr/>
          <p:nvPr/>
        </p:nvSpPr>
        <p:spPr>
          <a:xfrm>
            <a:off x="0" y="1143000"/>
            <a:ext cx="12191700"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32"/>
          <p:cNvSpPr txBox="1"/>
          <p:nvPr/>
        </p:nvSpPr>
        <p:spPr>
          <a:xfrm>
            <a:off x="548640" y="214074"/>
            <a:ext cx="11094300" cy="1062000"/>
          </a:xfrm>
          <a:prstGeom prst="rect">
            <a:avLst/>
          </a:prstGeom>
          <a:noFill/>
          <a:ln>
            <a:noFill/>
          </a:ln>
        </p:spPr>
        <p:txBody>
          <a:bodyPr spcFirstLastPara="1" wrap="square" lIns="91425" tIns="45700" rIns="91425" bIns="45700" anchor="ctr" anchorCtr="0">
            <a:spAutoFit/>
          </a:bodyPr>
          <a:lstStyle/>
          <a:p>
            <a:pPr marL="0" lvl="0" indent="0" algn="l" rtl="0">
              <a:spcBef>
                <a:spcPts val="0"/>
              </a:spcBef>
              <a:spcAft>
                <a:spcPts val="0"/>
              </a:spcAft>
              <a:buClr>
                <a:schemeClr val="dk1"/>
              </a:buClr>
              <a:buFont typeface="Arial"/>
              <a:buNone/>
            </a:pPr>
            <a:r>
              <a:rPr lang="en-US" sz="3700" b="1">
                <a:solidFill>
                  <a:schemeClr val="lt1"/>
                </a:solidFill>
                <a:latin typeface="Calibri"/>
                <a:ea typeface="Calibri"/>
                <a:cs typeface="Calibri"/>
                <a:sym typeface="Calibri"/>
              </a:rPr>
              <a:t>Motivation and Research Gap</a:t>
            </a:r>
            <a:endParaRPr sz="2500"/>
          </a:p>
          <a:p>
            <a:pPr marL="0" marR="0" lvl="0" indent="0" algn="l" rtl="0">
              <a:spcBef>
                <a:spcPts val="0"/>
              </a:spcBef>
              <a:spcAft>
                <a:spcPts val="0"/>
              </a:spcAft>
              <a:buNone/>
            </a:pPr>
            <a:endParaRPr sz="2600" b="1" i="0">
              <a:solidFill>
                <a:srgbClr val="FFFFFF"/>
              </a:solidFill>
              <a:latin typeface="Calibri"/>
              <a:ea typeface="Calibri"/>
              <a:cs typeface="Calibri"/>
              <a:sym typeface="Calibri"/>
            </a:endParaRPr>
          </a:p>
        </p:txBody>
      </p:sp>
      <p:sp>
        <p:nvSpPr>
          <p:cNvPr id="252" name="Google Shape;252;p32"/>
          <p:cNvSpPr txBox="1"/>
          <p:nvPr/>
        </p:nvSpPr>
        <p:spPr>
          <a:xfrm>
            <a:off x="0" y="6473952"/>
            <a:ext cx="121917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253" name="Google Shape;253;p32"/>
          <p:cNvSpPr txBox="1"/>
          <p:nvPr/>
        </p:nvSpPr>
        <p:spPr>
          <a:xfrm>
            <a:off x="11368735" y="6473952"/>
            <a:ext cx="6402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endParaRPr/>
          </a:p>
        </p:txBody>
      </p:sp>
      <p:sp>
        <p:nvSpPr>
          <p:cNvPr id="254" name="Google Shape;254;p32"/>
          <p:cNvSpPr/>
          <p:nvPr/>
        </p:nvSpPr>
        <p:spPr>
          <a:xfrm>
            <a:off x="609600" y="1459100"/>
            <a:ext cx="6223200" cy="5014800"/>
          </a:xfrm>
          <a:prstGeom prst="rect">
            <a:avLst/>
          </a:prstGeom>
          <a:noFill/>
          <a:ln>
            <a:noFill/>
          </a:ln>
        </p:spPr>
        <p:txBody>
          <a:bodyPr spcFirstLastPara="1" wrap="square" lIns="0" tIns="0" rIns="0" bIns="0" anchor="t" anchorCtr="0">
            <a:noAutofit/>
          </a:bodyPr>
          <a:lstStyle/>
          <a:p>
            <a:pPr marL="457200" lvl="0" indent="-381000" algn="l" rtl="0">
              <a:lnSpc>
                <a:spcPct val="133000"/>
              </a:lnSpc>
              <a:spcBef>
                <a:spcPts val="0"/>
              </a:spcBef>
              <a:spcAft>
                <a:spcPts val="0"/>
              </a:spcAft>
              <a:buClr>
                <a:srgbClr val="666666"/>
              </a:buClr>
              <a:buSzPts val="2400"/>
              <a:buFont typeface="IBM Plex Sans"/>
              <a:buChar char="●"/>
            </a:pPr>
            <a:r>
              <a:rPr lang="en-US" sz="2400">
                <a:solidFill>
                  <a:srgbClr val="666666"/>
                </a:solidFill>
                <a:latin typeface="IBM Plex Sans"/>
                <a:ea typeface="IBM Plex Sans"/>
                <a:cs typeface="IBM Plex Sans"/>
                <a:sym typeface="IBM Plex Sans"/>
              </a:rPr>
              <a:t>The research in AI storytelling is focused on getting the facts correct 100%</a:t>
            </a:r>
            <a:endParaRPr sz="2400">
              <a:solidFill>
                <a:srgbClr val="666666"/>
              </a:solidFill>
              <a:latin typeface="IBM Plex Sans"/>
              <a:ea typeface="IBM Plex Sans"/>
              <a:cs typeface="IBM Plex Sans"/>
              <a:sym typeface="IBM Plex Sans"/>
            </a:endParaRPr>
          </a:p>
          <a:p>
            <a:pPr marL="457200" lvl="0" indent="0" algn="l" rtl="0">
              <a:lnSpc>
                <a:spcPct val="133000"/>
              </a:lnSpc>
              <a:spcBef>
                <a:spcPts val="0"/>
              </a:spcBef>
              <a:spcAft>
                <a:spcPts val="0"/>
              </a:spcAft>
              <a:buNone/>
            </a:pPr>
            <a:endParaRPr sz="2400">
              <a:solidFill>
                <a:srgbClr val="666666"/>
              </a:solidFill>
              <a:latin typeface="IBM Plex Sans"/>
              <a:ea typeface="IBM Plex Sans"/>
              <a:cs typeface="IBM Plex Sans"/>
              <a:sym typeface="IBM Plex Sans"/>
            </a:endParaRPr>
          </a:p>
          <a:p>
            <a:pPr marL="457200" lvl="0" indent="-381000" algn="l" rtl="0">
              <a:lnSpc>
                <a:spcPct val="133000"/>
              </a:lnSpc>
              <a:spcBef>
                <a:spcPts val="0"/>
              </a:spcBef>
              <a:spcAft>
                <a:spcPts val="0"/>
              </a:spcAft>
              <a:buClr>
                <a:srgbClr val="666666"/>
              </a:buClr>
              <a:buSzPts val="2400"/>
              <a:buFont typeface="IBM Plex Sans"/>
              <a:buChar char="●"/>
            </a:pPr>
            <a:r>
              <a:rPr lang="en-US" sz="2400">
                <a:solidFill>
                  <a:srgbClr val="666666"/>
                </a:solidFill>
                <a:latin typeface="IBM Plex Sans"/>
                <a:ea typeface="IBM Plex Sans"/>
                <a:cs typeface="IBM Plex Sans"/>
                <a:sym typeface="IBM Plex Sans"/>
              </a:rPr>
              <a:t>Sometimes the facts can be correct but the tone used to deliver the message could indicate the wrong idea</a:t>
            </a:r>
            <a:endParaRPr sz="2400">
              <a:solidFill>
                <a:srgbClr val="666666"/>
              </a:solidFill>
              <a:latin typeface="IBM Plex Sans"/>
              <a:ea typeface="IBM Plex Sans"/>
              <a:cs typeface="IBM Plex Sans"/>
              <a:sym typeface="IBM Plex Sans"/>
            </a:endParaRPr>
          </a:p>
          <a:p>
            <a:pPr marL="457200" lvl="0" indent="0" algn="l" rtl="0">
              <a:lnSpc>
                <a:spcPct val="133000"/>
              </a:lnSpc>
              <a:spcBef>
                <a:spcPts val="0"/>
              </a:spcBef>
              <a:spcAft>
                <a:spcPts val="0"/>
              </a:spcAft>
              <a:buNone/>
            </a:pPr>
            <a:endParaRPr sz="2400">
              <a:solidFill>
                <a:srgbClr val="666666"/>
              </a:solidFill>
              <a:latin typeface="IBM Plex Sans"/>
              <a:ea typeface="IBM Plex Sans"/>
              <a:cs typeface="IBM Plex Sans"/>
              <a:sym typeface="IBM Plex Sans"/>
            </a:endParaRPr>
          </a:p>
          <a:p>
            <a:pPr marL="457200" lvl="0" indent="-381000" algn="l" rtl="0">
              <a:lnSpc>
                <a:spcPct val="133000"/>
              </a:lnSpc>
              <a:spcBef>
                <a:spcPts val="0"/>
              </a:spcBef>
              <a:spcAft>
                <a:spcPts val="0"/>
              </a:spcAft>
              <a:buClr>
                <a:srgbClr val="666666"/>
              </a:buClr>
              <a:buSzPts val="2400"/>
              <a:buFont typeface="IBM Plex Sans"/>
              <a:buChar char="●"/>
            </a:pPr>
            <a:r>
              <a:rPr lang="en-US" sz="2400">
                <a:solidFill>
                  <a:srgbClr val="666666"/>
                </a:solidFill>
                <a:latin typeface="IBM Plex Sans"/>
                <a:ea typeface="IBM Plex Sans"/>
                <a:cs typeface="IBM Plex Sans"/>
                <a:sym typeface="IBM Plex Sans"/>
              </a:rPr>
              <a:t>We are trying to bridge this gap by adjusting the tone to be proportional to the evidence</a:t>
            </a:r>
            <a:endParaRPr sz="240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a:solidFill>
                <a:srgbClr val="666666"/>
              </a:solidFill>
              <a:latin typeface="IBM Plex Sans"/>
              <a:ea typeface="IBM Plex Sans"/>
              <a:cs typeface="IBM Plex Sans"/>
              <a:sym typeface="IBM Plex Sans"/>
            </a:endParaRPr>
          </a:p>
        </p:txBody>
      </p:sp>
      <p:sp>
        <p:nvSpPr>
          <p:cNvPr id="255" name="Google Shape;255;p32"/>
          <p:cNvSpPr txBox="1">
            <a:spLocks noGrp="1"/>
          </p:cNvSpPr>
          <p:nvPr>
            <p:ph type="sldNum" idx="12"/>
          </p:nvPr>
        </p:nvSpPr>
        <p:spPr>
          <a:xfrm>
            <a:off x="11456325" y="6433600"/>
            <a:ext cx="465000" cy="3885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r>
              <a:rPr lang="en-US" sz="1600"/>
              <a:t>4</a:t>
            </a:r>
            <a:endParaRPr sz="1600"/>
          </a:p>
        </p:txBody>
      </p:sp>
      <p:sp>
        <p:nvSpPr>
          <p:cNvPr id="256" name="Google Shape;256;p32"/>
          <p:cNvSpPr/>
          <p:nvPr/>
        </p:nvSpPr>
        <p:spPr>
          <a:xfrm>
            <a:off x="7567300" y="1540950"/>
            <a:ext cx="3733800" cy="50148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666666"/>
              </a:buClr>
              <a:buSzPts val="1450"/>
              <a:buFont typeface="IBM Plex Sans"/>
              <a:buNone/>
            </a:pPr>
            <a:r>
              <a:rPr lang="en-US" sz="2400" b="1" dirty="0">
                <a:solidFill>
                  <a:srgbClr val="666666"/>
                </a:solidFill>
                <a:latin typeface="IBM Plex Sans"/>
                <a:ea typeface="IBM Plex Sans"/>
                <a:cs typeface="IBM Plex Sans"/>
                <a:sym typeface="IBM Plex Sans"/>
              </a:rPr>
              <a:t>Fact:</a:t>
            </a:r>
            <a:endParaRPr sz="2400" b="1" dirty="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r>
              <a:rPr lang="en-US" sz="2400" dirty="0">
                <a:solidFill>
                  <a:srgbClr val="6AA84F"/>
                </a:solidFill>
                <a:latin typeface="IBM Plex Sans"/>
                <a:ea typeface="IBM Plex Sans"/>
                <a:cs typeface="IBM Plex Sans"/>
                <a:sym typeface="IBM Plex Sans"/>
              </a:rPr>
              <a:t>Measles cases increased by 20% and coverage remains insufficient</a:t>
            </a:r>
            <a:endParaRPr sz="2400" dirty="0">
              <a:solidFill>
                <a:srgbClr val="6AA84F"/>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dirty="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r>
              <a:rPr lang="en-US" sz="2400" b="1" dirty="0">
                <a:solidFill>
                  <a:srgbClr val="666666"/>
                </a:solidFill>
                <a:latin typeface="IBM Plex Sans"/>
                <a:ea typeface="IBM Plex Sans"/>
                <a:cs typeface="IBM Plex Sans"/>
                <a:sym typeface="IBM Plex Sans"/>
              </a:rPr>
              <a:t>AI:</a:t>
            </a:r>
            <a:endParaRPr sz="2400" b="1" dirty="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r>
              <a:rPr lang="en-US" sz="2400" dirty="0">
                <a:solidFill>
                  <a:srgbClr val="FF0000"/>
                </a:solidFill>
                <a:latin typeface="IBM Plex Sans"/>
                <a:ea typeface="IBM Plex Sans"/>
                <a:cs typeface="IBM Plex Sans"/>
                <a:sym typeface="IBM Plex Sans"/>
              </a:rPr>
              <a:t>The world is facing a catastrophic health crisis as there is a huge resurgence</a:t>
            </a:r>
            <a:endParaRPr sz="2400" dirty="0">
              <a:solidFill>
                <a:srgbClr val="FF0000"/>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dirty="0">
              <a:solidFill>
                <a:srgbClr val="666666"/>
              </a:solidFill>
              <a:latin typeface="IBM Plex Sans"/>
              <a:ea typeface="IBM Plex Sans"/>
              <a:cs typeface="IBM Plex Sans"/>
              <a:sym typeface="IBM Plex Sans"/>
            </a:endParaRPr>
          </a:p>
          <a:p>
            <a:pPr marL="0" marR="0" lvl="0" indent="0" algn="l" rtl="0">
              <a:lnSpc>
                <a:spcPct val="133000"/>
              </a:lnSpc>
              <a:spcBef>
                <a:spcPts val="0"/>
              </a:spcBef>
              <a:spcAft>
                <a:spcPts val="0"/>
              </a:spcAft>
              <a:buClr>
                <a:srgbClr val="666666"/>
              </a:buClr>
              <a:buSzPts val="1450"/>
              <a:buFont typeface="IBM Plex Sans"/>
              <a:buNone/>
            </a:pPr>
            <a:endParaRPr sz="2400" dirty="0">
              <a:solidFill>
                <a:srgbClr val="666666"/>
              </a:solidFill>
              <a:latin typeface="IBM Plex Sans"/>
              <a:ea typeface="IBM Plex Sans"/>
              <a:cs typeface="IBM Plex Sans"/>
              <a:sym typeface="IBM Plex Sans"/>
            </a:endParaRPr>
          </a:p>
        </p:txBody>
      </p:sp>
      <p:sp>
        <p:nvSpPr>
          <p:cNvPr id="257" name="Google Shape;257;p32"/>
          <p:cNvSpPr/>
          <p:nvPr/>
        </p:nvSpPr>
        <p:spPr>
          <a:xfrm>
            <a:off x="8878700" y="3508113"/>
            <a:ext cx="677400" cy="7338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3"/>
          <p:cNvSpPr/>
          <p:nvPr/>
        </p:nvSpPr>
        <p:spPr>
          <a:xfrm>
            <a:off x="0" y="0"/>
            <a:ext cx="12191695" cy="6858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p33"/>
          <p:cNvSpPr/>
          <p:nvPr/>
        </p:nvSpPr>
        <p:spPr>
          <a:xfrm>
            <a:off x="0" y="0"/>
            <a:ext cx="256032" cy="68580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33"/>
          <p:cNvSpPr txBox="1"/>
          <p:nvPr/>
        </p:nvSpPr>
        <p:spPr>
          <a:xfrm>
            <a:off x="1188720" y="2694544"/>
            <a:ext cx="9997135" cy="11490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i="0">
                <a:solidFill>
                  <a:srgbClr val="FFFFFF"/>
                </a:solidFill>
                <a:latin typeface="Calibri"/>
                <a:ea typeface="Calibri"/>
                <a:cs typeface="Calibri"/>
                <a:sym typeface="Calibri"/>
              </a:rPr>
              <a:t>Literature Research</a:t>
            </a:r>
            <a:endParaRPr/>
          </a:p>
          <a:p>
            <a:pPr marL="0" marR="0" lvl="0" indent="0" algn="l" rtl="0">
              <a:spcBef>
                <a:spcPts val="800"/>
              </a:spcBef>
              <a:spcAft>
                <a:spcPts val="0"/>
              </a:spcAft>
              <a:buNone/>
            </a:pPr>
            <a:r>
              <a:rPr lang="en-US" sz="1800" b="0" i="1">
                <a:solidFill>
                  <a:srgbClr val="BFD3E6"/>
                </a:solidFill>
                <a:latin typeface="Calibri"/>
                <a:ea typeface="Calibri"/>
                <a:cs typeface="Calibri"/>
                <a:sym typeface="Calibri"/>
              </a:rPr>
              <a:t>What the field does — and the gap we found</a:t>
            </a:r>
            <a:endParaRPr/>
          </a:p>
        </p:txBody>
      </p:sp>
      <p:sp>
        <p:nvSpPr>
          <p:cNvPr id="266" name="Google Shape;266;p33"/>
          <p:cNvSpPr/>
          <p:nvPr/>
        </p:nvSpPr>
        <p:spPr>
          <a:xfrm>
            <a:off x="1234440" y="4160520"/>
            <a:ext cx="2377440" cy="508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7" name="Google Shape;267;p33"/>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268" name="Google Shape;268;p33"/>
          <p:cNvSpPr txBox="1">
            <a:spLocks noGrp="1"/>
          </p:cNvSpPr>
          <p:nvPr>
            <p:ph type="sldNum" idx="12"/>
          </p:nvPr>
        </p:nvSpPr>
        <p:spPr>
          <a:xfrm>
            <a:off x="11692825" y="6451425"/>
            <a:ext cx="255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r>
              <a:rPr lang="en-US" sz="1600"/>
              <a:t>5</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4"/>
          <p:cNvSpPr/>
          <p:nvPr/>
        </p:nvSpPr>
        <p:spPr>
          <a:xfrm>
            <a:off x="0" y="0"/>
            <a:ext cx="12191695"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34"/>
          <p:cNvSpPr/>
          <p:nvPr/>
        </p:nvSpPr>
        <p:spPr>
          <a:xfrm>
            <a:off x="0" y="1143000"/>
            <a:ext cx="12191695"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6" name="Google Shape;276;p34"/>
          <p:cNvSpPr txBox="1"/>
          <p:nvPr/>
        </p:nvSpPr>
        <p:spPr>
          <a:xfrm>
            <a:off x="548650" y="214075"/>
            <a:ext cx="11094300" cy="1108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600" b="1" i="0">
                <a:solidFill>
                  <a:srgbClr val="FFFFFF"/>
                </a:solidFill>
                <a:latin typeface="Calibri"/>
                <a:ea typeface="Calibri"/>
                <a:cs typeface="Calibri"/>
                <a:sym typeface="Calibri"/>
              </a:rPr>
              <a:t>Literature Research</a:t>
            </a:r>
            <a:endParaRPr/>
          </a:p>
          <a:p>
            <a:pPr marL="0" marR="0" lvl="0" indent="0" algn="l" rtl="0">
              <a:spcBef>
                <a:spcPts val="0"/>
              </a:spcBef>
              <a:spcAft>
                <a:spcPts val="0"/>
              </a:spcAft>
              <a:buNone/>
            </a:pPr>
            <a:r>
              <a:rPr lang="en-US" sz="1400" b="1">
                <a:solidFill>
                  <a:srgbClr val="BFD3E6"/>
                </a:solidFill>
                <a:latin typeface="Calibri"/>
                <a:ea typeface="Calibri"/>
                <a:cs typeface="Calibri"/>
                <a:sym typeface="Calibri"/>
              </a:rPr>
              <a:t>Prior work in automatic data narration</a:t>
            </a:r>
            <a:endParaRPr/>
          </a:p>
          <a:p>
            <a:pPr marL="0" marR="0" lvl="0" indent="0" algn="l" rtl="0">
              <a:spcBef>
                <a:spcPts val="0"/>
              </a:spcBef>
              <a:spcAft>
                <a:spcPts val="0"/>
              </a:spcAft>
              <a:buNone/>
            </a:pPr>
            <a:endParaRPr sz="2600" b="1" i="0">
              <a:solidFill>
                <a:srgbClr val="FFFFFF"/>
              </a:solidFill>
              <a:latin typeface="Calibri"/>
              <a:ea typeface="Calibri"/>
              <a:cs typeface="Calibri"/>
              <a:sym typeface="Calibri"/>
            </a:endParaRPr>
          </a:p>
        </p:txBody>
      </p:sp>
      <p:sp>
        <p:nvSpPr>
          <p:cNvPr id="277" name="Google Shape;277;p34"/>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graphicFrame>
        <p:nvGraphicFramePr>
          <p:cNvPr id="278" name="Google Shape;278;p34"/>
          <p:cNvGraphicFramePr/>
          <p:nvPr/>
        </p:nvGraphicFramePr>
        <p:xfrm>
          <a:off x="414685" y="1322282"/>
          <a:ext cx="3000000" cy="3000000"/>
        </p:xfrm>
        <a:graphic>
          <a:graphicData uri="http://schemas.openxmlformats.org/drawingml/2006/table">
            <a:tbl>
              <a:tblPr firstRow="1" bandRow="1">
                <a:noFill/>
                <a:tableStyleId>{C8D23185-9AAB-4605-A651-124715170B24}</a:tableStyleId>
              </a:tblPr>
              <a:tblGrid>
                <a:gridCol w="5681325"/>
                <a:gridCol w="5681325"/>
              </a:tblGrid>
              <a:tr h="842575">
                <a:tc>
                  <a:txBody>
                    <a:bodyPr/>
                    <a:lstStyle/>
                    <a:p>
                      <a:pPr marL="0" marR="0" lvl="0" indent="0" algn="ctr" rtl="0">
                        <a:spcBef>
                          <a:spcPts val="0"/>
                        </a:spcBef>
                        <a:spcAft>
                          <a:spcPts val="0"/>
                        </a:spcAft>
                        <a:buNone/>
                      </a:pPr>
                      <a:endParaRPr sz="1800" b="1" u="none" strike="noStrike" cap="none">
                        <a:solidFill>
                          <a:srgbClr val="666666"/>
                        </a:solidFill>
                        <a:latin typeface="IBM Plex Sans"/>
                        <a:ea typeface="IBM Plex Sans"/>
                        <a:cs typeface="IBM Plex Sans"/>
                        <a:sym typeface="IBM Plex Sans"/>
                      </a:endParaRPr>
                    </a:p>
                    <a:p>
                      <a:pPr marL="0" marR="0" lvl="0" indent="0" algn="ctr" rtl="0">
                        <a:spcBef>
                          <a:spcPts val="0"/>
                        </a:spcBef>
                        <a:spcAft>
                          <a:spcPts val="0"/>
                        </a:spcAft>
                        <a:buNone/>
                      </a:pPr>
                      <a:r>
                        <a:rPr lang="en-US" sz="2800" b="1" u="none" strike="noStrike" cap="none">
                          <a:solidFill>
                            <a:schemeClr val="dk1"/>
                          </a:solidFill>
                          <a:latin typeface="IBM Plex Sans"/>
                          <a:ea typeface="IBM Plex Sans"/>
                          <a:cs typeface="IBM Plex Sans"/>
                          <a:sym typeface="IBM Plex Sans"/>
                        </a:rPr>
                        <a:t>Paper</a:t>
                      </a:r>
                      <a:endParaRPr sz="1800" b="1" u="none" strike="noStrike" cap="none">
                        <a:solidFill>
                          <a:srgbClr val="666666"/>
                        </a:solidFill>
                        <a:latin typeface="IBM Plex Sans"/>
                        <a:ea typeface="IBM Plex Sans"/>
                        <a:cs typeface="IBM Plex Sans"/>
                        <a:sym typeface="IBM Plex Sans"/>
                      </a:endParaRPr>
                    </a:p>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endParaRPr sz="1800" b="1" u="none" strike="noStrike" cap="none">
                        <a:solidFill>
                          <a:schemeClr val="dk1"/>
                        </a:solidFill>
                        <a:latin typeface="IBM Plex Sans"/>
                        <a:ea typeface="IBM Plex Sans"/>
                        <a:cs typeface="IBM Plex Sans"/>
                        <a:sym typeface="IBM Plex Sans"/>
                      </a:endParaRPr>
                    </a:p>
                    <a:p>
                      <a:pPr marL="0" marR="0" lvl="0" indent="0" algn="ctr" rtl="0">
                        <a:lnSpc>
                          <a:spcPct val="100000"/>
                        </a:lnSpc>
                        <a:spcBef>
                          <a:spcPts val="0"/>
                        </a:spcBef>
                        <a:spcAft>
                          <a:spcPts val="0"/>
                        </a:spcAft>
                        <a:buClr>
                          <a:schemeClr val="dk1"/>
                        </a:buClr>
                        <a:buSzPts val="2800"/>
                        <a:buFont typeface="IBM Plex Sans"/>
                        <a:buNone/>
                      </a:pPr>
                      <a:r>
                        <a:rPr lang="en-US" sz="2800" b="1" u="none" strike="noStrike" cap="none">
                          <a:solidFill>
                            <a:schemeClr val="dk1"/>
                          </a:solidFill>
                          <a:latin typeface="IBM Plex Sans"/>
                          <a:ea typeface="IBM Plex Sans"/>
                          <a:cs typeface="IBM Plex Sans"/>
                          <a:sym typeface="IBM Plex Sans"/>
                        </a:rPr>
                        <a:t>Core Contributio</a:t>
                      </a:r>
                      <a:r>
                        <a:rPr lang="en-US" sz="2800">
                          <a:solidFill>
                            <a:schemeClr val="dk1"/>
                          </a:solidFill>
                          <a:latin typeface="IBM Plex Sans"/>
                          <a:ea typeface="IBM Plex Sans"/>
                          <a:cs typeface="IBM Plex Sans"/>
                          <a:sym typeface="IBM Plex Sans"/>
                        </a:rPr>
                        <a:t>n</a:t>
                      </a:r>
                      <a:endParaRPr sz="1800" b="0"/>
                    </a:p>
                  </a:txBody>
                  <a:tcPr marL="91450" marR="91450" marT="45725" marB="45725"/>
                </a:tc>
              </a:tr>
              <a:tr h="1091525">
                <a:tc>
                  <a:txBody>
                    <a:bodyPr/>
                    <a:lstStyle/>
                    <a:p>
                      <a:pPr marL="0" marR="0" lvl="0" indent="0" algn="l" rtl="0">
                        <a:lnSpc>
                          <a:spcPct val="133000"/>
                        </a:lnSpc>
                        <a:spcBef>
                          <a:spcPts val="0"/>
                        </a:spcBef>
                        <a:spcAft>
                          <a:spcPts val="0"/>
                        </a:spcAft>
                        <a:buClr>
                          <a:srgbClr val="666666"/>
                        </a:buClr>
                        <a:buSzPts val="1800"/>
                        <a:buFont typeface="IBM Plex Sans"/>
                        <a:buNone/>
                      </a:pPr>
                      <a:r>
                        <a:rPr lang="en-US" sz="2200" b="1">
                          <a:solidFill>
                            <a:srgbClr val="666666"/>
                          </a:solidFill>
                          <a:latin typeface="IBM Plex Sans"/>
                          <a:ea typeface="IBM Plex Sans"/>
                          <a:cs typeface="IBM Plex Sans"/>
                          <a:sym typeface="IBM Plex Sans"/>
                        </a:rPr>
                        <a:t>DataNarrative</a:t>
                      </a:r>
                      <a:endParaRPr sz="2200"/>
                    </a:p>
                    <a:p>
                      <a:pPr marL="0" marR="0" lvl="0" indent="0" algn="l" rtl="0">
                        <a:lnSpc>
                          <a:spcPct val="133000"/>
                        </a:lnSpc>
                        <a:spcBef>
                          <a:spcPts val="0"/>
                        </a:spcBef>
                        <a:spcAft>
                          <a:spcPts val="0"/>
                        </a:spcAft>
                        <a:buClr>
                          <a:srgbClr val="666666"/>
                        </a:buClr>
                        <a:buSzPts val="1800"/>
                        <a:buFont typeface="IBM Plex Sans"/>
                        <a:buNone/>
                      </a:pPr>
                      <a:r>
                        <a:rPr lang="en-US" sz="2200">
                          <a:solidFill>
                            <a:srgbClr val="666666"/>
                          </a:solidFill>
                          <a:latin typeface="IBM Plex Sans"/>
                          <a:ea typeface="IBM Plex Sans"/>
                          <a:cs typeface="IBM Plex Sans"/>
                          <a:sym typeface="IBM Plex Sans"/>
                        </a:rPr>
                        <a:t>Islam, Laskar, Parvez, Hoque &amp; Joty</a:t>
                      </a:r>
                      <a:endParaRPr sz="2200"/>
                    </a:p>
                    <a:p>
                      <a:pPr marL="0" marR="0" lvl="0" indent="0" algn="l" rtl="0">
                        <a:spcBef>
                          <a:spcPts val="0"/>
                        </a:spcBef>
                        <a:spcAft>
                          <a:spcPts val="0"/>
                        </a:spcAft>
                        <a:buNone/>
                      </a:pPr>
                      <a:endParaRPr sz="1800"/>
                    </a:p>
                  </a:txBody>
                  <a:tcPr marL="91450" marR="91450" marT="45725" marB="45725"/>
                </a:tc>
                <a:tc>
                  <a:txBody>
                    <a:bodyPr/>
                    <a:lstStyle/>
                    <a:p>
                      <a:pPr marL="0" marR="0" lvl="0" indent="0" algn="l" rtl="0">
                        <a:lnSpc>
                          <a:spcPct val="100000"/>
                        </a:lnSpc>
                        <a:spcBef>
                          <a:spcPts val="0"/>
                        </a:spcBef>
                        <a:spcAft>
                          <a:spcPts val="0"/>
                        </a:spcAft>
                        <a:buClr>
                          <a:srgbClr val="666666"/>
                        </a:buClr>
                        <a:buSzPts val="1800"/>
                        <a:buFont typeface="IBM Plex Sans"/>
                        <a:buNone/>
                      </a:pPr>
                      <a:r>
                        <a:rPr lang="en-US" sz="1600">
                          <a:solidFill>
                            <a:srgbClr val="666666"/>
                          </a:solidFill>
                          <a:latin typeface="IBM Plex Sans"/>
                          <a:ea typeface="IBM Plex Sans"/>
                          <a:cs typeface="IBM Plex Sans"/>
                          <a:sym typeface="IBM Plex Sans"/>
                        </a:rPr>
                        <a:t>End-to-end pipeline generating visualizations + narrative text from structured tabular data using 2 agents: generator and verifier on the steps: reflection generation, outline generation and finally story generation</a:t>
                      </a:r>
                      <a:endParaRPr sz="1600"/>
                    </a:p>
                  </a:txBody>
                  <a:tcPr marL="91450" marR="91450" marT="45725" marB="45725"/>
                </a:tc>
              </a:tr>
              <a:tr h="1393125">
                <a:tc>
                  <a:txBody>
                    <a:bodyPr/>
                    <a:lstStyle/>
                    <a:p>
                      <a:pPr marL="0" marR="0" lvl="0" indent="0" algn="l" rtl="0">
                        <a:lnSpc>
                          <a:spcPct val="133000"/>
                        </a:lnSpc>
                        <a:spcBef>
                          <a:spcPts val="0"/>
                        </a:spcBef>
                        <a:spcAft>
                          <a:spcPts val="0"/>
                        </a:spcAft>
                        <a:buClr>
                          <a:srgbClr val="666666"/>
                        </a:buClr>
                        <a:buSzPts val="1800"/>
                        <a:buFont typeface="IBM Plex Sans"/>
                        <a:buNone/>
                      </a:pPr>
                      <a:r>
                        <a:rPr lang="en-US" sz="2200" b="1">
                          <a:solidFill>
                            <a:srgbClr val="666666"/>
                          </a:solidFill>
                          <a:latin typeface="IBM Plex Sans"/>
                          <a:ea typeface="IBM Plex Sans"/>
                          <a:cs typeface="IBM Plex Sans"/>
                          <a:sym typeface="IBM Plex Sans"/>
                        </a:rPr>
                        <a:t>DataTales</a:t>
                      </a:r>
                      <a:endParaRPr sz="2200"/>
                    </a:p>
                    <a:p>
                      <a:pPr marL="0" marR="0" lvl="0" indent="0" algn="l" rtl="0">
                        <a:lnSpc>
                          <a:spcPct val="133000"/>
                        </a:lnSpc>
                        <a:spcBef>
                          <a:spcPts val="0"/>
                        </a:spcBef>
                        <a:spcAft>
                          <a:spcPts val="0"/>
                        </a:spcAft>
                        <a:buClr>
                          <a:srgbClr val="666666"/>
                        </a:buClr>
                        <a:buSzPts val="1800"/>
                        <a:buFont typeface="IBM Plex Sans"/>
                        <a:buNone/>
                      </a:pPr>
                      <a:r>
                        <a:rPr lang="en-US" sz="2200">
                          <a:solidFill>
                            <a:srgbClr val="666666"/>
                          </a:solidFill>
                          <a:latin typeface="IBM Plex Sans"/>
                          <a:ea typeface="IBM Plex Sans"/>
                          <a:cs typeface="IBM Plex Sans"/>
                          <a:sym typeface="IBM Plex Sans"/>
                        </a:rPr>
                        <a:t>Yang, Liu &amp; Kan</a:t>
                      </a:r>
                      <a:endParaRPr sz="2200"/>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sz="1600">
                          <a:solidFill>
                            <a:srgbClr val="666666"/>
                          </a:solidFill>
                          <a:latin typeface="IBM Plex Sans"/>
                          <a:ea typeface="IBM Plex Sans"/>
                          <a:cs typeface="IBM Plex Sans"/>
                          <a:sym typeface="IBM Plex Sans"/>
                        </a:rPr>
                        <a:t>Emphasizes the importance of extracting insights, patterns and outliers from the dataset before feeding it to the LLM because LLMs are weak at extracting patterns and trends but good at generating coherent text.</a:t>
                      </a:r>
                      <a:endParaRPr sz="1600"/>
                    </a:p>
                  </a:txBody>
                  <a:tcPr marL="91450" marR="91450" marT="45725" marB="45725"/>
                </a:tc>
              </a:tr>
              <a:tr h="688225">
                <a:tc>
                  <a:txBody>
                    <a:bodyPr/>
                    <a:lstStyle/>
                    <a:p>
                      <a:pPr marL="0" marR="0" lvl="0" indent="0" algn="l" rtl="0">
                        <a:lnSpc>
                          <a:spcPct val="133000"/>
                        </a:lnSpc>
                        <a:spcBef>
                          <a:spcPts val="0"/>
                        </a:spcBef>
                        <a:spcAft>
                          <a:spcPts val="0"/>
                        </a:spcAft>
                        <a:buClr>
                          <a:srgbClr val="666666"/>
                        </a:buClr>
                        <a:buSzPts val="1800"/>
                        <a:buFont typeface="IBM Plex Sans"/>
                        <a:buNone/>
                      </a:pPr>
                      <a:r>
                        <a:rPr lang="en-US" sz="2200" b="1">
                          <a:solidFill>
                            <a:srgbClr val="666666"/>
                          </a:solidFill>
                          <a:latin typeface="IBM Plex Sans"/>
                          <a:ea typeface="IBM Plex Sans"/>
                          <a:cs typeface="IBM Plex Sans"/>
                          <a:sym typeface="IBM Plex Sans"/>
                        </a:rPr>
                        <a:t>Beyond Traditional Benchmarks</a:t>
                      </a:r>
                      <a:endParaRPr sz="2200"/>
                    </a:p>
                    <a:p>
                      <a:pPr marL="0" marR="0" lvl="0" indent="0" algn="l" rtl="0">
                        <a:lnSpc>
                          <a:spcPct val="133000"/>
                        </a:lnSpc>
                        <a:spcBef>
                          <a:spcPts val="0"/>
                        </a:spcBef>
                        <a:spcAft>
                          <a:spcPts val="0"/>
                        </a:spcAft>
                        <a:buClr>
                          <a:srgbClr val="666666"/>
                        </a:buClr>
                        <a:buSzPts val="1800"/>
                        <a:buFont typeface="IBM Plex Sans"/>
                        <a:buNone/>
                      </a:pPr>
                      <a:r>
                        <a:rPr lang="en-US" sz="2200">
                          <a:solidFill>
                            <a:srgbClr val="666666"/>
                          </a:solidFill>
                          <a:latin typeface="IBM Plex Sans"/>
                          <a:ea typeface="IBM Plex Sans"/>
                          <a:cs typeface="IBM Plex Sans"/>
                          <a:sym typeface="IBM Plex Sans"/>
                        </a:rPr>
                        <a:t>Kasner &amp; Dušek</a:t>
                      </a:r>
                      <a:endParaRPr sz="2200"/>
                    </a:p>
                    <a:p>
                      <a:pPr marL="0" marR="0" lvl="0" indent="0" algn="l" rtl="0">
                        <a:spcBef>
                          <a:spcPts val="0"/>
                        </a:spcBef>
                        <a:spcAft>
                          <a:spcPts val="0"/>
                        </a:spcAft>
                        <a:buNone/>
                      </a:pPr>
                      <a:endParaRPr sz="1800"/>
                    </a:p>
                  </a:txBody>
                  <a:tcPr marL="91450" marR="91450" marT="45725" marB="45725"/>
                </a:tc>
                <a:tc>
                  <a:txBody>
                    <a:bodyPr/>
                    <a:lstStyle/>
                    <a:p>
                      <a:pPr marL="0" marR="0" lvl="0" indent="0" algn="l" rtl="0">
                        <a:lnSpc>
                          <a:spcPct val="100000"/>
                        </a:lnSpc>
                        <a:spcBef>
                          <a:spcPts val="0"/>
                        </a:spcBef>
                        <a:spcAft>
                          <a:spcPts val="0"/>
                        </a:spcAft>
                        <a:buClr>
                          <a:srgbClr val="666666"/>
                        </a:buClr>
                        <a:buSzPts val="1800"/>
                        <a:buFont typeface="IBM Plex Sans"/>
                        <a:buNone/>
                      </a:pPr>
                      <a:r>
                        <a:rPr lang="en-US" sz="1600">
                          <a:solidFill>
                            <a:srgbClr val="666666"/>
                          </a:solidFill>
                          <a:latin typeface="IBM Plex Sans"/>
                          <a:ea typeface="IBM Plex Sans"/>
                          <a:cs typeface="IBM Plex Sans"/>
                          <a:sym typeface="IBM Plex Sans"/>
                        </a:rPr>
                        <a:t>Introduces a benchmark for evaluating the semantic accuracy of LLMs in Data-to-Text Generation tasks. LLMs can generate fluent, coherent, and human-like text from structured data, they frequently make semantic and factual errors. Their results highlight that linguistic quality does not necessarily imply factual correctness, making semantic reliability a major challenge for data-driven text generation. </a:t>
                      </a:r>
                      <a:endParaRPr sz="1600"/>
                    </a:p>
                  </a:txBody>
                  <a:tcPr marL="91450" marR="91450" marT="45725" marB="45725"/>
                </a:tc>
              </a:tr>
            </a:tbl>
          </a:graphicData>
        </a:graphic>
      </p:graphicFrame>
      <p:sp>
        <p:nvSpPr>
          <p:cNvPr id="279" name="Google Shape;279;p34"/>
          <p:cNvSpPr txBox="1"/>
          <p:nvPr/>
        </p:nvSpPr>
        <p:spPr>
          <a:xfrm>
            <a:off x="11316975" y="6357000"/>
            <a:ext cx="750000" cy="431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US" sz="1600">
                <a:solidFill>
                  <a:srgbClr val="888888"/>
                </a:solidFill>
                <a:latin typeface="Calibri"/>
                <a:ea typeface="Calibri"/>
                <a:cs typeface="Calibri"/>
                <a:sym typeface="Calibri"/>
              </a:rPr>
              <a:t>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5"/>
          <p:cNvSpPr/>
          <p:nvPr/>
        </p:nvSpPr>
        <p:spPr>
          <a:xfrm>
            <a:off x="0" y="0"/>
            <a:ext cx="12191695" cy="6858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6" name="Google Shape;286;p35"/>
          <p:cNvSpPr/>
          <p:nvPr/>
        </p:nvSpPr>
        <p:spPr>
          <a:xfrm>
            <a:off x="0" y="0"/>
            <a:ext cx="256032" cy="68580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35"/>
          <p:cNvSpPr txBox="1"/>
          <p:nvPr/>
        </p:nvSpPr>
        <p:spPr>
          <a:xfrm>
            <a:off x="1188720" y="2759242"/>
            <a:ext cx="9997135" cy="11490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i="0">
                <a:solidFill>
                  <a:srgbClr val="FFFFFF"/>
                </a:solidFill>
                <a:latin typeface="Calibri"/>
                <a:ea typeface="Calibri"/>
                <a:cs typeface="Calibri"/>
                <a:sym typeface="Calibri"/>
              </a:rPr>
              <a:t>Dataset &amp; Idea</a:t>
            </a:r>
            <a:endParaRPr/>
          </a:p>
          <a:p>
            <a:pPr marL="0" marR="0" lvl="0" indent="0" algn="l" rtl="0">
              <a:spcBef>
                <a:spcPts val="800"/>
              </a:spcBef>
              <a:spcAft>
                <a:spcPts val="0"/>
              </a:spcAft>
              <a:buNone/>
            </a:pPr>
            <a:r>
              <a:rPr lang="en-US" sz="1800" b="0" i="1">
                <a:solidFill>
                  <a:srgbClr val="BFD3E6"/>
                </a:solidFill>
                <a:latin typeface="Calibri"/>
                <a:ea typeface="Calibri"/>
                <a:cs typeface="Calibri"/>
                <a:sym typeface="Calibri"/>
              </a:rPr>
              <a:t>The data we chose, and the core idea</a:t>
            </a:r>
            <a:endParaRPr sz="1800" b="0" i="1">
              <a:solidFill>
                <a:srgbClr val="BFD3E6"/>
              </a:solidFill>
              <a:latin typeface="Calibri"/>
              <a:ea typeface="Calibri"/>
              <a:cs typeface="Calibri"/>
              <a:sym typeface="Calibri"/>
            </a:endParaRPr>
          </a:p>
        </p:txBody>
      </p:sp>
      <p:sp>
        <p:nvSpPr>
          <p:cNvPr id="288" name="Google Shape;288;p35"/>
          <p:cNvSpPr/>
          <p:nvPr/>
        </p:nvSpPr>
        <p:spPr>
          <a:xfrm>
            <a:off x="1234440" y="4160520"/>
            <a:ext cx="2377440" cy="508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35"/>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290" name="Google Shape;290;p35"/>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7</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6"/>
          <p:cNvSpPr/>
          <p:nvPr/>
        </p:nvSpPr>
        <p:spPr>
          <a:xfrm>
            <a:off x="0" y="0"/>
            <a:ext cx="12191700" cy="1143000"/>
          </a:xfrm>
          <a:prstGeom prst="rect">
            <a:avLst/>
          </a:prstGeom>
          <a:solidFill>
            <a:srgbClr val="0030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6" name="Google Shape;296;p36"/>
          <p:cNvSpPr/>
          <p:nvPr/>
        </p:nvSpPr>
        <p:spPr>
          <a:xfrm>
            <a:off x="0" y="1143000"/>
            <a:ext cx="12191700" cy="38100"/>
          </a:xfrm>
          <a:prstGeom prst="rect">
            <a:avLst/>
          </a:prstGeom>
          <a:solidFill>
            <a:srgbClr val="3C6E9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7" name="Google Shape;297;p36"/>
          <p:cNvSpPr txBox="1"/>
          <p:nvPr/>
        </p:nvSpPr>
        <p:spPr>
          <a:xfrm>
            <a:off x="548640" y="109728"/>
            <a:ext cx="11094300" cy="960000"/>
          </a:xfrm>
          <a:prstGeom prst="rect">
            <a:avLst/>
          </a:prstGeom>
          <a:solidFill>
            <a:srgbClr val="000000">
              <a:alpha val="0"/>
            </a:srgbClr>
          </a:soli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300" b="1">
                <a:solidFill>
                  <a:srgbClr val="BFD3E6"/>
                </a:solidFill>
                <a:latin typeface="Calibri"/>
                <a:ea typeface="Calibri"/>
                <a:cs typeface="Calibri"/>
                <a:sym typeface="Calibri"/>
              </a:rPr>
              <a:t>PART 2 — Dataset &amp; Idea</a:t>
            </a:r>
            <a:endParaRPr sz="1300" b="1">
              <a:solidFill>
                <a:srgbClr val="BFD3E6"/>
              </a:solidFill>
              <a:latin typeface="Calibri"/>
              <a:ea typeface="Calibri"/>
              <a:cs typeface="Calibri"/>
              <a:sym typeface="Calibri"/>
            </a:endParaRPr>
          </a:p>
          <a:p>
            <a:pPr marL="0" lvl="0" indent="0" algn="l" rtl="0">
              <a:spcBef>
                <a:spcPts val="0"/>
              </a:spcBef>
              <a:spcAft>
                <a:spcPts val="0"/>
              </a:spcAft>
              <a:buNone/>
            </a:pPr>
            <a:r>
              <a:rPr lang="en-US" sz="2600" b="1">
                <a:solidFill>
                  <a:srgbClr val="FFFFFF"/>
                </a:solidFill>
                <a:latin typeface="Calibri"/>
                <a:ea typeface="Calibri"/>
                <a:cs typeface="Calibri"/>
                <a:sym typeface="Calibri"/>
              </a:rPr>
              <a:t>Two datasets — one for each direction of tone</a:t>
            </a:r>
            <a:endParaRPr sz="2600" b="1">
              <a:solidFill>
                <a:srgbClr val="FFFFFF"/>
              </a:solidFill>
              <a:latin typeface="Calibri"/>
              <a:ea typeface="Calibri"/>
              <a:cs typeface="Calibri"/>
              <a:sym typeface="Calibri"/>
            </a:endParaRPr>
          </a:p>
        </p:txBody>
      </p:sp>
      <p:sp>
        <p:nvSpPr>
          <p:cNvPr id="298" name="Google Shape;298;p36"/>
          <p:cNvSpPr txBox="1"/>
          <p:nvPr/>
        </p:nvSpPr>
        <p:spPr>
          <a:xfrm>
            <a:off x="640080" y="1463040"/>
            <a:ext cx="10911600" cy="4755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800">
                <a:solidFill>
                  <a:srgbClr val="1A1A1A"/>
                </a:solidFill>
                <a:latin typeface="Calibri"/>
                <a:ea typeface="Calibri"/>
                <a:cs typeface="Calibri"/>
                <a:sym typeface="Calibri"/>
              </a:rPr>
              <a:t>Our main idea is a tone agent — and tone fails in two ways, so we use two datasets on purpose.</a:t>
            </a:r>
            <a:endParaRPr sz="1800">
              <a:solidFill>
                <a:srgbClr val="1A1A1A"/>
              </a:solidFill>
              <a:latin typeface="Calibri"/>
              <a:ea typeface="Calibri"/>
              <a:cs typeface="Calibri"/>
              <a:sym typeface="Calibri"/>
            </a:endParaRPr>
          </a:p>
          <a:p>
            <a:pPr marL="0" lvl="0" indent="0" algn="l" rtl="0">
              <a:spcBef>
                <a:spcPts val="1875"/>
              </a:spcBef>
              <a:spcAft>
                <a:spcPts val="0"/>
              </a:spcAft>
              <a:buNone/>
            </a:pPr>
            <a:r>
              <a:rPr lang="en-US" sz="1800" b="1">
                <a:solidFill>
                  <a:srgbClr val="C0392B"/>
                </a:solidFill>
                <a:latin typeface="Calibri"/>
                <a:ea typeface="Calibri"/>
                <a:cs typeface="Calibri"/>
                <a:sym typeface="Calibri"/>
              </a:rPr>
              <a:t>PRIMARY · Measles × MCV1 vaccination coverage — natural tone: alarmism / fear.</a:t>
            </a:r>
            <a:endParaRPr sz="1800" b="1">
              <a:solidFill>
                <a:srgbClr val="C0392B"/>
              </a:solidFill>
              <a:latin typeface="Calibri"/>
              <a:ea typeface="Calibri"/>
              <a:cs typeface="Calibri"/>
              <a:sym typeface="Calibri"/>
            </a:endParaRPr>
          </a:p>
          <a:p>
            <a:pPr marL="190500" marR="0" lvl="0" indent="0" algn="l" rtl="0">
              <a:spcBef>
                <a:spcPts val="0"/>
              </a:spcBef>
              <a:spcAft>
                <a:spcPts val="0"/>
              </a:spcAft>
              <a:buNone/>
            </a:pPr>
            <a:r>
              <a:rPr lang="en-US" sz="1600">
                <a:solidFill>
                  <a:srgbClr val="C0392B"/>
                </a:solidFill>
                <a:latin typeface="Calibri"/>
                <a:ea typeface="Calibri"/>
                <a:cs typeface="Calibri"/>
                <a:sym typeface="Calibri"/>
              </a:rPr>
              <a:t>The agent must pull an over-alarmist story DOWN without losing the real urgency.</a:t>
            </a:r>
            <a:endParaRPr sz="1600">
              <a:solidFill>
                <a:srgbClr val="C0392B"/>
              </a:solidFill>
              <a:latin typeface="Calibri"/>
              <a:ea typeface="Calibri"/>
              <a:cs typeface="Calibri"/>
              <a:sym typeface="Calibri"/>
            </a:endParaRPr>
          </a:p>
          <a:p>
            <a:pPr marL="0" lvl="0" indent="0" algn="l" rtl="0">
              <a:spcBef>
                <a:spcPts val="1875"/>
              </a:spcBef>
              <a:spcAft>
                <a:spcPts val="0"/>
              </a:spcAft>
              <a:buNone/>
            </a:pPr>
            <a:r>
              <a:rPr lang="en-US" sz="1800" b="1">
                <a:solidFill>
                  <a:srgbClr val="0F8A78"/>
                </a:solidFill>
                <a:latin typeface="Calibri"/>
                <a:ea typeface="Calibri"/>
                <a:cs typeface="Calibri"/>
                <a:sym typeface="Calibri"/>
              </a:rPr>
              <a:t>SECONDARY · WHO Global Health Observatory — child mortality &amp; life expectancy — over-optimism.</a:t>
            </a:r>
            <a:endParaRPr sz="1800" b="1">
              <a:solidFill>
                <a:srgbClr val="0F8A78"/>
              </a:solidFill>
              <a:latin typeface="Calibri"/>
              <a:ea typeface="Calibri"/>
              <a:cs typeface="Calibri"/>
              <a:sym typeface="Calibri"/>
            </a:endParaRPr>
          </a:p>
          <a:p>
            <a:pPr marL="190500" marR="0" lvl="0" indent="0" algn="l" rtl="0">
              <a:spcBef>
                <a:spcPts val="0"/>
              </a:spcBef>
              <a:spcAft>
                <a:spcPts val="0"/>
              </a:spcAft>
              <a:buNone/>
            </a:pPr>
            <a:r>
              <a:rPr lang="en-US" sz="1600">
                <a:solidFill>
                  <a:srgbClr val="0F8A78"/>
                </a:solidFill>
                <a:latin typeface="Calibri"/>
                <a:ea typeface="Calibri"/>
                <a:cs typeface="Calibri"/>
                <a:sym typeface="Calibri"/>
              </a:rPr>
              <a:t>It must keep a "good-news" story HONEST: preserve the inequality and the COVID reversal.</a:t>
            </a:r>
            <a:endParaRPr sz="1600">
              <a:solidFill>
                <a:srgbClr val="0F8A78"/>
              </a:solidFill>
              <a:latin typeface="Calibri"/>
              <a:ea typeface="Calibri"/>
              <a:cs typeface="Calibri"/>
              <a:sym typeface="Calibri"/>
            </a:endParaRPr>
          </a:p>
          <a:p>
            <a:pPr marL="0" lvl="0" indent="0" algn="l" rtl="0">
              <a:spcBef>
                <a:spcPts val="1875"/>
              </a:spcBef>
              <a:spcAft>
                <a:spcPts val="1875"/>
              </a:spcAft>
              <a:buNone/>
            </a:pPr>
            <a:r>
              <a:rPr lang="en-US" sz="1800" b="1">
                <a:solidFill>
                  <a:srgbClr val="00305D"/>
                </a:solidFill>
                <a:latin typeface="Calibri"/>
                <a:ea typeface="Calibri"/>
                <a:cs typeface="Calibri"/>
                <a:sym typeface="Calibri"/>
              </a:rPr>
              <a:t>Together they prove the agent calibrates BOTH ways — and edits the measured story only lightly.</a:t>
            </a:r>
            <a:endParaRPr sz="1800" b="1">
              <a:solidFill>
                <a:srgbClr val="00305D"/>
              </a:solidFill>
              <a:latin typeface="Calibri"/>
              <a:ea typeface="Calibri"/>
              <a:cs typeface="Calibri"/>
              <a:sym typeface="Calibri"/>
            </a:endParaRPr>
          </a:p>
        </p:txBody>
      </p:sp>
      <p:sp>
        <p:nvSpPr>
          <p:cNvPr id="299" name="Google Shape;299;p36"/>
          <p:cNvSpPr txBox="1"/>
          <p:nvPr/>
        </p:nvSpPr>
        <p:spPr>
          <a:xfrm>
            <a:off x="0" y="6473952"/>
            <a:ext cx="12191700" cy="320100"/>
          </a:xfrm>
          <a:prstGeom prst="rect">
            <a:avLst/>
          </a:prstGeom>
          <a:solidFill>
            <a:srgbClr val="000000">
              <a:alpha val="0"/>
            </a:srgbClr>
          </a:solid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1000">
                <a:solidFill>
                  <a:srgbClr val="5A5A5A"/>
                </a:solidFill>
                <a:latin typeface="Calibri"/>
                <a:ea typeface="Calibri"/>
                <a:cs typeface="Calibri"/>
                <a:sym typeface="Calibri"/>
              </a:rPr>
              <a:t>AI-Powered Data Storytelling · CMS Team Project · TU Dresden · SoSe 2026</a:t>
            </a:r>
            <a:endParaRPr sz="1000">
              <a:solidFill>
                <a:srgbClr val="5A5A5A"/>
              </a:solidFill>
              <a:latin typeface="Calibri"/>
              <a:ea typeface="Calibri"/>
              <a:cs typeface="Calibri"/>
              <a:sym typeface="Calibri"/>
            </a:endParaRPr>
          </a:p>
        </p:txBody>
      </p:sp>
      <p:sp>
        <p:nvSpPr>
          <p:cNvPr id="300" name="Google Shape;300;p36"/>
          <p:cNvSpPr txBox="1"/>
          <p:nvPr/>
        </p:nvSpPr>
        <p:spPr>
          <a:xfrm>
            <a:off x="11368754" y="6473952"/>
            <a:ext cx="640200" cy="338700"/>
          </a:xfrm>
          <a:prstGeom prst="rect">
            <a:avLst/>
          </a:prstGeom>
          <a:solidFill>
            <a:srgbClr val="000000">
              <a:alpha val="0"/>
            </a:srgbClr>
          </a:solid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600">
                <a:solidFill>
                  <a:srgbClr val="5A5A5A"/>
                </a:solidFill>
                <a:latin typeface="Calibri"/>
                <a:ea typeface="Calibri"/>
                <a:cs typeface="Calibri"/>
                <a:sym typeface="Calibri"/>
              </a:rPr>
              <a:t>8</a:t>
            </a:r>
            <a:endParaRPr sz="1600">
              <a:solidFill>
                <a:srgbClr val="5A5A5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305"/>
        <p:cNvGrpSpPr/>
        <p:nvPr/>
      </p:nvGrpSpPr>
      <p:grpSpPr>
        <a:xfrm>
          <a:off x="0" y="0"/>
          <a:ext cx="0" cy="0"/>
          <a:chOff x="0" y="0"/>
          <a:chExt cx="0" cy="0"/>
        </a:xfrm>
      </p:grpSpPr>
      <p:sp>
        <p:nvSpPr>
          <p:cNvPr id="306" name="Google Shape;306;p37"/>
          <p:cNvSpPr/>
          <p:nvPr/>
        </p:nvSpPr>
        <p:spPr>
          <a:xfrm>
            <a:off x="0" y="0"/>
            <a:ext cx="12191700"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7" name="Google Shape;307;p37"/>
          <p:cNvSpPr/>
          <p:nvPr/>
        </p:nvSpPr>
        <p:spPr>
          <a:xfrm>
            <a:off x="0" y="1143000"/>
            <a:ext cx="12191700"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 name="Google Shape;308;p37"/>
          <p:cNvSpPr txBox="1"/>
          <p:nvPr/>
        </p:nvSpPr>
        <p:spPr>
          <a:xfrm>
            <a:off x="548640" y="109728"/>
            <a:ext cx="11094300" cy="785100"/>
          </a:xfrm>
          <a:prstGeom prst="rect">
            <a:avLst/>
          </a:prstGeom>
          <a:solidFill>
            <a:srgbClr val="000000">
              <a:alpha val="0"/>
            </a:srgbClr>
          </a:solidFill>
          <a:ln>
            <a:noFill/>
          </a:ln>
        </p:spPr>
        <p:txBody>
          <a:bodyPr spcFirstLastPara="1" wrap="square" lIns="91425" tIns="45700" rIns="91425" bIns="45700" anchor="ctr" anchorCtr="0">
            <a:spAutoFit/>
          </a:bodyPr>
          <a:lstStyle/>
          <a:p>
            <a:pPr marL="0" lvl="0" indent="0" algn="l" rtl="0">
              <a:spcBef>
                <a:spcPts val="0"/>
              </a:spcBef>
              <a:spcAft>
                <a:spcPts val="0"/>
              </a:spcAft>
              <a:buNone/>
            </a:pPr>
            <a:r>
              <a:rPr lang="en-US" sz="1300" b="1">
                <a:solidFill>
                  <a:srgbClr val="BFD3E6"/>
                </a:solidFill>
                <a:latin typeface="Calibri"/>
                <a:ea typeface="Calibri"/>
                <a:cs typeface="Calibri"/>
                <a:sym typeface="Calibri"/>
              </a:rPr>
              <a:t>PART 2 — Dataset &amp; Idea</a:t>
            </a:r>
            <a:endParaRPr sz="1300" b="1">
              <a:solidFill>
                <a:srgbClr val="BFD3E6"/>
              </a:solidFill>
              <a:latin typeface="Calibri"/>
              <a:ea typeface="Calibri"/>
              <a:cs typeface="Calibri"/>
              <a:sym typeface="Calibri"/>
            </a:endParaRPr>
          </a:p>
          <a:p>
            <a:pPr marL="0" lvl="0" indent="0" algn="l" rtl="0">
              <a:spcBef>
                <a:spcPts val="0"/>
              </a:spcBef>
              <a:spcAft>
                <a:spcPts val="0"/>
              </a:spcAft>
              <a:buNone/>
            </a:pPr>
            <a:r>
              <a:rPr lang="en-US" sz="3200" b="1">
                <a:solidFill>
                  <a:srgbClr val="FFFFFF"/>
                </a:solidFill>
                <a:latin typeface="Calibri"/>
                <a:ea typeface="Calibri"/>
                <a:cs typeface="Calibri"/>
                <a:sym typeface="Calibri"/>
              </a:rPr>
              <a:t>Dataset: Measles × Vaccination</a:t>
            </a:r>
            <a:endParaRPr sz="1300" b="1">
              <a:solidFill>
                <a:srgbClr val="BFD3E6"/>
              </a:solidFill>
              <a:latin typeface="Calibri"/>
              <a:ea typeface="Calibri"/>
              <a:cs typeface="Calibri"/>
              <a:sym typeface="Calibri"/>
            </a:endParaRPr>
          </a:p>
        </p:txBody>
      </p:sp>
      <p:grpSp>
        <p:nvGrpSpPr>
          <p:cNvPr id="309" name="Google Shape;309;p37"/>
          <p:cNvGrpSpPr/>
          <p:nvPr/>
        </p:nvGrpSpPr>
        <p:grpSpPr>
          <a:xfrm>
            <a:off x="638175" y="1428750"/>
            <a:ext cx="10915800" cy="3619500"/>
            <a:chOff x="0" y="0"/>
            <a:chExt cx="10915800" cy="3619500"/>
          </a:xfrm>
        </p:grpSpPr>
        <p:sp>
          <p:nvSpPr>
            <p:cNvPr id="310" name="Google Shape;310;p37"/>
            <p:cNvSpPr/>
            <p:nvPr/>
          </p:nvSpPr>
          <p:spPr>
            <a:xfrm>
              <a:off x="0" y="0"/>
              <a:ext cx="10915800" cy="3619500"/>
            </a:xfrm>
            <a:prstGeom prst="roundRect">
              <a:avLst>
                <a:gd name="adj" fmla="val 3157"/>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311" name="Google Shape;311;p37"/>
            <p:cNvPicPr preferRelativeResize="0"/>
            <p:nvPr/>
          </p:nvPicPr>
          <p:blipFill rotWithShape="1">
            <a:blip r:embed="rId3">
              <a:alphaModFix/>
            </a:blip>
            <a:srcRect t="6933" b="6942"/>
            <a:stretch/>
          </p:blipFill>
          <p:spPr>
            <a:xfrm>
              <a:off x="1171575" y="190500"/>
              <a:ext cx="8572500" cy="3238500"/>
            </a:xfrm>
            <a:prstGeom prst="rect">
              <a:avLst/>
            </a:prstGeom>
            <a:noFill/>
            <a:ln>
              <a:noFill/>
            </a:ln>
          </p:spPr>
        </p:pic>
      </p:grpSp>
      <p:grpSp>
        <p:nvGrpSpPr>
          <p:cNvPr id="312" name="Google Shape;312;p37"/>
          <p:cNvGrpSpPr/>
          <p:nvPr/>
        </p:nvGrpSpPr>
        <p:grpSpPr>
          <a:xfrm>
            <a:off x="638175" y="5191125"/>
            <a:ext cx="10915800" cy="1047900"/>
            <a:chOff x="0" y="0"/>
            <a:chExt cx="10915800" cy="1047900"/>
          </a:xfrm>
        </p:grpSpPr>
        <p:sp>
          <p:nvSpPr>
            <p:cNvPr id="313" name="Google Shape;313;p37"/>
            <p:cNvSpPr/>
            <p:nvPr/>
          </p:nvSpPr>
          <p:spPr>
            <a:xfrm>
              <a:off x="0" y="0"/>
              <a:ext cx="10915800" cy="1047900"/>
            </a:xfrm>
            <a:prstGeom prst="roundRect">
              <a:avLst>
                <a:gd name="adj" fmla="val 10909"/>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4" name="Google Shape;314;p37"/>
            <p:cNvSpPr txBox="1"/>
            <p:nvPr/>
          </p:nvSpPr>
          <p:spPr>
            <a:xfrm>
              <a:off x="0" y="0"/>
              <a:ext cx="10915800" cy="1047900"/>
            </a:xfrm>
            <a:prstGeom prst="rect">
              <a:avLst/>
            </a:prstGeom>
            <a:noFill/>
            <a:ln>
              <a:noFill/>
            </a:ln>
          </p:spPr>
          <p:txBody>
            <a:bodyPr spcFirstLastPara="1" wrap="square" lIns="285750" tIns="0" rIns="285750" bIns="0" anchor="ctr" anchorCtr="0">
              <a:noAutofit/>
            </a:bodyPr>
            <a:lstStyle/>
            <a:p>
              <a:pPr marL="0" lvl="0" indent="0" algn="l" rtl="0">
                <a:spcBef>
                  <a:spcPts val="0"/>
                </a:spcBef>
                <a:spcAft>
                  <a:spcPts val="0"/>
                </a:spcAft>
                <a:buNone/>
              </a:pPr>
              <a:r>
                <a:rPr lang="en-US" sz="1600" b="1">
                  <a:solidFill>
                    <a:srgbClr val="00305D"/>
                  </a:solidFill>
                  <a:latin typeface="Calibri"/>
                  <a:ea typeface="Calibri"/>
                  <a:cs typeface="Calibri"/>
                  <a:sym typeface="Calibri"/>
                </a:rPr>
                <a:t>Insight: Herd Immunity Gap</a:t>
              </a:r>
              <a:endParaRPr sz="1600" b="1">
                <a:solidFill>
                  <a:srgbClr val="00305D"/>
                </a:solidFill>
                <a:latin typeface="Calibri"/>
                <a:ea typeface="Calibri"/>
                <a:cs typeface="Calibri"/>
                <a:sym typeface="Calibri"/>
              </a:endParaRPr>
            </a:p>
            <a:p>
              <a:pPr marL="0" lvl="0" indent="0" algn="l" rtl="0">
                <a:spcBef>
                  <a:spcPts val="375"/>
                </a:spcBef>
                <a:spcAft>
                  <a:spcPts val="0"/>
                </a:spcAft>
                <a:buNone/>
              </a:pPr>
              <a:r>
                <a:rPr lang="en-US" sz="1400">
                  <a:solidFill>
                    <a:srgbClr val="475569"/>
                  </a:solidFill>
                  <a:latin typeface="Calibri"/>
                  <a:ea typeface="Calibri"/>
                  <a:cs typeface="Calibri"/>
                  <a:sym typeface="Calibri"/>
                </a:rPr>
                <a:t>Merged OWID/WHO cases &amp; WUENIC MCV1 coverage. Coverage stalled below ~95% threshold → cases rebounded. This dataset serves as our primary test for </a:t>
              </a:r>
              <a:r>
                <a:rPr lang="en-US" sz="1400" b="1">
                  <a:solidFill>
                    <a:srgbClr val="C0392B"/>
                  </a:solidFill>
                  <a:latin typeface="Calibri"/>
                  <a:ea typeface="Calibri"/>
                  <a:cs typeface="Calibri"/>
                  <a:sym typeface="Calibri"/>
                </a:rPr>
                <a:t>alarmism moderation</a:t>
              </a:r>
              <a:r>
                <a:rPr lang="en-US" sz="1400">
                  <a:solidFill>
                    <a:srgbClr val="475569"/>
                  </a:solidFill>
                  <a:latin typeface="Calibri"/>
                  <a:ea typeface="Calibri"/>
                  <a:cs typeface="Calibri"/>
                  <a:sym typeface="Calibri"/>
                </a:rPr>
                <a:t>.</a:t>
              </a:r>
              <a:endParaRPr sz="1400">
                <a:solidFill>
                  <a:srgbClr val="475569"/>
                </a:solidFill>
                <a:latin typeface="Calibri"/>
                <a:ea typeface="Calibri"/>
                <a:cs typeface="Calibri"/>
                <a:sym typeface="Calibri"/>
              </a:endParaRPr>
            </a:p>
          </p:txBody>
        </p:sp>
      </p:grpSp>
      <p:sp>
        <p:nvSpPr>
          <p:cNvPr id="315" name="Google Shape;315;p37"/>
          <p:cNvSpPr txBox="1"/>
          <p:nvPr/>
        </p:nvSpPr>
        <p:spPr>
          <a:xfrm>
            <a:off x="0" y="6473952"/>
            <a:ext cx="121917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316" name="Google Shape;316;p37"/>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9</a:t>
            </a:r>
            <a:endParaRPr sz="19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8"/>
          <p:cNvSpPr/>
          <p:nvPr/>
        </p:nvSpPr>
        <p:spPr>
          <a:xfrm>
            <a:off x="0" y="0"/>
            <a:ext cx="12191700"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3" name="Google Shape;323;p38"/>
          <p:cNvSpPr/>
          <p:nvPr/>
        </p:nvSpPr>
        <p:spPr>
          <a:xfrm>
            <a:off x="0" y="1143000"/>
            <a:ext cx="12191700"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38"/>
          <p:cNvSpPr txBox="1"/>
          <p:nvPr/>
        </p:nvSpPr>
        <p:spPr>
          <a:xfrm>
            <a:off x="548640" y="109728"/>
            <a:ext cx="11094300" cy="718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300" b="1" i="0">
                <a:solidFill>
                  <a:srgbClr val="BFD3E6"/>
                </a:solidFill>
                <a:latin typeface="Calibri"/>
                <a:ea typeface="Calibri"/>
                <a:cs typeface="Calibri"/>
                <a:sym typeface="Calibri"/>
              </a:rPr>
              <a:t>PART 2 — Dataset &amp; Idea</a:t>
            </a:r>
            <a:endParaRPr/>
          </a:p>
          <a:p>
            <a:pPr marL="0" marR="0" lvl="0" indent="0" algn="l" rtl="0">
              <a:spcBef>
                <a:spcPts val="200"/>
              </a:spcBef>
              <a:spcAft>
                <a:spcPts val="0"/>
              </a:spcAft>
              <a:buNone/>
            </a:pPr>
            <a:r>
              <a:rPr lang="en-US" sz="2600" b="1" i="0">
                <a:solidFill>
                  <a:srgbClr val="FFFFFF"/>
                </a:solidFill>
                <a:latin typeface="Calibri"/>
                <a:ea typeface="Calibri"/>
                <a:cs typeface="Calibri"/>
                <a:sym typeface="Calibri"/>
              </a:rPr>
              <a:t>The idea: an emotional-tone moderation agent</a:t>
            </a:r>
            <a:endParaRPr/>
          </a:p>
        </p:txBody>
      </p:sp>
      <p:sp>
        <p:nvSpPr>
          <p:cNvPr id="325" name="Google Shape;325;p38"/>
          <p:cNvSpPr txBox="1"/>
          <p:nvPr/>
        </p:nvSpPr>
        <p:spPr>
          <a:xfrm>
            <a:off x="640080" y="1463040"/>
            <a:ext cx="10911600" cy="4017300"/>
          </a:xfrm>
          <a:prstGeom prst="rect">
            <a:avLst/>
          </a:prstGeom>
          <a:solidFill>
            <a:srgbClr val="000000">
              <a:alpha val="0"/>
            </a:srgbClr>
          </a:solid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3000" b="1">
                <a:solidFill>
                  <a:srgbClr val="0F8A78"/>
                </a:solidFill>
                <a:latin typeface="Calibri"/>
                <a:ea typeface="Calibri"/>
                <a:cs typeface="Calibri"/>
                <a:sym typeface="Calibri"/>
              </a:rPr>
              <a:t>▪ Most systems miss the emotional feel of a story → our focus.</a:t>
            </a:r>
            <a:endParaRPr sz="3000" b="1">
              <a:solidFill>
                <a:srgbClr val="0F8A78"/>
              </a:solidFill>
              <a:latin typeface="Calibri"/>
              <a:ea typeface="Calibri"/>
              <a:cs typeface="Calibri"/>
              <a:sym typeface="Calibri"/>
            </a:endParaRPr>
          </a:p>
          <a:p>
            <a:pPr marL="0" lvl="0" indent="0" algn="l" rtl="0">
              <a:spcBef>
                <a:spcPts val="1500"/>
              </a:spcBef>
              <a:spcAft>
                <a:spcPts val="0"/>
              </a:spcAft>
              <a:buNone/>
            </a:pPr>
            <a:r>
              <a:rPr lang="en-US" sz="3000" b="0">
                <a:solidFill>
                  <a:srgbClr val="1A1A1A"/>
                </a:solidFill>
                <a:latin typeface="Calibri"/>
                <a:ea typeface="Calibri"/>
                <a:cs typeface="Calibri"/>
                <a:sym typeface="Calibri"/>
              </a:rPr>
              <a:t>▪ Process: First AI writes → Second AI fixes the tone → Quick fact check.</a:t>
            </a:r>
            <a:endParaRPr sz="3000" b="1">
              <a:solidFill>
                <a:srgbClr val="0F8A78"/>
              </a:solidFill>
              <a:latin typeface="Calibri"/>
              <a:ea typeface="Calibri"/>
              <a:cs typeface="Calibri"/>
              <a:sym typeface="Calibri"/>
            </a:endParaRPr>
          </a:p>
          <a:p>
            <a:pPr marL="0" lvl="0" indent="0" algn="l" rtl="0">
              <a:spcBef>
                <a:spcPts val="1500"/>
              </a:spcBef>
              <a:spcAft>
                <a:spcPts val="0"/>
              </a:spcAft>
              <a:buNone/>
            </a:pPr>
            <a:r>
              <a:rPr lang="en-US" sz="3000" b="0">
                <a:solidFill>
                  <a:srgbClr val="1A1A1A"/>
                </a:solidFill>
                <a:latin typeface="Calibri"/>
                <a:ea typeface="Calibri"/>
                <a:cs typeface="Calibri"/>
                <a:sym typeface="Calibri"/>
              </a:rPr>
              <a:t>▪ Same data, two different moods</a:t>
            </a:r>
            <a:endParaRPr sz="3000" b="1">
              <a:solidFill>
                <a:srgbClr val="0F8A78"/>
              </a:solidFill>
              <a:latin typeface="Calibri"/>
              <a:ea typeface="Calibri"/>
              <a:cs typeface="Calibri"/>
              <a:sym typeface="Calibri"/>
            </a:endParaRPr>
          </a:p>
          <a:p>
            <a:pPr marL="457200" marR="0" lvl="0" indent="0" algn="l" rtl="0">
              <a:spcBef>
                <a:spcPts val="750"/>
              </a:spcBef>
              <a:spcAft>
                <a:spcPts val="0"/>
              </a:spcAft>
              <a:buNone/>
            </a:pPr>
            <a:r>
              <a:rPr lang="en-US" sz="2750" b="1">
                <a:solidFill>
                  <a:srgbClr val="C0392B"/>
                </a:solidFill>
                <a:latin typeface="Calibri"/>
                <a:ea typeface="Calibri"/>
                <a:cs typeface="Calibri"/>
                <a:sym typeface="Calibri"/>
              </a:rPr>
              <a:t>– “a deadly disease ROARS back” (scary / alarmist)</a:t>
            </a:r>
            <a:endParaRPr sz="3000" b="1">
              <a:solidFill>
                <a:srgbClr val="0F8A78"/>
              </a:solidFill>
              <a:latin typeface="Calibri"/>
              <a:ea typeface="Calibri"/>
              <a:cs typeface="Calibri"/>
              <a:sym typeface="Calibri"/>
            </a:endParaRPr>
          </a:p>
          <a:p>
            <a:pPr marL="457200" marR="0" lvl="0" indent="0" algn="l" rtl="0">
              <a:spcBef>
                <a:spcPts val="750"/>
              </a:spcBef>
              <a:spcAft>
                <a:spcPts val="0"/>
              </a:spcAft>
              <a:buNone/>
            </a:pPr>
            <a:r>
              <a:rPr lang="en-US" sz="2750" b="1">
                <a:solidFill>
                  <a:srgbClr val="0F8A78"/>
                </a:solidFill>
                <a:latin typeface="Calibri"/>
                <a:ea typeface="Calibri"/>
                <a:cs typeface="Calibri"/>
                <a:sym typeface="Calibri"/>
              </a:rPr>
              <a:t>– “cases rose as coverage stalled” (balanced / calm)</a:t>
            </a:r>
            <a:endParaRPr sz="3000" b="1">
              <a:solidFill>
                <a:srgbClr val="0F8A78"/>
              </a:solidFill>
              <a:latin typeface="Calibri"/>
              <a:ea typeface="Calibri"/>
              <a:cs typeface="Calibri"/>
              <a:sym typeface="Calibri"/>
            </a:endParaRPr>
          </a:p>
          <a:p>
            <a:pPr marL="0" lvl="0" indent="0" algn="l" rtl="0">
              <a:spcBef>
                <a:spcPts val="1500"/>
              </a:spcBef>
              <a:spcAft>
                <a:spcPts val="0"/>
              </a:spcAft>
              <a:buNone/>
            </a:pPr>
            <a:r>
              <a:rPr lang="en-US" sz="3000" b="0">
                <a:solidFill>
                  <a:srgbClr val="1A1A1A"/>
                </a:solidFill>
                <a:latin typeface="Calibri"/>
                <a:ea typeface="Calibri"/>
                <a:cs typeface="Calibri"/>
                <a:sym typeface="Calibri"/>
              </a:rPr>
              <a:t>▪ Test: Compare human stories to AI fixed stories for trust and quality.</a:t>
            </a:r>
            <a:endParaRPr sz="3000" b="1">
              <a:solidFill>
                <a:srgbClr val="0F8A78"/>
              </a:solidFill>
              <a:latin typeface="Calibri"/>
              <a:ea typeface="Calibri"/>
              <a:cs typeface="Calibri"/>
              <a:sym typeface="Calibri"/>
            </a:endParaRPr>
          </a:p>
        </p:txBody>
      </p:sp>
      <p:sp>
        <p:nvSpPr>
          <p:cNvPr id="326" name="Google Shape;326;p38"/>
          <p:cNvSpPr txBox="1"/>
          <p:nvPr/>
        </p:nvSpPr>
        <p:spPr>
          <a:xfrm>
            <a:off x="0" y="6473952"/>
            <a:ext cx="121917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327" name="Google Shape;327;p38"/>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10</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9"/>
          <p:cNvSpPr/>
          <p:nvPr/>
        </p:nvSpPr>
        <p:spPr>
          <a:xfrm>
            <a:off x="0" y="0"/>
            <a:ext cx="12191695" cy="6858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39"/>
          <p:cNvSpPr/>
          <p:nvPr/>
        </p:nvSpPr>
        <p:spPr>
          <a:xfrm>
            <a:off x="0" y="0"/>
            <a:ext cx="256032" cy="68580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39"/>
          <p:cNvSpPr txBox="1"/>
          <p:nvPr/>
        </p:nvSpPr>
        <p:spPr>
          <a:xfrm>
            <a:off x="1188720" y="2759243"/>
            <a:ext cx="9997135" cy="11490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i="0">
                <a:solidFill>
                  <a:srgbClr val="FFFFFF"/>
                </a:solidFill>
                <a:latin typeface="Calibri"/>
                <a:ea typeface="Calibri"/>
                <a:cs typeface="Calibri"/>
                <a:sym typeface="Calibri"/>
              </a:rPr>
              <a:t>Models &amp; Implementation</a:t>
            </a:r>
            <a:endParaRPr/>
          </a:p>
          <a:p>
            <a:pPr marL="0" marR="0" lvl="0" indent="0" algn="l" rtl="0">
              <a:spcBef>
                <a:spcPts val="800"/>
              </a:spcBef>
              <a:spcAft>
                <a:spcPts val="0"/>
              </a:spcAft>
              <a:buNone/>
            </a:pPr>
            <a:r>
              <a:rPr lang="en-US" sz="1800" b="0" i="1">
                <a:solidFill>
                  <a:srgbClr val="BFD3E6"/>
                </a:solidFill>
                <a:latin typeface="Calibri"/>
                <a:ea typeface="Calibri"/>
                <a:cs typeface="Calibri"/>
                <a:sym typeface="Calibri"/>
              </a:rPr>
              <a:t>What we built — and what it produced</a:t>
            </a:r>
            <a:endParaRPr/>
          </a:p>
        </p:txBody>
      </p:sp>
      <p:sp>
        <p:nvSpPr>
          <p:cNvPr id="336" name="Google Shape;336;p39"/>
          <p:cNvSpPr/>
          <p:nvPr/>
        </p:nvSpPr>
        <p:spPr>
          <a:xfrm>
            <a:off x="1234440" y="4160520"/>
            <a:ext cx="2377440" cy="508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39"/>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338" name="Google Shape;338;p39"/>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11</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0"/>
          <p:cNvSpPr/>
          <p:nvPr/>
        </p:nvSpPr>
        <p:spPr>
          <a:xfrm>
            <a:off x="0" y="0"/>
            <a:ext cx="12191695"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5" name="Google Shape;345;p40"/>
          <p:cNvSpPr/>
          <p:nvPr/>
        </p:nvSpPr>
        <p:spPr>
          <a:xfrm>
            <a:off x="0" y="1143000"/>
            <a:ext cx="12191695"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 name="Google Shape;346;p40"/>
          <p:cNvSpPr txBox="1"/>
          <p:nvPr/>
        </p:nvSpPr>
        <p:spPr>
          <a:xfrm>
            <a:off x="548640" y="109728"/>
            <a:ext cx="11094415" cy="9601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300" b="1" i="0">
                <a:solidFill>
                  <a:srgbClr val="BFD3E6"/>
                </a:solidFill>
                <a:latin typeface="Calibri"/>
                <a:ea typeface="Calibri"/>
                <a:cs typeface="Calibri"/>
                <a:sym typeface="Calibri"/>
              </a:rPr>
              <a:t>PART 3 — Models &amp; Implementation</a:t>
            </a:r>
            <a:endParaRPr/>
          </a:p>
          <a:p>
            <a:pPr marL="0" marR="0" lvl="0" indent="0" algn="l" rtl="0">
              <a:spcBef>
                <a:spcPts val="200"/>
              </a:spcBef>
              <a:spcAft>
                <a:spcPts val="0"/>
              </a:spcAft>
              <a:buNone/>
            </a:pPr>
            <a:r>
              <a:rPr lang="en-US" sz="2600" b="1" i="0">
                <a:solidFill>
                  <a:srgbClr val="FFFFFF"/>
                </a:solidFill>
                <a:latin typeface="Calibri"/>
                <a:ea typeface="Calibri"/>
                <a:cs typeface="Calibri"/>
                <a:sym typeface="Calibri"/>
              </a:rPr>
              <a:t>Our three-stage pipeline</a:t>
            </a:r>
            <a:endParaRPr/>
          </a:p>
        </p:txBody>
      </p:sp>
      <p:pic>
        <p:nvPicPr>
          <p:cNvPr id="347" name="Google Shape;347;p40" descr="pipeline_flow.png"/>
          <p:cNvPicPr preferRelativeResize="0"/>
          <p:nvPr/>
        </p:nvPicPr>
        <p:blipFill rotWithShape="1">
          <a:blip r:embed="rId3">
            <a:alphaModFix/>
          </a:blip>
          <a:srcRect/>
          <a:stretch/>
        </p:blipFill>
        <p:spPr>
          <a:xfrm>
            <a:off x="820185" y="1417320"/>
            <a:ext cx="10551325" cy="4343400"/>
          </a:xfrm>
          <a:prstGeom prst="rect">
            <a:avLst/>
          </a:prstGeom>
          <a:noFill/>
          <a:ln>
            <a:noFill/>
          </a:ln>
        </p:spPr>
      </p:pic>
      <p:sp>
        <p:nvSpPr>
          <p:cNvPr id="348" name="Google Shape;348;p40"/>
          <p:cNvSpPr txBox="1"/>
          <p:nvPr/>
        </p:nvSpPr>
        <p:spPr>
          <a:xfrm>
            <a:off x="640080" y="5897880"/>
            <a:ext cx="10911535" cy="7772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0" i="0">
                <a:solidFill>
                  <a:srgbClr val="5A5A5A"/>
                </a:solidFill>
                <a:latin typeface="Calibri"/>
                <a:ea typeface="Calibri"/>
                <a:cs typeface="Calibri"/>
                <a:sym typeface="Calibri"/>
              </a:rPr>
              <a:t>Grounded by our reproductions: Quintd faithfulness (gemma 18 % vs the paper's &gt; 80 %) and DataTales causal operation 0 % for both models → modern open models are fairly faithful, so TONE (not facts) is our novelty.</a:t>
            </a:r>
            <a:endParaRPr/>
          </a:p>
        </p:txBody>
      </p:sp>
      <p:sp>
        <p:nvSpPr>
          <p:cNvPr id="349" name="Google Shape;349;p40"/>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350" name="Google Shape;350;p40"/>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12</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1"/>
          <p:cNvSpPr/>
          <p:nvPr/>
        </p:nvSpPr>
        <p:spPr>
          <a:xfrm>
            <a:off x="0" y="0"/>
            <a:ext cx="12191695"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p41"/>
          <p:cNvSpPr/>
          <p:nvPr/>
        </p:nvSpPr>
        <p:spPr>
          <a:xfrm>
            <a:off x="0" y="1143000"/>
            <a:ext cx="12191695"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41"/>
          <p:cNvSpPr txBox="1"/>
          <p:nvPr/>
        </p:nvSpPr>
        <p:spPr>
          <a:xfrm>
            <a:off x="548640" y="109728"/>
            <a:ext cx="11094415" cy="9601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300" b="1" i="0">
                <a:solidFill>
                  <a:srgbClr val="BFD3E6"/>
                </a:solidFill>
                <a:latin typeface="Calibri"/>
                <a:ea typeface="Calibri"/>
                <a:cs typeface="Calibri"/>
                <a:sym typeface="Calibri"/>
              </a:rPr>
              <a:t>PART 3 — Models &amp; Implementation</a:t>
            </a:r>
            <a:endParaRPr/>
          </a:p>
          <a:p>
            <a:pPr marL="0" marR="0" lvl="0" indent="0" algn="l" rtl="0">
              <a:spcBef>
                <a:spcPts val="200"/>
              </a:spcBef>
              <a:spcAft>
                <a:spcPts val="0"/>
              </a:spcAft>
              <a:buNone/>
            </a:pPr>
            <a:r>
              <a:rPr lang="en-US" sz="2600" b="1" i="0">
                <a:solidFill>
                  <a:srgbClr val="FFFFFF"/>
                </a:solidFill>
                <a:latin typeface="Calibri"/>
                <a:ea typeface="Calibri"/>
                <a:cs typeface="Calibri"/>
                <a:sym typeface="Calibri"/>
              </a:rPr>
              <a:t>What the pipeline produced — a real run</a:t>
            </a:r>
            <a:endParaRPr/>
          </a:p>
        </p:txBody>
      </p:sp>
      <p:pic>
        <p:nvPicPr>
          <p:cNvPr id="359" name="Google Shape;359;p41" descr="redpen_diff.png"/>
          <p:cNvPicPr preferRelativeResize="0"/>
          <p:nvPr/>
        </p:nvPicPr>
        <p:blipFill rotWithShape="1">
          <a:blip r:embed="rId3">
            <a:alphaModFix/>
          </a:blip>
          <a:srcRect/>
          <a:stretch/>
        </p:blipFill>
        <p:spPr>
          <a:xfrm>
            <a:off x="1374241" y="1417320"/>
            <a:ext cx="9443212" cy="4343400"/>
          </a:xfrm>
          <a:prstGeom prst="rect">
            <a:avLst/>
          </a:prstGeom>
          <a:noFill/>
          <a:ln>
            <a:noFill/>
          </a:ln>
        </p:spPr>
      </p:pic>
      <p:sp>
        <p:nvSpPr>
          <p:cNvPr id="360" name="Google Shape;360;p41"/>
          <p:cNvSpPr txBox="1"/>
          <p:nvPr/>
        </p:nvSpPr>
        <p:spPr>
          <a:xfrm>
            <a:off x="640080" y="5897880"/>
            <a:ext cx="10911535" cy="7772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0" i="0">
                <a:solidFill>
                  <a:srgbClr val="5A5A5A"/>
                </a:solidFill>
                <a:latin typeface="Calibri"/>
                <a:ea typeface="Calibri"/>
                <a:cs typeface="Calibri"/>
                <a:sym typeface="Calibri"/>
              </a:rPr>
              <a:t>One real run on the measles data: the moderator stripped the alarmism and silently corrected the hallucinated number — but never flagged it. A tone agent is not a fact-checker.</a:t>
            </a:r>
            <a:endParaRPr/>
          </a:p>
        </p:txBody>
      </p:sp>
      <p:sp>
        <p:nvSpPr>
          <p:cNvPr id="361" name="Google Shape;361;p41"/>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362" name="Google Shape;362;p41"/>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13</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2"/>
          <p:cNvSpPr/>
          <p:nvPr/>
        </p:nvSpPr>
        <p:spPr>
          <a:xfrm>
            <a:off x="0" y="0"/>
            <a:ext cx="12191700"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p42"/>
          <p:cNvSpPr/>
          <p:nvPr/>
        </p:nvSpPr>
        <p:spPr>
          <a:xfrm>
            <a:off x="0" y="1143000"/>
            <a:ext cx="12191700"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42"/>
          <p:cNvSpPr txBox="1"/>
          <p:nvPr/>
        </p:nvSpPr>
        <p:spPr>
          <a:xfrm>
            <a:off x="548640" y="109728"/>
            <a:ext cx="11094300" cy="718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300" b="1" i="0">
                <a:solidFill>
                  <a:srgbClr val="BFD3E6"/>
                </a:solidFill>
                <a:latin typeface="Calibri"/>
                <a:ea typeface="Calibri"/>
                <a:cs typeface="Calibri"/>
                <a:sym typeface="Calibri"/>
              </a:rPr>
              <a:t>PART 3 — Models &amp; Implementation</a:t>
            </a:r>
            <a:endParaRPr/>
          </a:p>
          <a:p>
            <a:pPr marL="0" marR="0" lvl="0" indent="0" algn="l" rtl="0">
              <a:spcBef>
                <a:spcPts val="200"/>
              </a:spcBef>
              <a:spcAft>
                <a:spcPts val="0"/>
              </a:spcAft>
              <a:buNone/>
            </a:pPr>
            <a:r>
              <a:rPr lang="en-US" sz="2600" b="1" i="0">
                <a:solidFill>
                  <a:srgbClr val="FFFFFF"/>
                </a:solidFill>
                <a:latin typeface="Calibri"/>
                <a:ea typeface="Calibri"/>
                <a:cs typeface="Calibri"/>
                <a:sym typeface="Calibri"/>
              </a:rPr>
              <a:t>Evaluation metrics</a:t>
            </a:r>
            <a:endParaRPr/>
          </a:p>
        </p:txBody>
      </p:sp>
      <p:grpSp>
        <p:nvGrpSpPr>
          <p:cNvPr id="371" name="Google Shape;371;p42"/>
          <p:cNvGrpSpPr/>
          <p:nvPr/>
        </p:nvGrpSpPr>
        <p:grpSpPr>
          <a:xfrm>
            <a:off x="638175" y="1524000"/>
            <a:ext cx="5048400" cy="1905000"/>
            <a:chOff x="0" y="0"/>
            <a:chExt cx="5048400" cy="1905000"/>
          </a:xfrm>
        </p:grpSpPr>
        <p:sp>
          <p:nvSpPr>
            <p:cNvPr id="372" name="Google Shape;372;p42"/>
            <p:cNvSpPr/>
            <p:nvPr/>
          </p:nvSpPr>
          <p:spPr>
            <a:xfrm>
              <a:off x="0" y="0"/>
              <a:ext cx="5048400" cy="1905000"/>
            </a:xfrm>
            <a:prstGeom prst="roundRect">
              <a:avLst>
                <a:gd name="adj" fmla="val 75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3" name="Google Shape;373;p42"/>
            <p:cNvSpPr txBox="1"/>
            <p:nvPr/>
          </p:nvSpPr>
          <p:spPr>
            <a:xfrm>
              <a:off x="0" y="0"/>
              <a:ext cx="5048400" cy="19050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2200" b="1">
                  <a:solidFill>
                    <a:srgbClr val="00305D"/>
                  </a:solidFill>
                  <a:latin typeface="Calibri"/>
                  <a:ea typeface="Calibri"/>
                  <a:cs typeface="Calibri"/>
                  <a:sym typeface="Calibri"/>
                </a:rPr>
                <a:t>Faithfulness</a:t>
              </a:r>
              <a:endParaRPr sz="2200" b="1">
                <a:solidFill>
                  <a:srgbClr val="00305D"/>
                </a:solidFill>
                <a:latin typeface="Calibri"/>
                <a:ea typeface="Calibri"/>
                <a:cs typeface="Calibri"/>
                <a:sym typeface="Calibri"/>
              </a:endParaRPr>
            </a:p>
            <a:p>
              <a:pPr marL="0" lvl="0" indent="0" algn="l" rtl="0">
                <a:spcBef>
                  <a:spcPts val="1125"/>
                </a:spcBef>
                <a:spcAft>
                  <a:spcPts val="0"/>
                </a:spcAft>
                <a:buNone/>
              </a:pPr>
              <a:r>
                <a:rPr lang="en-US" sz="1600">
                  <a:solidFill>
                    <a:srgbClr val="4A5568"/>
                  </a:solidFill>
                  <a:latin typeface="Calibri"/>
                  <a:ea typeface="Calibri"/>
                  <a:cs typeface="Calibri"/>
                  <a:sym typeface="Calibri"/>
                </a:rPr>
                <a:t>% of outputs with ≥ 1 semantic error; % of stated numbers correct.</a:t>
              </a:r>
              <a:endParaRPr sz="1600">
                <a:solidFill>
                  <a:srgbClr val="4A5568"/>
                </a:solidFill>
                <a:latin typeface="Calibri"/>
                <a:ea typeface="Calibri"/>
                <a:cs typeface="Calibri"/>
                <a:sym typeface="Calibri"/>
              </a:endParaRPr>
            </a:p>
          </p:txBody>
        </p:sp>
      </p:grpSp>
      <p:sp>
        <p:nvSpPr>
          <p:cNvPr id="374" name="Google Shape;374;p42"/>
          <p:cNvSpPr txBox="1"/>
          <p:nvPr/>
        </p:nvSpPr>
        <p:spPr>
          <a:xfrm>
            <a:off x="0" y="6473952"/>
            <a:ext cx="121917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grpSp>
        <p:nvGrpSpPr>
          <p:cNvPr id="375" name="Google Shape;375;p42"/>
          <p:cNvGrpSpPr/>
          <p:nvPr/>
        </p:nvGrpSpPr>
        <p:grpSpPr>
          <a:xfrm>
            <a:off x="6162675" y="1524000"/>
            <a:ext cx="5048400" cy="1905000"/>
            <a:chOff x="0" y="0"/>
            <a:chExt cx="5048400" cy="1905000"/>
          </a:xfrm>
        </p:grpSpPr>
        <p:sp>
          <p:nvSpPr>
            <p:cNvPr id="376" name="Google Shape;376;p42"/>
            <p:cNvSpPr/>
            <p:nvPr/>
          </p:nvSpPr>
          <p:spPr>
            <a:xfrm>
              <a:off x="0" y="0"/>
              <a:ext cx="5048400" cy="1905000"/>
            </a:xfrm>
            <a:prstGeom prst="roundRect">
              <a:avLst>
                <a:gd name="adj" fmla="val 75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7" name="Google Shape;377;p42"/>
            <p:cNvSpPr txBox="1"/>
            <p:nvPr/>
          </p:nvSpPr>
          <p:spPr>
            <a:xfrm>
              <a:off x="0" y="0"/>
              <a:ext cx="5048400" cy="19050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2200" b="1">
                  <a:solidFill>
                    <a:srgbClr val="00305D"/>
                  </a:solidFill>
                  <a:latin typeface="Calibri"/>
                  <a:ea typeface="Calibri"/>
                  <a:cs typeface="Calibri"/>
                  <a:sym typeface="Calibri"/>
                </a:rPr>
                <a:t>Analytical correctness</a:t>
              </a:r>
              <a:endParaRPr sz="2200" b="1">
                <a:solidFill>
                  <a:srgbClr val="00305D"/>
                </a:solidFill>
                <a:latin typeface="Calibri"/>
                <a:ea typeface="Calibri"/>
                <a:cs typeface="Calibri"/>
                <a:sym typeface="Calibri"/>
              </a:endParaRPr>
            </a:p>
            <a:p>
              <a:pPr marL="0" lvl="0" indent="0" algn="l" rtl="0">
                <a:spcBef>
                  <a:spcPts val="1125"/>
                </a:spcBef>
                <a:spcAft>
                  <a:spcPts val="0"/>
                </a:spcAft>
                <a:buNone/>
              </a:pPr>
              <a:r>
                <a:rPr lang="en-US" sz="1600">
                  <a:solidFill>
                    <a:srgbClr val="4A5568"/>
                  </a:solidFill>
                  <a:latin typeface="Calibri"/>
                  <a:ea typeface="Calibri"/>
                  <a:cs typeface="Calibri"/>
                  <a:sym typeface="Calibri"/>
                </a:rPr>
                <a:t>Per-operation accuracy (lookup, comparison, trend, rate, causal — causal is hardest).</a:t>
              </a:r>
              <a:endParaRPr sz="1600">
                <a:solidFill>
                  <a:srgbClr val="4A5568"/>
                </a:solidFill>
                <a:latin typeface="Calibri"/>
                <a:ea typeface="Calibri"/>
                <a:cs typeface="Calibri"/>
                <a:sym typeface="Calibri"/>
              </a:endParaRPr>
            </a:p>
          </p:txBody>
        </p:sp>
      </p:grpSp>
      <p:sp>
        <p:nvSpPr>
          <p:cNvPr id="378" name="Google Shape;378;p42"/>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14</a:t>
            </a:r>
            <a:endParaRPr sz="2000"/>
          </a:p>
        </p:txBody>
      </p:sp>
      <p:grpSp>
        <p:nvGrpSpPr>
          <p:cNvPr id="379" name="Google Shape;379;p42"/>
          <p:cNvGrpSpPr/>
          <p:nvPr/>
        </p:nvGrpSpPr>
        <p:grpSpPr>
          <a:xfrm>
            <a:off x="638175" y="3810000"/>
            <a:ext cx="5048400" cy="2095500"/>
            <a:chOff x="0" y="0"/>
            <a:chExt cx="5048400" cy="2095500"/>
          </a:xfrm>
        </p:grpSpPr>
        <p:sp>
          <p:nvSpPr>
            <p:cNvPr id="380" name="Google Shape;380;p42"/>
            <p:cNvSpPr/>
            <p:nvPr/>
          </p:nvSpPr>
          <p:spPr>
            <a:xfrm>
              <a:off x="0" y="0"/>
              <a:ext cx="5048400" cy="2095500"/>
            </a:xfrm>
            <a:prstGeom prst="roundRect">
              <a:avLst>
                <a:gd name="adj" fmla="val 6818"/>
              </a:avLst>
            </a:prstGeom>
            <a:solidFill>
              <a:srgbClr val="E6FFFA"/>
            </a:solidFill>
            <a:ln w="19050" cap="flat" cmpd="sng">
              <a:solidFill>
                <a:srgbClr val="0F8A7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1" name="Google Shape;381;p42"/>
            <p:cNvSpPr txBox="1"/>
            <p:nvPr/>
          </p:nvSpPr>
          <p:spPr>
            <a:xfrm>
              <a:off x="0" y="0"/>
              <a:ext cx="5048400" cy="20955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2200" b="1">
                  <a:solidFill>
                    <a:srgbClr val="0F8A78"/>
                  </a:solidFill>
                  <a:latin typeface="Calibri"/>
                  <a:ea typeface="Calibri"/>
                  <a:cs typeface="Calibri"/>
                  <a:sym typeface="Calibri"/>
                </a:rPr>
                <a:t>Tone calibration (NOVEL)</a:t>
              </a:r>
              <a:endParaRPr sz="2200" b="1">
                <a:solidFill>
                  <a:srgbClr val="0F8A78"/>
                </a:solidFill>
                <a:latin typeface="Calibri"/>
                <a:ea typeface="Calibri"/>
                <a:cs typeface="Calibri"/>
                <a:sym typeface="Calibri"/>
              </a:endParaRPr>
            </a:p>
            <a:p>
              <a:pPr marL="0" lvl="0" indent="0" algn="l" rtl="0">
                <a:spcBef>
                  <a:spcPts val="1125"/>
                </a:spcBef>
                <a:spcAft>
                  <a:spcPts val="0"/>
                </a:spcAft>
                <a:buNone/>
              </a:pPr>
              <a:r>
                <a:rPr lang="en-US" sz="1600" b="1">
                  <a:solidFill>
                    <a:srgbClr val="2D3748"/>
                  </a:solidFill>
                  <a:latin typeface="Calibri"/>
                  <a:ea typeface="Calibri"/>
                  <a:cs typeface="Calibri"/>
                  <a:sym typeface="Calibri"/>
                </a:rPr>
                <a:t>Alarmism 1–5 before vs after + emotive spans removed; faithfulness re-checked.</a:t>
              </a:r>
              <a:endParaRPr sz="1600" b="1">
                <a:solidFill>
                  <a:srgbClr val="2D3748"/>
                </a:solidFill>
                <a:latin typeface="Calibri"/>
                <a:ea typeface="Calibri"/>
                <a:cs typeface="Calibri"/>
                <a:sym typeface="Calibri"/>
              </a:endParaRPr>
            </a:p>
          </p:txBody>
        </p:sp>
      </p:grpSp>
      <p:grpSp>
        <p:nvGrpSpPr>
          <p:cNvPr id="382" name="Google Shape;382;p42"/>
          <p:cNvGrpSpPr/>
          <p:nvPr/>
        </p:nvGrpSpPr>
        <p:grpSpPr>
          <a:xfrm>
            <a:off x="6162675" y="3810000"/>
            <a:ext cx="5048400" cy="2095500"/>
            <a:chOff x="0" y="0"/>
            <a:chExt cx="5048400" cy="2095500"/>
          </a:xfrm>
        </p:grpSpPr>
        <p:sp>
          <p:nvSpPr>
            <p:cNvPr id="383" name="Google Shape;383;p42"/>
            <p:cNvSpPr/>
            <p:nvPr/>
          </p:nvSpPr>
          <p:spPr>
            <a:xfrm>
              <a:off x="0" y="0"/>
              <a:ext cx="5048400" cy="2095500"/>
            </a:xfrm>
            <a:prstGeom prst="roundRect">
              <a:avLst>
                <a:gd name="adj" fmla="val 681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4" name="Google Shape;384;p42"/>
            <p:cNvSpPr txBox="1"/>
            <p:nvPr/>
          </p:nvSpPr>
          <p:spPr>
            <a:xfrm>
              <a:off x="0" y="0"/>
              <a:ext cx="5048400" cy="20955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2200" b="1">
                  <a:solidFill>
                    <a:srgbClr val="00305D"/>
                  </a:solidFill>
                  <a:latin typeface="Calibri"/>
                  <a:ea typeface="Calibri"/>
                  <a:cs typeface="Calibri"/>
                  <a:sym typeface="Calibri"/>
                </a:rPr>
                <a:t>User study</a:t>
              </a:r>
              <a:endParaRPr sz="2200" b="1">
                <a:solidFill>
                  <a:srgbClr val="00305D"/>
                </a:solidFill>
                <a:latin typeface="Calibri"/>
                <a:ea typeface="Calibri"/>
                <a:cs typeface="Calibri"/>
                <a:sym typeface="Calibri"/>
              </a:endParaRPr>
            </a:p>
            <a:p>
              <a:pPr marL="0" lvl="0" indent="0" algn="l" rtl="0">
                <a:spcBef>
                  <a:spcPts val="1125"/>
                </a:spcBef>
                <a:spcAft>
                  <a:spcPts val="0"/>
                </a:spcAft>
                <a:buNone/>
              </a:pPr>
              <a:r>
                <a:rPr lang="en-US" sz="1600">
                  <a:solidFill>
                    <a:srgbClr val="4A5568"/>
                  </a:solidFill>
                  <a:latin typeface="Calibri"/>
                  <a:ea typeface="Calibri"/>
                  <a:cs typeface="Calibri"/>
                  <a:sym typeface="Calibri"/>
                </a:rPr>
                <a:t>Trust, engagement, readability, human-vs-LLM preference.</a:t>
              </a:r>
              <a:endParaRPr sz="1600">
                <a:solidFill>
                  <a:srgbClr val="4A5568"/>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3"/>
          <p:cNvSpPr/>
          <p:nvPr/>
        </p:nvSpPr>
        <p:spPr>
          <a:xfrm>
            <a:off x="0" y="0"/>
            <a:ext cx="12191695" cy="6858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1" name="Google Shape;391;p43"/>
          <p:cNvSpPr/>
          <p:nvPr/>
        </p:nvSpPr>
        <p:spPr>
          <a:xfrm>
            <a:off x="0" y="0"/>
            <a:ext cx="256032" cy="68580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2" name="Google Shape;392;p43"/>
          <p:cNvSpPr txBox="1"/>
          <p:nvPr/>
        </p:nvSpPr>
        <p:spPr>
          <a:xfrm>
            <a:off x="1188720" y="2735179"/>
            <a:ext cx="9997200" cy="114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rgbClr val="FFFFFF"/>
                </a:solidFill>
                <a:latin typeface="Calibri"/>
                <a:ea typeface="Calibri"/>
                <a:cs typeface="Calibri"/>
                <a:sym typeface="Calibri"/>
              </a:rPr>
              <a:t>Results</a:t>
            </a:r>
            <a:endParaRPr/>
          </a:p>
          <a:p>
            <a:pPr marL="0" marR="0" lvl="0" indent="0" algn="l" rtl="0">
              <a:spcBef>
                <a:spcPts val="800"/>
              </a:spcBef>
              <a:spcAft>
                <a:spcPts val="0"/>
              </a:spcAft>
              <a:buNone/>
            </a:pPr>
            <a:r>
              <a:rPr lang="en-US" sz="1800" i="1">
                <a:solidFill>
                  <a:srgbClr val="BFD3E6"/>
                </a:solidFill>
                <a:latin typeface="Calibri"/>
                <a:ea typeface="Calibri"/>
                <a:cs typeface="Calibri"/>
                <a:sym typeface="Calibri"/>
              </a:rPr>
              <a:t>Testing of our pipeline output with LLMs and computing relevant prompts</a:t>
            </a:r>
            <a:endParaRPr/>
          </a:p>
        </p:txBody>
      </p:sp>
      <p:sp>
        <p:nvSpPr>
          <p:cNvPr id="393" name="Google Shape;393;p43"/>
          <p:cNvSpPr/>
          <p:nvPr/>
        </p:nvSpPr>
        <p:spPr>
          <a:xfrm>
            <a:off x="1234440" y="4160520"/>
            <a:ext cx="2377440" cy="508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4" name="Google Shape;394;p43"/>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395" name="Google Shape;395;p43"/>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15</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400"/>
        <p:cNvGrpSpPr/>
        <p:nvPr/>
      </p:nvGrpSpPr>
      <p:grpSpPr>
        <a:xfrm>
          <a:off x="0" y="0"/>
          <a:ext cx="0" cy="0"/>
          <a:chOff x="0" y="0"/>
          <a:chExt cx="0" cy="0"/>
        </a:xfrm>
      </p:grpSpPr>
      <p:sp>
        <p:nvSpPr>
          <p:cNvPr id="401" name="Google Shape;401;p44"/>
          <p:cNvSpPr/>
          <p:nvPr/>
        </p:nvSpPr>
        <p:spPr>
          <a:xfrm>
            <a:off x="0" y="0"/>
            <a:ext cx="12191700"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2" name="Google Shape;402;p44"/>
          <p:cNvSpPr/>
          <p:nvPr/>
        </p:nvSpPr>
        <p:spPr>
          <a:xfrm>
            <a:off x="0" y="1143000"/>
            <a:ext cx="12191700"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3" name="Google Shape;403;p44"/>
          <p:cNvSpPr txBox="1"/>
          <p:nvPr/>
        </p:nvSpPr>
        <p:spPr>
          <a:xfrm>
            <a:off x="548640" y="230715"/>
            <a:ext cx="11094300" cy="718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300" b="1" i="0">
                <a:solidFill>
                  <a:srgbClr val="BFD3E6"/>
                </a:solidFill>
                <a:latin typeface="Calibri"/>
                <a:ea typeface="Calibri"/>
                <a:cs typeface="Calibri"/>
                <a:sym typeface="Calibri"/>
              </a:rPr>
              <a:t>PART 4 — Web Application</a:t>
            </a:r>
            <a:endParaRPr/>
          </a:p>
          <a:p>
            <a:pPr marL="0" marR="0" lvl="0" indent="0" algn="l" rtl="0">
              <a:spcBef>
                <a:spcPts val="200"/>
              </a:spcBef>
              <a:spcAft>
                <a:spcPts val="0"/>
              </a:spcAft>
              <a:buNone/>
            </a:pPr>
            <a:r>
              <a:rPr lang="en-US" sz="2600" b="1" i="0">
                <a:solidFill>
                  <a:srgbClr val="FFFFFF"/>
                </a:solidFill>
                <a:latin typeface="Calibri"/>
                <a:ea typeface="Calibri"/>
                <a:cs typeface="Calibri"/>
                <a:sym typeface="Calibri"/>
              </a:rPr>
              <a:t>Home page</a:t>
            </a:r>
            <a:endParaRPr sz="2600" b="1" i="0">
              <a:solidFill>
                <a:srgbClr val="FFFFFF"/>
              </a:solidFill>
              <a:latin typeface="Calibri"/>
              <a:ea typeface="Calibri"/>
              <a:cs typeface="Calibri"/>
              <a:sym typeface="Calibri"/>
            </a:endParaRPr>
          </a:p>
        </p:txBody>
      </p:sp>
      <p:sp>
        <p:nvSpPr>
          <p:cNvPr id="404" name="Google Shape;404;p44"/>
          <p:cNvSpPr txBox="1"/>
          <p:nvPr/>
        </p:nvSpPr>
        <p:spPr>
          <a:xfrm>
            <a:off x="0" y="6473952"/>
            <a:ext cx="121917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405" name="Google Shape;405;p44"/>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16</a:t>
            </a:r>
            <a:endParaRPr sz="2000"/>
          </a:p>
        </p:txBody>
      </p:sp>
      <p:pic>
        <p:nvPicPr>
          <p:cNvPr id="406" name="Google Shape;406;p44"/>
          <p:cNvPicPr preferRelativeResize="0"/>
          <p:nvPr/>
        </p:nvPicPr>
        <p:blipFill rotWithShape="1">
          <a:blip r:embed="rId3">
            <a:alphaModFix/>
          </a:blip>
          <a:srcRect t="30771" b="30771"/>
          <a:stretch/>
        </p:blipFill>
        <p:spPr>
          <a:xfrm>
            <a:off x="6286500" y="1524000"/>
            <a:ext cx="5334000" cy="4572000"/>
          </a:xfrm>
          <a:prstGeom prst="roundRect">
            <a:avLst>
              <a:gd name="adj" fmla="val 3125"/>
            </a:avLst>
          </a:prstGeom>
          <a:noFill/>
          <a:ln>
            <a:noFill/>
          </a:ln>
        </p:spPr>
      </p:pic>
      <p:grpSp>
        <p:nvGrpSpPr>
          <p:cNvPr id="407" name="Google Shape;407;p44"/>
          <p:cNvGrpSpPr/>
          <p:nvPr/>
        </p:nvGrpSpPr>
        <p:grpSpPr>
          <a:xfrm>
            <a:off x="638175" y="1524000"/>
            <a:ext cx="5048400" cy="4572150"/>
            <a:chOff x="638175" y="1524000"/>
            <a:chExt cx="5048400" cy="4572150"/>
          </a:xfrm>
        </p:grpSpPr>
        <p:grpSp>
          <p:nvGrpSpPr>
            <p:cNvPr id="408" name="Google Shape;408;p44"/>
            <p:cNvGrpSpPr/>
            <p:nvPr/>
          </p:nvGrpSpPr>
          <p:grpSpPr>
            <a:xfrm>
              <a:off x="638175" y="1524000"/>
              <a:ext cx="5048400" cy="1428900"/>
              <a:chOff x="0" y="0"/>
              <a:chExt cx="5048400" cy="1428900"/>
            </a:xfrm>
          </p:grpSpPr>
          <p:sp>
            <p:nvSpPr>
              <p:cNvPr id="409" name="Google Shape;409;p44"/>
              <p:cNvSpPr/>
              <p:nvPr/>
            </p:nvSpPr>
            <p:spPr>
              <a:xfrm>
                <a:off x="0" y="0"/>
                <a:ext cx="5048400" cy="1428900"/>
              </a:xfrm>
              <a:prstGeom prst="roundRect">
                <a:avLst>
                  <a:gd name="adj" fmla="val 10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0" name="Google Shape;410;p44"/>
              <p:cNvSpPr txBox="1"/>
              <p:nvPr/>
            </p:nvSpPr>
            <p:spPr>
              <a:xfrm>
                <a:off x="0" y="0"/>
                <a:ext cx="5048400" cy="14289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2000" b="1">
                    <a:solidFill>
                      <a:srgbClr val="00305D"/>
                    </a:solidFill>
                    <a:latin typeface="Calibri"/>
                    <a:ea typeface="Calibri"/>
                    <a:cs typeface="Calibri"/>
                    <a:sym typeface="Calibri"/>
                  </a:rPr>
                  <a:t>Hero &amp; Vision</a:t>
                </a:r>
                <a:endParaRPr sz="2000" b="1">
                  <a:solidFill>
                    <a:srgbClr val="00305D"/>
                  </a:solidFill>
                  <a:latin typeface="Calibri"/>
                  <a:ea typeface="Calibri"/>
                  <a:cs typeface="Calibri"/>
                  <a:sym typeface="Calibri"/>
                </a:endParaRPr>
              </a:p>
              <a:p>
                <a:pPr marL="0" lvl="0" indent="0" algn="l" rtl="0">
                  <a:spcBef>
                    <a:spcPts val="750"/>
                  </a:spcBef>
                  <a:spcAft>
                    <a:spcPts val="0"/>
                  </a:spcAft>
                  <a:buNone/>
                </a:pPr>
                <a:r>
                  <a:rPr lang="en-US" sz="1400">
                    <a:solidFill>
                      <a:srgbClr val="4A5568"/>
                    </a:solidFill>
                    <a:latin typeface="Calibri"/>
                    <a:ea typeface="Calibri"/>
                    <a:cs typeface="Calibri"/>
                    <a:sym typeface="Calibri"/>
                  </a:rPr>
                  <a:t>Display the title and the core mission/main idea of the web application.</a:t>
                </a:r>
                <a:endParaRPr sz="1400">
                  <a:solidFill>
                    <a:srgbClr val="4A5568"/>
                  </a:solidFill>
                  <a:latin typeface="Calibri"/>
                  <a:ea typeface="Calibri"/>
                  <a:cs typeface="Calibri"/>
                  <a:sym typeface="Calibri"/>
                </a:endParaRPr>
              </a:p>
            </p:txBody>
          </p:sp>
        </p:grpSp>
        <p:grpSp>
          <p:nvGrpSpPr>
            <p:cNvPr id="411" name="Google Shape;411;p44"/>
            <p:cNvGrpSpPr/>
            <p:nvPr/>
          </p:nvGrpSpPr>
          <p:grpSpPr>
            <a:xfrm>
              <a:off x="638175" y="3095625"/>
              <a:ext cx="5048400" cy="1428900"/>
              <a:chOff x="0" y="0"/>
              <a:chExt cx="5048400" cy="1428900"/>
            </a:xfrm>
          </p:grpSpPr>
          <p:sp>
            <p:nvSpPr>
              <p:cNvPr id="412" name="Google Shape;412;p44"/>
              <p:cNvSpPr/>
              <p:nvPr/>
            </p:nvSpPr>
            <p:spPr>
              <a:xfrm>
                <a:off x="0" y="0"/>
                <a:ext cx="5048400" cy="1428900"/>
              </a:xfrm>
              <a:prstGeom prst="roundRect">
                <a:avLst>
                  <a:gd name="adj" fmla="val 10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3" name="Google Shape;413;p44"/>
              <p:cNvSpPr txBox="1"/>
              <p:nvPr/>
            </p:nvSpPr>
            <p:spPr>
              <a:xfrm>
                <a:off x="0" y="0"/>
                <a:ext cx="5048400" cy="14289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2000" b="1">
                    <a:solidFill>
                      <a:srgbClr val="00305D"/>
                    </a:solidFill>
                    <a:latin typeface="Calibri"/>
                    <a:ea typeface="Calibri"/>
                    <a:cs typeface="Calibri"/>
                    <a:sym typeface="Calibri"/>
                  </a:rPr>
                  <a:t>Feature Overview</a:t>
                </a:r>
                <a:endParaRPr sz="2000" b="1">
                  <a:solidFill>
                    <a:srgbClr val="00305D"/>
                  </a:solidFill>
                  <a:latin typeface="Calibri"/>
                  <a:ea typeface="Calibri"/>
                  <a:cs typeface="Calibri"/>
                  <a:sym typeface="Calibri"/>
                </a:endParaRPr>
              </a:p>
              <a:p>
                <a:pPr marL="0" lvl="0" indent="0" algn="l" rtl="0">
                  <a:spcBef>
                    <a:spcPts val="750"/>
                  </a:spcBef>
                  <a:spcAft>
                    <a:spcPts val="0"/>
                  </a:spcAft>
                  <a:buNone/>
                </a:pPr>
                <a:r>
                  <a:rPr lang="en-US" sz="1400">
                    <a:solidFill>
                      <a:srgbClr val="4A5568"/>
                    </a:solidFill>
                    <a:latin typeface="Calibri"/>
                    <a:ea typeface="Calibri"/>
                    <a:cs typeface="Calibri"/>
                    <a:sym typeface="Calibri"/>
                  </a:rPr>
                  <a:t>Comprehensive explanation of the platform's unique offerings and key features.</a:t>
                </a:r>
                <a:endParaRPr sz="1400">
                  <a:solidFill>
                    <a:srgbClr val="4A5568"/>
                  </a:solidFill>
                  <a:latin typeface="Calibri"/>
                  <a:ea typeface="Calibri"/>
                  <a:cs typeface="Calibri"/>
                  <a:sym typeface="Calibri"/>
                </a:endParaRPr>
              </a:p>
            </p:txBody>
          </p:sp>
        </p:grpSp>
        <p:grpSp>
          <p:nvGrpSpPr>
            <p:cNvPr id="414" name="Google Shape;414;p44"/>
            <p:cNvGrpSpPr/>
            <p:nvPr/>
          </p:nvGrpSpPr>
          <p:grpSpPr>
            <a:xfrm>
              <a:off x="638175" y="4667250"/>
              <a:ext cx="5048400" cy="1428900"/>
              <a:chOff x="0" y="0"/>
              <a:chExt cx="5048400" cy="1428900"/>
            </a:xfrm>
          </p:grpSpPr>
          <p:sp>
            <p:nvSpPr>
              <p:cNvPr id="415" name="Google Shape;415;p44"/>
              <p:cNvSpPr/>
              <p:nvPr/>
            </p:nvSpPr>
            <p:spPr>
              <a:xfrm>
                <a:off x="0" y="0"/>
                <a:ext cx="5048400" cy="1428900"/>
              </a:xfrm>
              <a:prstGeom prst="roundRect">
                <a:avLst>
                  <a:gd name="adj" fmla="val 10000"/>
                </a:avLst>
              </a:prstGeom>
              <a:solidFill>
                <a:srgbClr val="E6FFFA"/>
              </a:solidFill>
              <a:ln w="19050" cap="flat" cmpd="sng">
                <a:solidFill>
                  <a:srgbClr val="0F8A7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6" name="Google Shape;416;p44"/>
              <p:cNvSpPr txBox="1"/>
              <p:nvPr/>
            </p:nvSpPr>
            <p:spPr>
              <a:xfrm>
                <a:off x="0" y="0"/>
                <a:ext cx="5048400" cy="14289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2000" b="1">
                    <a:solidFill>
                      <a:srgbClr val="0F8A78"/>
                    </a:solidFill>
                    <a:latin typeface="Calibri"/>
                    <a:ea typeface="Calibri"/>
                    <a:cs typeface="Calibri"/>
                    <a:sym typeface="Calibri"/>
                  </a:rPr>
                  <a:t>Call to Action</a:t>
                </a:r>
                <a:endParaRPr sz="2000" b="1">
                  <a:solidFill>
                    <a:srgbClr val="0F8A78"/>
                  </a:solidFill>
                  <a:latin typeface="Calibri"/>
                  <a:ea typeface="Calibri"/>
                  <a:cs typeface="Calibri"/>
                  <a:sym typeface="Calibri"/>
                </a:endParaRPr>
              </a:p>
              <a:p>
                <a:pPr marL="0" lvl="0" indent="0" algn="l" rtl="0">
                  <a:spcBef>
                    <a:spcPts val="750"/>
                  </a:spcBef>
                  <a:spcAft>
                    <a:spcPts val="0"/>
                  </a:spcAft>
                  <a:buNone/>
                </a:pPr>
                <a:r>
                  <a:rPr lang="en-US" sz="1400">
                    <a:solidFill>
                      <a:srgbClr val="2D3748"/>
                    </a:solidFill>
                    <a:latin typeface="Calibri"/>
                    <a:ea typeface="Calibri"/>
                    <a:cs typeface="Calibri"/>
                    <a:sym typeface="Calibri"/>
                  </a:rPr>
                  <a:t>Direct navigation via a primary button to the core story generation workflow.</a:t>
                </a:r>
                <a:endParaRPr sz="1400">
                  <a:solidFill>
                    <a:srgbClr val="2D3748"/>
                  </a:solidFill>
                  <a:latin typeface="Calibri"/>
                  <a:ea typeface="Calibri"/>
                  <a:cs typeface="Calibri"/>
                  <a:sym typeface="Calibri"/>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421"/>
        <p:cNvGrpSpPr/>
        <p:nvPr/>
      </p:nvGrpSpPr>
      <p:grpSpPr>
        <a:xfrm>
          <a:off x="0" y="0"/>
          <a:ext cx="0" cy="0"/>
          <a:chOff x="0" y="0"/>
          <a:chExt cx="0" cy="0"/>
        </a:xfrm>
      </p:grpSpPr>
      <p:sp>
        <p:nvSpPr>
          <p:cNvPr id="422" name="Google Shape;422;p45"/>
          <p:cNvSpPr/>
          <p:nvPr/>
        </p:nvSpPr>
        <p:spPr>
          <a:xfrm>
            <a:off x="0" y="0"/>
            <a:ext cx="12191700"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45"/>
          <p:cNvSpPr/>
          <p:nvPr/>
        </p:nvSpPr>
        <p:spPr>
          <a:xfrm>
            <a:off x="0" y="1143000"/>
            <a:ext cx="12191700"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p45"/>
          <p:cNvSpPr txBox="1"/>
          <p:nvPr/>
        </p:nvSpPr>
        <p:spPr>
          <a:xfrm>
            <a:off x="548640" y="230715"/>
            <a:ext cx="11094300" cy="7182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300" b="1" i="0">
                <a:solidFill>
                  <a:srgbClr val="BFD3E6"/>
                </a:solidFill>
                <a:latin typeface="Calibri"/>
                <a:ea typeface="Calibri"/>
                <a:cs typeface="Calibri"/>
                <a:sym typeface="Calibri"/>
              </a:rPr>
              <a:t>PART 4 — Web Application</a:t>
            </a:r>
            <a:endParaRPr/>
          </a:p>
          <a:p>
            <a:pPr marL="0" marR="0" lvl="0" indent="0" algn="l" rtl="0">
              <a:spcBef>
                <a:spcPts val="200"/>
              </a:spcBef>
              <a:spcAft>
                <a:spcPts val="0"/>
              </a:spcAft>
              <a:buNone/>
            </a:pPr>
            <a:r>
              <a:rPr lang="en-US" sz="2600" b="1" i="0">
                <a:solidFill>
                  <a:srgbClr val="FFFFFF"/>
                </a:solidFill>
                <a:latin typeface="Calibri"/>
                <a:ea typeface="Calibri"/>
                <a:cs typeface="Calibri"/>
                <a:sym typeface="Calibri"/>
              </a:rPr>
              <a:t>Story Generation Page</a:t>
            </a:r>
            <a:endParaRPr sz="2600" b="1" i="0">
              <a:solidFill>
                <a:srgbClr val="FFFFFF"/>
              </a:solidFill>
              <a:latin typeface="Calibri"/>
              <a:ea typeface="Calibri"/>
              <a:cs typeface="Calibri"/>
              <a:sym typeface="Calibri"/>
            </a:endParaRPr>
          </a:p>
        </p:txBody>
      </p:sp>
      <p:sp>
        <p:nvSpPr>
          <p:cNvPr id="425" name="Google Shape;425;p45"/>
          <p:cNvSpPr txBox="1"/>
          <p:nvPr/>
        </p:nvSpPr>
        <p:spPr>
          <a:xfrm>
            <a:off x="0" y="6473952"/>
            <a:ext cx="121917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426" name="Google Shape;426;p45"/>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17</a:t>
            </a:r>
            <a:endParaRPr sz="2000"/>
          </a:p>
        </p:txBody>
      </p:sp>
      <p:grpSp>
        <p:nvGrpSpPr>
          <p:cNvPr id="427" name="Google Shape;427;p45"/>
          <p:cNvGrpSpPr/>
          <p:nvPr/>
        </p:nvGrpSpPr>
        <p:grpSpPr>
          <a:xfrm>
            <a:off x="571500" y="1524000"/>
            <a:ext cx="5524500" cy="4524450"/>
            <a:chOff x="571500" y="1524000"/>
            <a:chExt cx="5524500" cy="4524450"/>
          </a:xfrm>
        </p:grpSpPr>
        <p:grpSp>
          <p:nvGrpSpPr>
            <p:cNvPr id="428" name="Google Shape;428;p45"/>
            <p:cNvGrpSpPr/>
            <p:nvPr/>
          </p:nvGrpSpPr>
          <p:grpSpPr>
            <a:xfrm>
              <a:off x="571500" y="1524000"/>
              <a:ext cx="5524500" cy="1381200"/>
              <a:chOff x="0" y="0"/>
              <a:chExt cx="5524500" cy="1381200"/>
            </a:xfrm>
          </p:grpSpPr>
          <p:sp>
            <p:nvSpPr>
              <p:cNvPr id="429" name="Google Shape;429;p45"/>
              <p:cNvSpPr/>
              <p:nvPr/>
            </p:nvSpPr>
            <p:spPr>
              <a:xfrm>
                <a:off x="0" y="0"/>
                <a:ext cx="5524500" cy="1381200"/>
              </a:xfrm>
              <a:prstGeom prst="roundRect">
                <a:avLst>
                  <a:gd name="adj" fmla="val 8275"/>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0" name="Google Shape;430;p45"/>
              <p:cNvSpPr txBox="1"/>
              <p:nvPr/>
            </p:nvSpPr>
            <p:spPr>
              <a:xfrm>
                <a:off x="0" y="0"/>
                <a:ext cx="5524500" cy="13812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Dataset Upload</a:t>
                </a:r>
                <a:endParaRPr sz="1800" b="1">
                  <a:solidFill>
                    <a:srgbClr val="00305D"/>
                  </a:solidFill>
                  <a:latin typeface="Calibri"/>
                  <a:ea typeface="Calibri"/>
                  <a:cs typeface="Calibri"/>
                  <a:sym typeface="Calibri"/>
                </a:endParaRPr>
              </a:p>
              <a:p>
                <a:pPr marL="0" lvl="0" indent="0" algn="l" rtl="0">
                  <a:spcBef>
                    <a:spcPts val="600"/>
                  </a:spcBef>
                  <a:spcAft>
                    <a:spcPts val="0"/>
                  </a:spcAft>
                  <a:buNone/>
                </a:pPr>
                <a:r>
                  <a:rPr lang="en-US" sz="1400" b="0">
                    <a:solidFill>
                      <a:srgbClr val="4A5568"/>
                    </a:solidFill>
                    <a:latin typeface="Calibri"/>
                    <a:ea typeface="Calibri"/>
                    <a:cs typeface="Calibri"/>
                    <a:sym typeface="Calibri"/>
                  </a:rPr>
                  <a:t>Allows you to upload the dataset that you want to generate the story from.</a:t>
                </a:r>
                <a:endParaRPr sz="1400" b="0">
                  <a:solidFill>
                    <a:srgbClr val="4A5568"/>
                  </a:solidFill>
                  <a:latin typeface="Calibri"/>
                  <a:ea typeface="Calibri"/>
                  <a:cs typeface="Calibri"/>
                  <a:sym typeface="Calibri"/>
                </a:endParaRPr>
              </a:p>
            </p:txBody>
          </p:sp>
        </p:grpSp>
        <p:grpSp>
          <p:nvGrpSpPr>
            <p:cNvPr id="431" name="Google Shape;431;p45"/>
            <p:cNvGrpSpPr/>
            <p:nvPr/>
          </p:nvGrpSpPr>
          <p:grpSpPr>
            <a:xfrm>
              <a:off x="571500" y="3095625"/>
              <a:ext cx="5524500" cy="1381200"/>
              <a:chOff x="0" y="0"/>
              <a:chExt cx="5524500" cy="1381200"/>
            </a:xfrm>
          </p:grpSpPr>
          <p:sp>
            <p:nvSpPr>
              <p:cNvPr id="432" name="Google Shape;432;p45"/>
              <p:cNvSpPr/>
              <p:nvPr/>
            </p:nvSpPr>
            <p:spPr>
              <a:xfrm>
                <a:off x="0" y="0"/>
                <a:ext cx="5524500" cy="1381200"/>
              </a:xfrm>
              <a:prstGeom prst="roundRect">
                <a:avLst>
                  <a:gd name="adj" fmla="val 8275"/>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3" name="Google Shape;433;p45"/>
              <p:cNvSpPr txBox="1"/>
              <p:nvPr/>
            </p:nvSpPr>
            <p:spPr>
              <a:xfrm>
                <a:off x="0" y="0"/>
                <a:ext cx="5524500" cy="13812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1800" b="1">
                    <a:solidFill>
                      <a:srgbClr val="00305D"/>
                    </a:solidFill>
                    <a:latin typeface="Calibri"/>
                    <a:ea typeface="Calibri"/>
                    <a:cs typeface="Calibri"/>
                    <a:sym typeface="Calibri"/>
                  </a:rPr>
                  <a:t>Story Drafting &amp; Import</a:t>
                </a:r>
                <a:endParaRPr sz="1800" b="1">
                  <a:solidFill>
                    <a:srgbClr val="00305D"/>
                  </a:solidFill>
                  <a:latin typeface="Calibri"/>
                  <a:ea typeface="Calibri"/>
                  <a:cs typeface="Calibri"/>
                  <a:sym typeface="Calibri"/>
                </a:endParaRPr>
              </a:p>
              <a:p>
                <a:pPr marL="0" lvl="0" indent="0" algn="l" rtl="0">
                  <a:spcBef>
                    <a:spcPts val="600"/>
                  </a:spcBef>
                  <a:spcAft>
                    <a:spcPts val="0"/>
                  </a:spcAft>
                  <a:buNone/>
                </a:pPr>
                <a:r>
                  <a:rPr lang="en-US" sz="1400" b="0">
                    <a:solidFill>
                      <a:srgbClr val="4A5568"/>
                    </a:solidFill>
                    <a:latin typeface="Calibri"/>
                    <a:ea typeface="Calibri"/>
                    <a:cs typeface="Calibri"/>
                    <a:sym typeface="Calibri"/>
                  </a:rPr>
                  <a:t>Allows you to write a story about a dataset or import a text or docx file that has a human written story.</a:t>
                </a:r>
                <a:endParaRPr sz="1400" b="0">
                  <a:solidFill>
                    <a:srgbClr val="4A5568"/>
                  </a:solidFill>
                  <a:latin typeface="Calibri"/>
                  <a:ea typeface="Calibri"/>
                  <a:cs typeface="Calibri"/>
                  <a:sym typeface="Calibri"/>
                </a:endParaRPr>
              </a:p>
            </p:txBody>
          </p:sp>
        </p:grpSp>
        <p:grpSp>
          <p:nvGrpSpPr>
            <p:cNvPr id="434" name="Google Shape;434;p45"/>
            <p:cNvGrpSpPr/>
            <p:nvPr/>
          </p:nvGrpSpPr>
          <p:grpSpPr>
            <a:xfrm>
              <a:off x="571500" y="4667250"/>
              <a:ext cx="5524500" cy="1381200"/>
              <a:chOff x="0" y="0"/>
              <a:chExt cx="5524500" cy="1381200"/>
            </a:xfrm>
          </p:grpSpPr>
          <p:sp>
            <p:nvSpPr>
              <p:cNvPr id="435" name="Google Shape;435;p45"/>
              <p:cNvSpPr/>
              <p:nvPr/>
            </p:nvSpPr>
            <p:spPr>
              <a:xfrm>
                <a:off x="0" y="0"/>
                <a:ext cx="5524500" cy="1381200"/>
              </a:xfrm>
              <a:prstGeom prst="roundRect">
                <a:avLst>
                  <a:gd name="adj" fmla="val 8275"/>
                </a:avLst>
              </a:prstGeom>
              <a:solidFill>
                <a:srgbClr val="E6FFFA"/>
              </a:solidFill>
              <a:ln w="19050" cap="flat" cmpd="sng">
                <a:solidFill>
                  <a:srgbClr val="0F8A7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6" name="Google Shape;436;p45"/>
              <p:cNvSpPr txBox="1"/>
              <p:nvPr/>
            </p:nvSpPr>
            <p:spPr>
              <a:xfrm>
                <a:off x="0" y="0"/>
                <a:ext cx="5524500" cy="1381200"/>
              </a:xfrm>
              <a:prstGeom prst="rect">
                <a:avLst/>
              </a:prstGeom>
              <a:no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1800" b="1">
                    <a:solidFill>
                      <a:srgbClr val="0F8A78"/>
                    </a:solidFill>
                    <a:latin typeface="Calibri"/>
                    <a:ea typeface="Calibri"/>
                    <a:cs typeface="Calibri"/>
                    <a:sym typeface="Calibri"/>
                  </a:rPr>
                  <a:t>Performance Analysis</a:t>
                </a:r>
                <a:endParaRPr sz="1800" b="1">
                  <a:solidFill>
                    <a:srgbClr val="0F8A78"/>
                  </a:solidFill>
                  <a:latin typeface="Calibri"/>
                  <a:ea typeface="Calibri"/>
                  <a:cs typeface="Calibri"/>
                  <a:sym typeface="Calibri"/>
                </a:endParaRPr>
              </a:p>
              <a:p>
                <a:pPr marL="0" lvl="0" indent="0" algn="l" rtl="0">
                  <a:spcBef>
                    <a:spcPts val="600"/>
                  </a:spcBef>
                  <a:spcAft>
                    <a:spcPts val="0"/>
                  </a:spcAft>
                  <a:buNone/>
                </a:pPr>
                <a:r>
                  <a:rPr lang="en-US" sz="1400" b="0">
                    <a:solidFill>
                      <a:srgbClr val="2D3748"/>
                    </a:solidFill>
                    <a:latin typeface="Calibri"/>
                    <a:ea typeface="Calibri"/>
                    <a:cs typeface="Calibri"/>
                    <a:sym typeface="Calibri"/>
                  </a:rPr>
                  <a:t>Compares both the stories and produces output metrics like BLEU, ROGUE, METEOR score and so on.</a:t>
                </a:r>
                <a:endParaRPr sz="1400" b="0">
                  <a:solidFill>
                    <a:srgbClr val="2D3748"/>
                  </a:solidFill>
                  <a:latin typeface="Calibri"/>
                  <a:ea typeface="Calibri"/>
                  <a:cs typeface="Calibri"/>
                  <a:sym typeface="Calibri"/>
                </a:endParaRPr>
              </a:p>
            </p:txBody>
          </p:sp>
        </p:grpSp>
      </p:grpSp>
      <p:pic>
        <p:nvPicPr>
          <p:cNvPr id="437" name="Google Shape;437;p45"/>
          <p:cNvPicPr preferRelativeResize="0"/>
          <p:nvPr/>
        </p:nvPicPr>
        <p:blipFill rotWithShape="1">
          <a:blip r:embed="rId3">
            <a:alphaModFix/>
          </a:blip>
          <a:srcRect t="16402" b="16402"/>
          <a:stretch/>
        </p:blipFill>
        <p:spPr>
          <a:xfrm>
            <a:off x="6477000" y="1524000"/>
            <a:ext cx="5143500" cy="45243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442"/>
        <p:cNvGrpSpPr/>
        <p:nvPr/>
      </p:nvGrpSpPr>
      <p:grpSpPr>
        <a:xfrm>
          <a:off x="0" y="0"/>
          <a:ext cx="0" cy="0"/>
          <a:chOff x="0" y="0"/>
          <a:chExt cx="0" cy="0"/>
        </a:xfrm>
      </p:grpSpPr>
      <p:sp>
        <p:nvSpPr>
          <p:cNvPr id="443" name="Google Shape;443;p46"/>
          <p:cNvSpPr/>
          <p:nvPr/>
        </p:nvSpPr>
        <p:spPr>
          <a:xfrm>
            <a:off x="0" y="0"/>
            <a:ext cx="12191695" cy="6858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4" name="Google Shape;444;p46"/>
          <p:cNvSpPr/>
          <p:nvPr/>
        </p:nvSpPr>
        <p:spPr>
          <a:xfrm>
            <a:off x="0" y="0"/>
            <a:ext cx="256032" cy="68580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5" name="Google Shape;445;p46"/>
          <p:cNvSpPr txBox="1"/>
          <p:nvPr/>
        </p:nvSpPr>
        <p:spPr>
          <a:xfrm>
            <a:off x="1188720" y="2735179"/>
            <a:ext cx="9997135" cy="11490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i="0">
                <a:solidFill>
                  <a:srgbClr val="FFFFFF"/>
                </a:solidFill>
                <a:latin typeface="Calibri"/>
                <a:ea typeface="Calibri"/>
                <a:cs typeface="Calibri"/>
                <a:sym typeface="Calibri"/>
              </a:rPr>
              <a:t>Future Work</a:t>
            </a:r>
            <a:endParaRPr sz="4400" b="1" i="0">
              <a:solidFill>
                <a:srgbClr val="FFFFFF"/>
              </a:solidFill>
              <a:latin typeface="Calibri"/>
              <a:ea typeface="Calibri"/>
              <a:cs typeface="Calibri"/>
              <a:sym typeface="Calibri"/>
            </a:endParaRPr>
          </a:p>
          <a:p>
            <a:pPr marL="0" marR="0" lvl="0" indent="0" algn="l" rtl="0">
              <a:spcBef>
                <a:spcPts val="800"/>
              </a:spcBef>
              <a:spcAft>
                <a:spcPts val="0"/>
              </a:spcAft>
              <a:buNone/>
            </a:pPr>
            <a:r>
              <a:rPr lang="en-US" sz="1800" i="1">
                <a:solidFill>
                  <a:srgbClr val="BFD3E6"/>
                </a:solidFill>
                <a:latin typeface="Calibri"/>
                <a:ea typeface="Calibri"/>
                <a:cs typeface="Calibri"/>
                <a:sym typeface="Calibri"/>
              </a:rPr>
              <a:t>Remaining tasks for finishing the project</a:t>
            </a:r>
            <a:endParaRPr sz="1800" b="0" i="1">
              <a:solidFill>
                <a:srgbClr val="BFD3E6"/>
              </a:solidFill>
              <a:latin typeface="Calibri"/>
              <a:ea typeface="Calibri"/>
              <a:cs typeface="Calibri"/>
              <a:sym typeface="Calibri"/>
            </a:endParaRPr>
          </a:p>
        </p:txBody>
      </p:sp>
      <p:sp>
        <p:nvSpPr>
          <p:cNvPr id="446" name="Google Shape;446;p46"/>
          <p:cNvSpPr/>
          <p:nvPr/>
        </p:nvSpPr>
        <p:spPr>
          <a:xfrm>
            <a:off x="1234440" y="4160520"/>
            <a:ext cx="2377440" cy="50800"/>
          </a:xfrm>
          <a:prstGeom prst="rect">
            <a:avLst/>
          </a:prstGeom>
          <a:solidFill>
            <a:srgbClr val="0F8A7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7" name="Google Shape;447;p46"/>
          <p:cNvSpPr txBox="1"/>
          <p:nvPr/>
        </p:nvSpPr>
        <p:spPr>
          <a:xfrm>
            <a:off x="0" y="6473952"/>
            <a:ext cx="12191695" cy="3200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448" name="Google Shape;448;p46"/>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18</a:t>
            </a:r>
            <a:endParaRPr sz="20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453"/>
        <p:cNvGrpSpPr/>
        <p:nvPr/>
      </p:nvGrpSpPr>
      <p:grpSpPr>
        <a:xfrm>
          <a:off x="0" y="0"/>
          <a:ext cx="0" cy="0"/>
          <a:chOff x="0" y="0"/>
          <a:chExt cx="0" cy="0"/>
        </a:xfrm>
      </p:grpSpPr>
      <p:sp>
        <p:nvSpPr>
          <p:cNvPr id="454" name="Google Shape;454;p47"/>
          <p:cNvSpPr/>
          <p:nvPr/>
        </p:nvSpPr>
        <p:spPr>
          <a:xfrm>
            <a:off x="0" y="0"/>
            <a:ext cx="12191700" cy="1143000"/>
          </a:xfrm>
          <a:prstGeom prst="rect">
            <a:avLst/>
          </a:prstGeom>
          <a:solidFill>
            <a:srgbClr val="0030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5" name="Google Shape;455;p47"/>
          <p:cNvSpPr/>
          <p:nvPr/>
        </p:nvSpPr>
        <p:spPr>
          <a:xfrm>
            <a:off x="0" y="1143000"/>
            <a:ext cx="12191700" cy="38100"/>
          </a:xfrm>
          <a:prstGeom prst="rect">
            <a:avLst/>
          </a:prstGeom>
          <a:solidFill>
            <a:srgbClr val="3C6E9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6" name="Google Shape;456;p47"/>
          <p:cNvSpPr txBox="1"/>
          <p:nvPr/>
        </p:nvSpPr>
        <p:spPr>
          <a:xfrm>
            <a:off x="548640" y="343566"/>
            <a:ext cx="11094300" cy="4926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600" b="1" i="0">
                <a:solidFill>
                  <a:srgbClr val="FFFFFF"/>
                </a:solidFill>
                <a:latin typeface="Calibri"/>
                <a:ea typeface="Calibri"/>
                <a:cs typeface="Calibri"/>
                <a:sym typeface="Calibri"/>
              </a:rPr>
              <a:t>Future Work</a:t>
            </a:r>
            <a:endParaRPr sz="2600" b="1" i="0">
              <a:solidFill>
                <a:srgbClr val="FFFFFF"/>
              </a:solidFill>
              <a:latin typeface="Calibri"/>
              <a:ea typeface="Calibri"/>
              <a:cs typeface="Calibri"/>
              <a:sym typeface="Calibri"/>
            </a:endParaRPr>
          </a:p>
        </p:txBody>
      </p:sp>
      <p:sp>
        <p:nvSpPr>
          <p:cNvPr id="457" name="Google Shape;457;p47"/>
          <p:cNvSpPr txBox="1"/>
          <p:nvPr/>
        </p:nvSpPr>
        <p:spPr>
          <a:xfrm>
            <a:off x="571500" y="1524000"/>
            <a:ext cx="10399200" cy="3039900"/>
          </a:xfrm>
          <a:prstGeom prst="rect">
            <a:avLst/>
          </a:prstGeom>
          <a:solidFill>
            <a:srgbClr val="F8FAFC"/>
          </a:solidFill>
          <a:ln w="9525" cap="flat" cmpd="sng">
            <a:solidFill>
              <a:srgbClr val="E2E8F0"/>
            </a:solidFill>
            <a:prstDash val="solid"/>
            <a:round/>
            <a:headEnd type="none" w="sm" len="sm"/>
            <a:tailEnd type="none" w="sm" len="sm"/>
          </a:ln>
        </p:spPr>
        <p:txBody>
          <a:bodyPr spcFirstLastPara="1" wrap="square" lIns="285750" tIns="285750" rIns="285750" bIns="285750" anchor="ctr" anchorCtr="0">
            <a:spAutoFit/>
          </a:bodyPr>
          <a:lstStyle/>
          <a:p>
            <a:pPr marL="0" lvl="0" indent="0" algn="l" rtl="0">
              <a:spcBef>
                <a:spcPts val="0"/>
              </a:spcBef>
              <a:spcAft>
                <a:spcPts val="0"/>
              </a:spcAft>
              <a:buNone/>
            </a:pPr>
            <a:endParaRPr sz="2000" b="1">
              <a:solidFill>
                <a:srgbClr val="00305D"/>
              </a:solidFill>
              <a:latin typeface="Calibri"/>
              <a:ea typeface="Calibri"/>
              <a:cs typeface="Calibri"/>
              <a:sym typeface="Calibri"/>
            </a:endParaRPr>
          </a:p>
          <a:p>
            <a:pPr marL="457200" lvl="0" indent="-342900" algn="l" rtl="0">
              <a:spcBef>
                <a:spcPts val="1500"/>
              </a:spcBef>
              <a:spcAft>
                <a:spcPts val="0"/>
              </a:spcAft>
              <a:buClr>
                <a:srgbClr val="4A5568"/>
              </a:buClr>
              <a:buSzPts val="1800"/>
              <a:buFont typeface="Calibri"/>
              <a:buChar char="●"/>
            </a:pPr>
            <a:r>
              <a:rPr lang="en-US" sz="1800" b="1">
                <a:solidFill>
                  <a:srgbClr val="00305D"/>
                </a:solidFill>
                <a:latin typeface="Calibri"/>
                <a:ea typeface="Calibri"/>
                <a:cs typeface="Calibri"/>
                <a:sym typeface="Calibri"/>
              </a:rPr>
              <a:t>Methodology:</a:t>
            </a:r>
            <a:r>
              <a:rPr lang="en-US" sz="1800">
                <a:solidFill>
                  <a:srgbClr val="4A5568"/>
                </a:solidFill>
                <a:latin typeface="Calibri"/>
                <a:ea typeface="Calibri"/>
                <a:cs typeface="Calibri"/>
                <a:sym typeface="Calibri"/>
              </a:rPr>
              <a:t> Decide on the best pipeline to generate realistic, human-like stories.</a:t>
            </a:r>
            <a:endParaRPr sz="1800">
              <a:solidFill>
                <a:srgbClr val="4A5568"/>
              </a:solidFill>
              <a:latin typeface="Calibri"/>
              <a:ea typeface="Calibri"/>
              <a:cs typeface="Calibri"/>
              <a:sym typeface="Calibri"/>
            </a:endParaRPr>
          </a:p>
          <a:p>
            <a:pPr marL="457200" lvl="0" indent="-342900" algn="l" rtl="0">
              <a:spcBef>
                <a:spcPts val="1125"/>
              </a:spcBef>
              <a:spcAft>
                <a:spcPts val="0"/>
              </a:spcAft>
              <a:buClr>
                <a:srgbClr val="4A5568"/>
              </a:buClr>
              <a:buSzPts val="1800"/>
              <a:buFont typeface="Calibri"/>
              <a:buChar char="●"/>
            </a:pPr>
            <a:r>
              <a:rPr lang="en-US" sz="1800" b="1">
                <a:solidFill>
                  <a:srgbClr val="00305D"/>
                </a:solidFill>
                <a:latin typeface="Calibri"/>
                <a:ea typeface="Calibri"/>
                <a:cs typeface="Calibri"/>
                <a:sym typeface="Calibri"/>
              </a:rPr>
              <a:t>Metrics:</a:t>
            </a:r>
            <a:r>
              <a:rPr lang="en-US" sz="1800">
                <a:solidFill>
                  <a:srgbClr val="4A5568"/>
                </a:solidFill>
                <a:latin typeface="Calibri"/>
                <a:ea typeface="Calibri"/>
                <a:cs typeface="Calibri"/>
                <a:sym typeface="Calibri"/>
              </a:rPr>
              <a:t> Explore advanced metrics to quantify AI-generated story quality.</a:t>
            </a:r>
            <a:endParaRPr sz="1800">
              <a:solidFill>
                <a:srgbClr val="4A5568"/>
              </a:solidFill>
              <a:latin typeface="Calibri"/>
              <a:ea typeface="Calibri"/>
              <a:cs typeface="Calibri"/>
              <a:sym typeface="Calibri"/>
            </a:endParaRPr>
          </a:p>
          <a:p>
            <a:pPr marL="457200" lvl="0" indent="-342900" algn="l" rtl="0">
              <a:spcBef>
                <a:spcPts val="1125"/>
              </a:spcBef>
              <a:spcAft>
                <a:spcPts val="0"/>
              </a:spcAft>
              <a:buClr>
                <a:srgbClr val="4A5568"/>
              </a:buClr>
              <a:buSzPts val="1800"/>
              <a:buFont typeface="Calibri"/>
              <a:buChar char="●"/>
            </a:pPr>
            <a:r>
              <a:rPr lang="en-US" sz="1800" b="1">
                <a:solidFill>
                  <a:srgbClr val="00305D"/>
                </a:solidFill>
                <a:latin typeface="Calibri"/>
                <a:ea typeface="Calibri"/>
                <a:cs typeface="Calibri"/>
                <a:sym typeface="Calibri"/>
              </a:rPr>
              <a:t>Frontend:</a:t>
            </a:r>
            <a:r>
              <a:rPr lang="en-US" sz="1800">
                <a:solidFill>
                  <a:srgbClr val="4A5568"/>
                </a:solidFill>
                <a:latin typeface="Calibri"/>
                <a:ea typeface="Calibri"/>
                <a:cs typeface="Calibri"/>
                <a:sym typeface="Calibri"/>
              </a:rPr>
              <a:t> Implement the full design of the web application interface.</a:t>
            </a:r>
            <a:endParaRPr sz="1800">
              <a:solidFill>
                <a:srgbClr val="4A5568"/>
              </a:solidFill>
              <a:latin typeface="Calibri"/>
              <a:ea typeface="Calibri"/>
              <a:cs typeface="Calibri"/>
              <a:sym typeface="Calibri"/>
            </a:endParaRPr>
          </a:p>
          <a:p>
            <a:pPr marL="457200" lvl="0" indent="-342900" algn="l" rtl="0">
              <a:spcBef>
                <a:spcPts val="1125"/>
              </a:spcBef>
              <a:spcAft>
                <a:spcPts val="0"/>
              </a:spcAft>
              <a:buClr>
                <a:srgbClr val="4A5568"/>
              </a:buClr>
              <a:buSzPts val="1800"/>
              <a:buFont typeface="Calibri"/>
              <a:buChar char="●"/>
            </a:pPr>
            <a:r>
              <a:rPr lang="en-US" sz="1800" b="1">
                <a:solidFill>
                  <a:srgbClr val="00305D"/>
                </a:solidFill>
                <a:latin typeface="Calibri"/>
                <a:ea typeface="Calibri"/>
                <a:cs typeface="Calibri"/>
                <a:sym typeface="Calibri"/>
              </a:rPr>
              <a:t>Backend:</a:t>
            </a:r>
            <a:r>
              <a:rPr lang="en-US" sz="1800">
                <a:solidFill>
                  <a:srgbClr val="4A5568"/>
                </a:solidFill>
                <a:latin typeface="Calibri"/>
                <a:ea typeface="Calibri"/>
                <a:cs typeface="Calibri"/>
                <a:sym typeface="Calibri"/>
              </a:rPr>
              <a:t> Connect Python methodologies to the frontend for a functional app.</a:t>
            </a:r>
            <a:endParaRPr sz="1800">
              <a:solidFill>
                <a:srgbClr val="4A5568"/>
              </a:solidFill>
              <a:latin typeface="Calibri"/>
              <a:ea typeface="Calibri"/>
              <a:cs typeface="Calibri"/>
              <a:sym typeface="Calibri"/>
            </a:endParaRPr>
          </a:p>
          <a:p>
            <a:pPr marL="457200" lvl="0" indent="-342900" algn="l" rtl="0">
              <a:spcBef>
                <a:spcPts val="1125"/>
              </a:spcBef>
              <a:spcAft>
                <a:spcPts val="0"/>
              </a:spcAft>
              <a:buClr>
                <a:srgbClr val="4A5568"/>
              </a:buClr>
              <a:buSzPts val="1800"/>
              <a:buFont typeface="Calibri"/>
              <a:buChar char="●"/>
            </a:pPr>
            <a:r>
              <a:rPr lang="en-US" sz="1800" b="1">
                <a:solidFill>
                  <a:srgbClr val="00305D"/>
                </a:solidFill>
                <a:latin typeface="Calibri"/>
                <a:ea typeface="Calibri"/>
                <a:cs typeface="Calibri"/>
                <a:sym typeface="Calibri"/>
              </a:rPr>
              <a:t>Scalability:</a:t>
            </a:r>
            <a:r>
              <a:rPr lang="en-US" sz="1800">
                <a:solidFill>
                  <a:srgbClr val="4A5568"/>
                </a:solidFill>
                <a:latin typeface="Calibri"/>
                <a:ea typeface="Calibri"/>
                <a:cs typeface="Calibri"/>
                <a:sym typeface="Calibri"/>
              </a:rPr>
              <a:t> Scale models to handle larger and more complex datasets.</a:t>
            </a:r>
            <a:endParaRPr sz="1800">
              <a:solidFill>
                <a:srgbClr val="4A5568"/>
              </a:solidFill>
              <a:latin typeface="Calibri"/>
              <a:ea typeface="Calibri"/>
              <a:cs typeface="Calibri"/>
              <a:sym typeface="Calibri"/>
            </a:endParaRPr>
          </a:p>
        </p:txBody>
      </p:sp>
      <p:sp>
        <p:nvSpPr>
          <p:cNvPr id="458" name="Google Shape;458;p47"/>
          <p:cNvSpPr txBox="1"/>
          <p:nvPr/>
        </p:nvSpPr>
        <p:spPr>
          <a:xfrm>
            <a:off x="0" y="6473952"/>
            <a:ext cx="121917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0" i="0">
                <a:solidFill>
                  <a:srgbClr val="5A5A5A"/>
                </a:solidFill>
                <a:latin typeface="Calibri"/>
                <a:ea typeface="Calibri"/>
                <a:cs typeface="Calibri"/>
                <a:sym typeface="Calibri"/>
              </a:rPr>
              <a:t>AI-Powered Data Storytelling  ·  CMS Team Project  ·  TU Dresden  ·  SoSe 2026</a:t>
            </a:r>
            <a:endParaRPr/>
          </a:p>
        </p:txBody>
      </p:sp>
      <p:sp>
        <p:nvSpPr>
          <p:cNvPr id="459" name="Google Shape;459;p47"/>
          <p:cNvSpPr txBox="1"/>
          <p:nvPr/>
        </p:nvSpPr>
        <p:spPr>
          <a:xfrm>
            <a:off x="11368735" y="6473952"/>
            <a:ext cx="640200" cy="338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a:solidFill>
                  <a:srgbClr val="5A5A5A"/>
                </a:solidFill>
                <a:latin typeface="Calibri"/>
                <a:ea typeface="Calibri"/>
                <a:cs typeface="Calibri"/>
                <a:sym typeface="Calibri"/>
              </a:rPr>
              <a:t>19</a:t>
            </a:r>
            <a:endParaRPr sz="20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3"/>
        <p:cNvGrpSpPr/>
        <p:nvPr/>
      </p:nvGrpSpPr>
      <p:grpSpPr>
        <a:xfrm>
          <a:off x="0" y="0"/>
          <a:ext cx="0" cy="0"/>
          <a:chOff x="0" y="0"/>
          <a:chExt cx="0" cy="0"/>
        </a:xfrm>
      </p:grpSpPr>
      <p:sp>
        <p:nvSpPr>
          <p:cNvPr id="464" name="Google Shape;464;p48"/>
          <p:cNvSpPr/>
          <p:nvPr/>
        </p:nvSpPr>
        <p:spPr>
          <a:xfrm>
            <a:off x="0" y="0"/>
            <a:ext cx="255900" cy="6858000"/>
          </a:xfrm>
          <a:prstGeom prst="rect">
            <a:avLst/>
          </a:prstGeom>
          <a:solidFill>
            <a:srgbClr val="0F8A7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5" name="Google Shape;465;p48"/>
          <p:cNvSpPr txBox="1"/>
          <p:nvPr/>
        </p:nvSpPr>
        <p:spPr>
          <a:xfrm>
            <a:off x="1188720" y="2735180"/>
            <a:ext cx="9997200" cy="114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4960" b="1">
                <a:solidFill>
                  <a:srgbClr val="FFFFFF"/>
                </a:solidFill>
                <a:latin typeface="Calibri"/>
                <a:ea typeface="Calibri"/>
                <a:cs typeface="Calibri"/>
                <a:sym typeface="Calibri"/>
              </a:rPr>
              <a:t>Thank You!</a:t>
            </a:r>
            <a:endParaRPr sz="4960" b="1">
              <a:solidFill>
                <a:srgbClr val="FFFFFF"/>
              </a:solidFill>
              <a:latin typeface="Calibri"/>
              <a:ea typeface="Calibri"/>
              <a:cs typeface="Calibri"/>
              <a:sym typeface="Calibri"/>
            </a:endParaRPr>
          </a:p>
          <a:p>
            <a:pPr marL="0" lvl="0" indent="0" algn="l" rtl="0">
              <a:spcBef>
                <a:spcPts val="750"/>
              </a:spcBef>
              <a:spcAft>
                <a:spcPts val="0"/>
              </a:spcAft>
              <a:buNone/>
            </a:pPr>
            <a:r>
              <a:rPr lang="en-US" sz="1395" b="0" i="1">
                <a:solidFill>
                  <a:srgbClr val="BFD3E6"/>
                </a:solidFill>
                <a:latin typeface="Calibri"/>
                <a:ea typeface="Calibri"/>
                <a:cs typeface="Calibri"/>
                <a:sym typeface="Calibri"/>
              </a:rPr>
              <a:t>Questions &amp; Feedback are welcome</a:t>
            </a:r>
            <a:endParaRPr sz="1395" b="0" i="1">
              <a:solidFill>
                <a:srgbClr val="BFD3E6"/>
              </a:solidFill>
              <a:latin typeface="Calibri"/>
              <a:ea typeface="Calibri"/>
              <a:cs typeface="Calibri"/>
              <a:sym typeface="Calibri"/>
            </a:endParaRPr>
          </a:p>
        </p:txBody>
      </p:sp>
      <p:sp>
        <p:nvSpPr>
          <p:cNvPr id="466" name="Google Shape;466;p48"/>
          <p:cNvSpPr/>
          <p:nvPr/>
        </p:nvSpPr>
        <p:spPr>
          <a:xfrm>
            <a:off x="1234440" y="4160520"/>
            <a:ext cx="2377500" cy="50700"/>
          </a:xfrm>
          <a:prstGeom prst="rect">
            <a:avLst/>
          </a:prstGeom>
          <a:solidFill>
            <a:srgbClr val="0F8A7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7" name="Google Shape;467;p48"/>
          <p:cNvSpPr txBox="1"/>
          <p:nvPr/>
        </p:nvSpPr>
        <p:spPr>
          <a:xfrm>
            <a:off x="0" y="6473952"/>
            <a:ext cx="12191700" cy="320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000" b="0">
                <a:solidFill>
                  <a:srgbClr val="BFD3E6"/>
                </a:solidFill>
                <a:latin typeface="Calibri"/>
                <a:ea typeface="Calibri"/>
                <a:cs typeface="Calibri"/>
                <a:sym typeface="Calibri"/>
              </a:rPr>
              <a:t>AI-Powered Data Storytelling · CMS Team Project · TU Dresden · SoSe 2026</a:t>
            </a:r>
            <a:endParaRPr sz="1000" b="0">
              <a:solidFill>
                <a:srgbClr val="BFD3E6"/>
              </a:solidFill>
              <a:latin typeface="Calibri"/>
              <a:ea typeface="Calibri"/>
              <a:cs typeface="Calibri"/>
              <a:sym typeface="Calibri"/>
            </a:endParaRPr>
          </a:p>
        </p:txBody>
      </p:sp>
      <p:sp>
        <p:nvSpPr>
          <p:cNvPr id="468" name="Google Shape;468;p48"/>
          <p:cNvSpPr txBox="1">
            <a:spLocks noGrp="1"/>
          </p:cNvSpPr>
          <p:nvPr>
            <p:ph type="sldNum" idx="12"/>
          </p:nvPr>
        </p:nvSpPr>
        <p:spPr>
          <a:xfrm>
            <a:off x="9828075" y="64289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600"/>
              <a:t>21</a:t>
            </a:fld>
            <a:endParaRPr sz="16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2229</Words>
  <Application>Microsoft Office PowerPoint</Application>
  <PresentationFormat>Widescreen</PresentationFormat>
  <Paragraphs>204</Paragraphs>
  <Slides>21</Slides>
  <Notes>21</Notes>
  <HiddenSlides>5</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21</vt:i4>
      </vt:variant>
    </vt:vector>
  </HeadingPairs>
  <TitlesOfParts>
    <vt:vector size="26" baseType="lpstr">
      <vt:lpstr>Arial</vt:lpstr>
      <vt:lpstr>IBM Plex Sans</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account</cp:lastModifiedBy>
  <cp:revision>1</cp:revision>
  <dcterms:modified xsi:type="dcterms:W3CDTF">2026-08-10T21:28:34Z</dcterms:modified>
</cp:coreProperties>
</file>