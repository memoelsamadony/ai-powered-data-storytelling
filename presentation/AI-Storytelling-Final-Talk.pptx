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[0:15]   running total 0:15   ~40 words</a:t>
            </a:r>
          </a:p>
          <a:p/>
          <a:p>
            <a:r>
              <a:t>Good afternoon. We turn a public-health table into a written story. The part we</a:t>
            </a:r>
          </a:p>
          <a:p>
            <a:r>
              <a:t>want to defend today is the second agent: it reads that story and pulls the</a:t>
            </a:r>
          </a:p>
          <a:p>
            <a:r>
              <a:t>emotional tone back to what the evidence supports.</a:t>
            </a:r>
          </a:p>
          <a:p/>
          <a:p>
            <a:r>
              <a:t>Four parts, then a live demo.</a:t>
            </a:r>
          </a:p>
          <a:p/>
          <a:p>
            <a:r>
              <a:t>DELIVERY: do not read the names, they are on the slide. Go straight to the</a:t>
            </a:r>
          </a:p>
          <a:p>
            <a:r>
              <a:t>sentence about the second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[0:05]   running total 0:20   ~15 words</a:t>
            </a:r>
          </a:p>
          <a:p/>
          <a:p>
            <a:r>
              <a:t>First: what the field already does, and the gap we found in it.</a:t>
            </a:r>
          </a:p>
          <a:p/>
          <a:p>
            <a:r>
              <a:t>DELIVERY: one line, then move. A divider is a beat, not a slide to present.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[0:45]   running total 1:05   ~112 words</a:t>
            </a:r>
          </a:p>
          <a:p/>
          <a:p>
            <a:r>
              <a:t>We surveyed seven systems. On the left: the non-LLM baselines, then the ones</a:t>
            </a:r>
          </a:p>
          <a:p>
            <a:r>
              <a:t>closest to us - DataNarrative, Data Director, MDSF - all of which pair a</a:t>
            </a:r>
          </a:p>
          <a:p>
            <a:r>
              <a:t>generator with a critic agent.</a:t>
            </a:r>
          </a:p>
          <a:p/>
          <a:p>
            <a:r>
              <a:t>On the right, the three we reproduced ourselves rather than cited. Kasner and</a:t>
            </a:r>
          </a:p>
          <a:p>
            <a:r>
              <a:t>Dušek's faithfulness method: a modern 12B model left about 18 percent of outputs</a:t>
            </a:r>
          </a:p>
          <a:p>
            <a:r>
              <a:t>with a semantic error where the paper reported over 80. DataTales, where reading</a:t>
            </a:r>
          </a:p>
          <a:p>
            <a:r>
              <a:t>operations climb steeply with model size. And DataNarrative's generate-and-verify</a:t>
            </a:r>
          </a:p>
          <a:p>
            <a:r>
              <a:t>architecture, which is the shape ours adapts.</a:t>
            </a:r>
          </a:p>
          <a:p/>
          <a:p>
            <a:r>
              <a:t>That gave us the sentence at the bottom.</a:t>
            </a:r>
          </a:p>
          <a:p/>
          <a:p>
            <a:r>
              <a:t>DELIVERY: do not read the paper list. Say "seven surveyed, three we re-ran</a:t>
            </a:r>
          </a:p>
          <a:p>
            <a:r>
              <a:t>ourselves" and go to the bottom bar. That sentence is the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[0:40]   running total 1:45   ~98 words   &gt;&gt;&gt; HAND TO OKASHA</a:t>
            </a:r>
          </a:p>
          <a:p/>
          <a:p>
            <a:r>
              <a:t>So here is the problem we noticed.</a:t>
            </a:r>
          </a:p>
          <a:p/>
          <a:p>
            <a:r>
              <a:t>The critic is always a fact-checker. But Hullman and Diakopoulos showed that</a:t>
            </a:r>
          </a:p>
          <a:p>
            <a:r>
              <a:t>framing alone significantly changes how people read the same chart. Tone is not</a:t>
            </a:r>
          </a:p>
          <a:p>
            <a:r>
              <a:t>decoration - it is part of the claim.</a:t>
            </a:r>
          </a:p>
          <a:p/>
          <a:p>
            <a:r>
              <a:t>[POINT] Both of these sentences are true to the table. A fact-checker passes</a:t>
            </a:r>
          </a:p>
          <a:p>
            <a:r>
              <a:t>both. The first catastrophises, the second is calibrated, and nothing in the</a:t>
            </a:r>
          </a:p>
          <a:p>
            <a:r>
              <a:t>literature can tell them apart.</a:t>
            </a:r>
          </a:p>
          <a:p/>
          <a:p>
            <a:r>
              <a:t>Okasha will show you what we built for that.</a:t>
            </a:r>
          </a:p>
          <a:p/>
          <a:p>
            <a:r>
              <a:t>DELIVERY: read both quotes out loud, slowly. This is the motivation and it lands</a:t>
            </a:r>
          </a:p>
          <a:p>
            <a:r>
              <a:t>in ten seconds if you actually perform the contrast.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[0:05]   running total 1:50   ~15 words</a:t>
            </a:r>
          </a:p>
          <a:p/>
          <a:p>
            <a:r>
              <a:t>Thank you. I will take the system itself, and then how we put a number on tone.</a:t>
            </a:r>
          </a:p>
          <a:p/>
          <a:p>
            <a:r>
              <a:t>DELIVERY: your first words as a new speaker. Say them to the room, not the</a:t>
            </a:r>
          </a:p>
          <a:p>
            <a:r>
              <a:t>screen.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[0:33]   running total 2:23   ~82 words</a:t>
            </a:r>
          </a:p>
          <a:p/>
          <a:p>
            <a:r>
              <a:t>Three roles, but only two local models.</a:t>
            </a:r>
          </a:p>
          <a:p/>
          <a:p>
            <a:r>
              <a:t>A generator writes the draft. Then the moderator - and in this project the</a:t>
            </a:r>
          </a:p>
          <a:p>
            <a:r>
              <a:t>moderator is the agentic role, so it does three jobs on the same weights: it</a:t>
            </a:r>
          </a:p>
          <a:p>
            <a:r>
              <a:t>rewrites the tone, that is our contribution, it fact-checks every number back</a:t>
            </a:r>
          </a:p>
          <a:p>
            <a:r>
              <a:t>against the table, and it picks the charts.</a:t>
            </a:r>
          </a:p>
          <a:p/>
          <a:p>
            <a:r>
              <a:t>Same model, separate stages. That matters twice: a tone number still measures</a:t>
            </a:r>
          </a:p>
          <a:p>
            <a:r>
              <a:t>one change, and we pay one twenty-gigabyte model load per run instead of three.</a:t>
            </a:r>
          </a:p>
          <a:p/>
          <a:p>
            <a:r>
              <a:t>Claude Opus judges, and only judges.</a:t>
            </a:r>
          </a:p>
          <a:p/>
          <a:p>
            <a:r>
              <a:t>DELIVERY: "one model, three jobs" is the line. Do not call chart selection a</a:t>
            </a:r>
          </a:p>
          <a:p>
            <a:r>
              <a:t>fourth model - it is not.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[0:38]   running total 3:01   ~95 words</a:t>
            </a:r>
          </a:p>
          <a:p/>
          <a:p>
            <a:r>
              <a:t>To measure tone you need a scale. Every story gets two: alarmism and optimism,</a:t>
            </a:r>
          </a:p>
          <a:p>
            <a:r>
              <a:t>one to five each.</a:t>
            </a:r>
          </a:p>
          <a:p/>
          <a:p>
            <a:r>
              <a:t>Both ends of each are failures. Five catastrophises, one is flat and hides real</a:t>
            </a:r>
          </a:p>
          <a:p>
            <a:r>
              <a:t>stakes. So an agent cannot win by draining the feeling out of a story.</a:t>
            </a:r>
          </a:p>
          <a:p/>
          <a:p>
            <a:r>
              <a:t>Two honest notes. The rubric calls three calibrated, but our human writers sit</a:t>
            </a:r>
          </a:p>
          <a:p>
            <a:r>
              <a:t>at 2.0 and 2.5, so</a:t>
            </a:r>
          </a:p>
          <a:p>
            <a:r>
              <a:t>the human band is what we report against.</a:t>
            </a:r>
          </a:p>
          <a:p/>
          <a:p>
            <a:r>
              <a:t>And blinding cost us: scoring each story alone doubles the calls and gives up</a:t>
            </a:r>
          </a:p>
          <a:p>
            <a:r>
              <a:t>the direct comparison.</a:t>
            </a:r>
          </a:p>
          <a:p/>
          <a:p>
            <a:r>
              <a:t>DELIVERY: "both ends are failures" must land. Pause after it. Point at the blue</a:t>
            </a:r>
          </a:p>
          <a:p>
            <a:r>
              <a:t>human marks on the second note.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[0:28]   running total 3:29   ~70 words   &gt;&gt;&gt; HAND TO ELSAADANI</a:t>
            </a:r>
          </a:p>
          <a:p/>
          <a:p>
            <a:r>
              <a:t>Four families of metric, and only the first one needs a model.</a:t>
            </a:r>
          </a:p>
          <a:p/>
          <a:p>
            <a:r>
              <a:t>Tone is the contribution and it is judged. Faithfulness is computed in code, for</a:t>
            </a:r>
          </a:p>
          <a:p>
            <a:r>
              <a:t>free, on every run - including a cherry-picking check on which window the story</a:t>
            </a:r>
          </a:p>
          <a:p>
            <a:r>
              <a:t>chose. Similarity is against our human stories. And the operation accuracies</a:t>
            </a:r>
          </a:p>
          <a:p>
            <a:r>
              <a:t>come from the DataTales re-run.</a:t>
            </a:r>
          </a:p>
          <a:p/>
          <a:p>
            <a:r>
              <a:t>Careful: two of these share the word trend. The footnote says which is which.</a:t>
            </a:r>
          </a:p>
          <a:p/>
          <a:p>
            <a:r>
              <a:t>Elsaadani takes the reader-facing half.</a:t>
            </a:r>
          </a:p>
          <a:p/>
          <a:p>
            <a:r>
              <a:t>DELIVERY: do NOT read the metric names. Name the four families and the fact</a:t>
            </a:r>
          </a:p>
          <a:p>
            <a:r>
              <a:t>that three of them cost nothing to compute. The slide is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[0:05]   running total 3:34   ~15 words</a:t>
            </a:r>
          </a:p>
          <a:p/>
          <a:p>
            <a:r>
              <a:t>My half: what a reader is actually shown, and how we picked the model pair.</a:t>
            </a:r>
          </a:p>
          <a:p/>
          <a:p>
            <a:r>
              <a:t>DELIVERY: a beat, then straight into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[0:24]   running total 3:58   ~60 words</a:t>
            </a:r>
          </a:p>
          <a:p/>
          <a:p>
            <a:r>
              <a:t>Not every metric is for us. These are for the reader.</a:t>
            </a:r>
          </a:p>
          <a:p/>
          <a:p>
            <a:r>
              <a:t>The app shows the tone rating, the human band, and every emotive span the</a:t>
            </a:r>
          </a:p>
          <a:p>
            <a:r>
              <a:t>moderator removed, classified by what kind of edit it was. That is why the</a:t>
            </a:r>
          </a:p>
          <a:p>
            <a:r>
              <a:t>interface shows a diff rather than just a cleaner paragraph - a reader can audit</a:t>
            </a:r>
          </a:p>
          <a:p>
            <a:r>
              <a:t>the rewrite instead of trusting it.</a:t>
            </a:r>
          </a:p>
          <a:p/>
          <a:p>
            <a:r>
              <a:t>The user-study axes are designed and not run.</a:t>
            </a:r>
          </a:p>
          <a:p/>
          <a:p>
            <a:r>
              <a:t>DELIVERY: this sets up the demo. Say "you will see these in a moment".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[0:24]   running total 4:22   ~60 words</a:t>
            </a:r>
          </a:p>
          <a:p/>
          <a:p>
            <a:r>
              <a:t>Now, how we picked the pair.</a:t>
            </a:r>
          </a:p>
          <a:p/>
          <a:p>
            <a:r>
              <a:t>Fourteen generator-and-moderator combinations. Six tie on tone - all land on</a:t>
            </a:r>
          </a:p>
          <a:p>
            <a:r>
              <a:t>exactly 2.0 - so tone alone cannot choose between them. We broke the tie on</a:t>
            </a:r>
          </a:p>
          <a:p>
            <a:r>
              <a:t>faithfulness: how many of the raw story's figures survive the rewrite.</a:t>
            </a:r>
          </a:p>
          <a:p/>
          <a:p>
            <a:r>
              <a:t>On one run each, qwen 4b looked best, 71 percent against llama 8b's 50.</a:t>
            </a:r>
          </a:p>
          <a:p/>
          <a:p>
            <a:r>
              <a:t>DELIVERY: do not read the table. Point at the green block of ties, then at the</a:t>
            </a:r>
          </a:p>
          <a:p>
            <a:r>
              <a:t>"figures kept" column.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[0:51]   running total 5:13   ~128 words   &gt;&gt;&gt; HAND TO RAMADAN</a:t>
            </a:r>
          </a:p>
          <a:p/>
          <a:p>
            <a:r>
              <a:t>Then we ran both five times, at different seeds. It reverses.</a:t>
            </a:r>
          </a:p>
          <a:p/>
          <a:p>
            <a:r>
              <a:t>Qwen averages 61%, llama averages</a:t>
            </a:r>
          </a:p>
          <a:p>
            <a:r>
              <a:t>90%. Welch t of minus 2.70, p of 0.029,</a:t>
            </a:r>
          </a:p>
          <a:p>
            <a:r>
              <a:t>Cohen's d of 1.71. Our recommendation had been backwards, and one run per cell</a:t>
            </a:r>
          </a:p>
          <a:p>
            <a:r>
              <a:t>was never going to show us that.</a:t>
            </a:r>
          </a:p>
          <a:p/>
          <a:p>
            <a:r>
              <a:t>Seeds have to differ, by the way. Two of our tiers were the same configuration</a:t>
            </a:r>
          </a:p>
          <a:p>
            <a:r>
              <a:t>at the same seed and produced byte-identical text - that is determinism, not a</a:t>
            </a:r>
          </a:p>
          <a:p>
            <a:r>
              <a:t>repeat.</a:t>
            </a:r>
          </a:p>
          <a:p/>
          <a:p>
            <a:r>
              <a:t>So the pipeline we ship is llama3.1:8b generating and gemma4:31b moderating.</a:t>
            </a:r>
          </a:p>
          <a:p/>
          <a:p>
            <a:r>
              <a:t>The lower half is the more interesting finding: the moderator lands on 2.10</a:t>
            </a:r>
          </a:p>
          <a:p>
            <a:r>
              <a:t>either way. It converges on the same tone regardless of who wrote the draft.</a:t>
            </a:r>
          </a:p>
          <a:p/>
          <a:p>
            <a:r>
              <a:t>DELIVERY: the strongest slide in the deck. Own the mistake. "Our recommendation</a:t>
            </a:r>
          </a:p>
          <a:p>
            <a:r>
              <a:t>had been backwards" is the line - say it plainly.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[0:05]   running total 5:18   ~15 words</a:t>
            </a:r>
          </a:p>
          <a:p/>
          <a:p>
            <a:r>
              <a:t>Last part: where that lands against a person, and how the agent works inside.</a:t>
            </a:r>
          </a:p>
          <a:p/>
          <a:p>
            <a:r>
              <a:t>DELIVERY: a beat. Then fig9 is the payoff slide of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[0:42]   running total 6:00   ~105 words</a:t>
            </a:r>
          </a:p>
          <a:p/>
          <a:p>
            <a:r>
              <a:t>This is the result. The four of us wrote 25 stories by hand from the</a:t>
            </a:r>
          </a:p>
          <a:p>
            <a:r>
              <a:t>same evidence packs, five per series, before seeing any machine output. The green</a:t>
            </a:r>
          </a:p>
          <a:p>
            <a:r>
              <a:t>band is where those human writers sit.</a:t>
            </a:r>
          </a:p>
          <a:p/>
          <a:p>
            <a:r>
              <a:t>Red is the raw story, blue is after moderation. On every one of the five series</a:t>
            </a:r>
          </a:p>
          <a:p>
            <a:r>
              <a:t>the arrow lands on or inside the human band.</a:t>
            </a:r>
          </a:p>
          <a:p/>
          <a:p>
            <a:r>
              <a:t>Overall 3.74 to 2.09,</a:t>
            </a:r>
          </a:p>
          <a:p>
            <a:r>
              <a:t>against a human median of 2.00, over</a:t>
            </a:r>
          </a:p>
          <a:p>
            <a:r>
              <a:t>32 runs with a human counterpart.</a:t>
            </a:r>
          </a:p>
          <a:p/>
          <a:p>
            <a:r>
              <a:t>The caveat is on the slide rather than hidden: our human stories carry no</a:t>
            </a:r>
          </a:p>
          <a:p>
            <a:r>
              <a:t>headline and the machine ones do, so every gap is a lower bound.</a:t>
            </a:r>
          </a:p>
          <a:p/>
          <a:p>
            <a:r>
              <a:t>DELIVERY: say the three numbers slowly, then stop talking.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[0:37]   running total 6:37   ~92 words</a:t>
            </a:r>
          </a:p>
          <a:p/>
          <a:p>
            <a:r>
              <a:t>The moderator's third job, briefly, because it is what people ask about.</a:t>
            </a:r>
          </a:p>
          <a:p/>
          <a:p>
            <a:r>
              <a:t>Choosing a chart splits into three questions. Which forms can this table carry -</a:t>
            </a:r>
          </a:p>
          <a:p>
            <a:r>
              <a:t>closed, decided from column types in code, so it cannot hallucinate a map for a</a:t>
            </a:r>
          </a:p>
          <a:p>
            <a:r>
              <a:t>table with no geography. Which are worth showing - editorial, and that is the</a:t>
            </a:r>
          </a:p>
          <a:p>
            <a:r>
              <a:t>model. Is the result honest - closed again, and a rejected spec goes back for one</a:t>
            </a:r>
          </a:p>
          <a:p>
            <a:r>
              <a:t>retry.</a:t>
            </a:r>
          </a:p>
          <a:p/>
          <a:p>
            <a:r>
              <a:t>That split is why a local model can do this reliably.</a:t>
            </a:r>
          </a:p>
          <a:p/>
          <a:p>
            <a:r>
              <a:t>One honest note: the tool surface is specified and MCP-shaped. A design, not</a:t>
            </a:r>
          </a:p>
          <a:p>
            <a:r>
              <a:t>something running today.</a:t>
            </a:r>
          </a:p>
          <a:p/>
          <a:p>
            <a:r>
              <a:t>DELIVERY: say "specified, not wired" out loud. Someone will ask to see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[0:20]   running total 6:57   ~50 words   &gt;&gt;&gt; DEMO</a:t>
            </a:r>
          </a:p>
          <a:p/>
          <a:p>
            <a:r>
              <a:t>That is the whole system. A table becomes an evidence pack, a local model writes</a:t>
            </a:r>
          </a:p>
          <a:p>
            <a:r>
              <a:t>the story, and the moderator model rewrites the tone, checks the numbers and</a:t>
            </a:r>
          </a:p>
          <a:p>
            <a:r>
              <a:t>picks the figures. Opus judges it blind.</a:t>
            </a:r>
          </a:p>
          <a:p/>
          <a:p>
            <a:r>
              <a:t>Everything except the judge runs on this laptop.</a:t>
            </a:r>
          </a:p>
          <a:p/>
          <a:p>
            <a:r>
              <a:t>Let me show you.</a:t>
            </a:r>
          </a:p>
          <a:p/>
          <a:p>
            <a:r>
              <a:t>DELIVERY: 20 seconds, then switch. The browser should ALREADY be open on the</a:t>
            </a:r>
          </a:p>
          <a:p>
            <a:r>
              <a:t>dataset page. Never click Generate and wait - see SPEAKER-SCRIPT.md.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 whoever finishes the demo   [0:15]</a:t>
            </a:r>
          </a:p>
          <a:p/>
          <a:p>
            <a:r>
              <a:t>One sentence: a second agent can move a generated data story onto the tone level</a:t>
            </a:r>
          </a:p>
          <a:p>
            <a:r>
              <a:t>of a person writing from the same table, without losing the numbers, and at a</a:t>
            </a:r>
          </a:p>
          <a:p>
            <a:r>
              <a:t>cost in readability we can put a number on.</a:t>
            </a:r>
          </a:p>
          <a:p/>
          <a:p>
            <a:r>
              <a:t>What we are not claiming is on the slide. One judge family, no user study, and a</a:t>
            </a:r>
          </a:p>
          <a:p>
            <a:r>
              <a:t>human baseline written by five writer slots rather than a controlled design.</a:t>
            </a:r>
          </a:p>
          <a:p/>
          <a:p>
            <a:r>
              <a:t>Thank you. Happy to take questions.</a:t>
            </a:r>
          </a:p>
          <a:p/>
          <a:p>
            <a:r>
              <a:t>DELIVERY: read the limits line rather than skipping it. Volunteering it is what</a:t>
            </a:r>
          </a:p>
          <a:p>
            <a:r>
              <a:t>makes the rest credible. Q&amp;A prep is at the end of SPEAKER-SCRIPT.md.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FINAL PRESENTATION  ·  CMS TEAM PROJECT  ·  TU DRESDEN</a:t>
            </a:r>
          </a:p>
        </p:txBody>
      </p:sp>
      <p:sp>
        <p:nvSpPr>
          <p:cNvPr id="5" name="TextBox 4"/>
          <p:cNvSpPr txBox="1"/>
          <p:nvPr/>
        </p:nvSpPr>
        <p:spPr>
          <a:xfrm>
            <a:off x="1005840" y="1920240"/>
            <a:ext cx="10058400" cy="1463040"/>
          </a:xfrm>
          <a:prstGeom prst="rect">
            <a:avLst/>
          </a:prstGeom>
          <a:noFill/>
        </p:spPr>
        <p:txBody>
          <a:bodyPr wrap="square" anchor="t" lIns="0" rIns="0" tIns="0" bIns="0">
            <a:spAutoFit/>
          </a:bodyPr>
          <a:lstStyle/>
          <a:p>
            <a:pPr algn="l">
              <a:lnSpc>
                <a:spcPct val="105000"/>
              </a:lnSpc>
            </a:pPr>
            <a:r>
              <a:rPr sz="4200" b="1">
                <a:solidFill>
                  <a:srgbClr val="FFFFFF"/>
                </a:solidFill>
                <a:latin typeface="Arial"/>
              </a:rPr>
              <a:t>Moderating the Emotional Tone</a:t>
            </a:r>
          </a:p>
          <a:p>
            <a:pPr algn="l">
              <a:lnSpc>
                <a:spcPct val="105000"/>
              </a:lnSpc>
            </a:pPr>
            <a:r>
              <a:rPr sz="4200" b="1">
                <a:solidFill>
                  <a:srgbClr val="FFFFFF"/>
                </a:solidFill>
                <a:latin typeface="Arial"/>
              </a:rPr>
              <a:t>of a Generated Data Story</a:t>
            </a:r>
          </a:p>
        </p:txBody>
      </p:sp>
      <p:sp>
        <p:nvSpPr>
          <p:cNvPr id="6" name="Rectangle 5"/>
          <p:cNvSpPr/>
          <p:nvPr/>
        </p:nvSpPr>
        <p:spPr>
          <a:xfrm>
            <a:off x="1005840" y="361188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931920"/>
            <a:ext cx="10058400" cy="822960"/>
          </a:xfrm>
          <a:prstGeom prst="rect">
            <a:avLst/>
          </a:prstGeom>
          <a:noFill/>
        </p:spPr>
        <p:txBody>
          <a:bodyPr wrap="square" anchor="t" lIns="0" rIns="0" tIns="0" bIns="0">
            <a:spAutoFit/>
          </a:bodyPr>
          <a:lstStyle/>
          <a:p>
            <a:pPr algn="l">
              <a:lnSpc>
                <a:spcPct val="120000"/>
              </a:lnSpc>
            </a:pPr>
            <a:r>
              <a:rPr sz="1500" b="0">
                <a:solidFill>
                  <a:srgbClr val="C7D4E6"/>
                </a:solidFill>
                <a:latin typeface="Calibri"/>
              </a:rPr>
              <a:t>An agent that reads a data story and pulls its tone back to what the evidence supports —</a:t>
            </a:r>
          </a:p>
          <a:p>
            <a:pPr algn="l">
              <a:lnSpc>
                <a:spcPct val="120000"/>
              </a:lnSpc>
              <a:spcBef>
                <a:spcPts val="200"/>
              </a:spcBef>
            </a:pPr>
            <a:r>
              <a:rPr sz="1500" b="0">
                <a:solidFill>
                  <a:srgbClr val="C7D4E6"/>
                </a:solidFill>
                <a:latin typeface="Calibri"/>
              </a:rPr>
              <a:t>measured against 25 stories our own team wrote from the same tables.</a:t>
            </a:r>
          </a:p>
        </p:txBody>
      </p:sp>
      <p:sp>
        <p:nvSpPr>
          <p:cNvPr id="8" name="TextBox 7"/>
          <p:cNvSpPr txBox="1"/>
          <p:nvPr/>
        </p:nvSpPr>
        <p:spPr>
          <a:xfrm>
            <a:off x="1005840" y="5120640"/>
            <a:ext cx="10058400" cy="822960"/>
          </a:xfrm>
          <a:prstGeom prst="rect">
            <a:avLst/>
          </a:prstGeom>
          <a:noFill/>
        </p:spPr>
        <p:txBody>
          <a:bodyPr wrap="square" anchor="t" lIns="0" rIns="0" tIns="0" bIns="0">
            <a:spAutoFit/>
          </a:bodyPr>
          <a:lstStyle/>
          <a:p>
            <a:pPr algn="l">
              <a:lnSpc>
                <a:spcPct val="100000"/>
              </a:lnSpc>
            </a:pPr>
            <a:r>
              <a:rPr sz="1400" b="1">
                <a:solidFill>
                  <a:srgbClr val="FFFFFF"/>
                </a:solidFill>
                <a:latin typeface="Calibri"/>
              </a:rPr>
              <a:t>Mahmoud Elsamadony  ·  Ahmed Okasha  ·  Ahmed Elsaadani  ·  Ahmed Ramadan</a:t>
            </a:r>
          </a:p>
          <a:p>
            <a:pPr algn="l">
              <a:lnSpc>
                <a:spcPct val="100000"/>
              </a:lnSpc>
              <a:spcBef>
                <a:spcPts val="500"/>
              </a:spcBef>
            </a:pPr>
            <a:r>
              <a:rPr sz="1150" b="0">
                <a:solidFill>
                  <a:srgbClr val="8A9CB8"/>
                </a:solidFill>
                <a:latin typeface="Calibri"/>
              </a:rPr>
              <a:t>Supervisors: Susmita Khadse, Julián Méndez  ·  Chair: Prof. Dr. Raimund Dachselt (IMLD)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1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research, and the problem it found</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Mahmoud</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research</a:t>
            </a:r>
          </a:p>
        </p:txBody>
      </p:sp>
      <p:sp>
        <p:nvSpPr>
          <p:cNvPr id="9" name="Rectangle 8"/>
          <p:cNvSpPr/>
          <p:nvPr/>
        </p:nvSpPr>
        <p:spPr>
          <a:xfrm>
            <a:off x="3602736"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RESEARCH</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Seven systems surveyed, three reproduced</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5394960"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WHAT THE FIELD BUILDS</a:t>
            </a:r>
          </a:p>
        </p:txBody>
      </p:sp>
      <p:sp>
        <p:nvSpPr>
          <p:cNvPr id="6" name="TextBox 5"/>
          <p:cNvSpPr txBox="1"/>
          <p:nvPr/>
        </p:nvSpPr>
        <p:spPr>
          <a:xfrm>
            <a:off x="685800" y="2395728"/>
            <a:ext cx="5394960" cy="2926080"/>
          </a:xfrm>
          <a:prstGeom prst="rect">
            <a:avLst/>
          </a:prstGeom>
          <a:noFill/>
        </p:spPr>
        <p:txBody>
          <a:bodyPr wrap="square" anchor="t" lIns="0" rIns="0" tIns="0" bIns="0">
            <a:spAutoFit/>
          </a:bodyPr>
          <a:lstStyle/>
          <a:p>
            <a:pPr algn="l">
              <a:lnSpc>
                <a:spcPct val="114000"/>
              </a:lnSpc>
            </a:pPr>
            <a:r>
              <a:rPr sz="1200" b="1">
                <a:solidFill>
                  <a:srgbClr val="0D1B5C"/>
                </a:solidFill>
                <a:latin typeface="Calibri"/>
              </a:rPr>
              <a:t>Template and algorithmic</a:t>
            </a:r>
          </a:p>
          <a:p>
            <a:pPr algn="l">
              <a:lnSpc>
                <a:spcPct val="114000"/>
              </a:lnSpc>
              <a:spcBef>
                <a:spcPts val="200"/>
              </a:spcBef>
            </a:pPr>
            <a:r>
              <a:rPr sz="1150" b="0">
                <a:solidFill>
                  <a:srgbClr val="0F172A"/>
                </a:solidFill>
                <a:latin typeface="Calibri"/>
              </a:rPr>
              <a:t>Voder (InfoVis 2018), Calliope (TVCG 2021) — the non-LLM baselines.</a:t>
            </a:r>
          </a:p>
          <a:p>
            <a:pPr algn="l">
              <a:lnSpc>
                <a:spcPct val="114000"/>
              </a:lnSpc>
              <a:spcBef>
                <a:spcPts val="900"/>
              </a:spcBef>
            </a:pPr>
            <a:r>
              <a:rPr sz="1200" b="1">
                <a:solidFill>
                  <a:srgbClr val="0D1B5C"/>
                </a:solidFill>
                <a:latin typeface="Calibri"/>
              </a:rPr>
              <a:t>Generator plus critic</a:t>
            </a:r>
          </a:p>
          <a:p>
            <a:pPr algn="l">
              <a:lnSpc>
                <a:spcPct val="114000"/>
              </a:lnSpc>
              <a:spcBef>
                <a:spcPts val="200"/>
              </a:spcBef>
            </a:pPr>
            <a:r>
              <a:rPr sz="1150" b="0">
                <a:solidFill>
                  <a:srgbClr val="0F172A"/>
                </a:solidFill>
                <a:latin typeface="Calibri"/>
              </a:rPr>
              <a:t>DataNarrative (EMNLP 2024), Data Director (IEEE VIS 2024), MDSF (2025). The closest precedents to what we built.</a:t>
            </a:r>
          </a:p>
          <a:p>
            <a:pPr algn="l">
              <a:lnSpc>
                <a:spcPct val="114000"/>
              </a:lnSpc>
              <a:spcBef>
                <a:spcPts val="900"/>
              </a:spcBef>
            </a:pPr>
            <a:r>
              <a:rPr sz="1200" b="1">
                <a:solidFill>
                  <a:srgbClr val="0D1B5C"/>
                </a:solidFill>
                <a:latin typeface="Calibri"/>
              </a:rPr>
              <a:t>Interactive and agentic</a:t>
            </a:r>
          </a:p>
          <a:p>
            <a:pPr algn="l">
              <a:lnSpc>
                <a:spcPct val="114000"/>
              </a:lnSpc>
              <a:spcBef>
                <a:spcPts val="200"/>
              </a:spcBef>
            </a:pPr>
            <a:r>
              <a:rPr sz="1150" b="0">
                <a:solidFill>
                  <a:srgbClr val="0F172A"/>
                </a:solidFill>
                <a:latin typeface="Calibri"/>
              </a:rPr>
              <a:t>InReAcTable (UIST 2025) — a ReAct loop over tables.</a:t>
            </a:r>
          </a:p>
          <a:p>
            <a:pPr algn="l">
              <a:lnSpc>
                <a:spcPct val="114000"/>
              </a:lnSpc>
              <a:spcBef>
                <a:spcPts val="900"/>
              </a:spcBef>
            </a:pPr>
            <a:r>
              <a:rPr sz="1200" b="1">
                <a:solidFill>
                  <a:srgbClr val="0D1B5C"/>
                </a:solidFill>
                <a:latin typeface="Calibri"/>
              </a:rPr>
              <a:t>Benchmarks</a:t>
            </a:r>
          </a:p>
          <a:p>
            <a:pPr algn="l">
              <a:lnSpc>
                <a:spcPct val="114000"/>
              </a:lnSpc>
              <a:spcBef>
                <a:spcPts val="200"/>
              </a:spcBef>
            </a:pPr>
            <a:r>
              <a:rPr sz="1150" b="0">
                <a:solidFill>
                  <a:srgbClr val="0F172A"/>
                </a:solidFill>
                <a:latin typeface="Calibri"/>
              </a:rPr>
              <a:t>Kasner and Dušek (ACL 2024) on faithfulness; DataTales (2025) on data narration. Framing theory from Hullman and Diakopoulos (2011).</a:t>
            </a:r>
          </a:p>
        </p:txBody>
      </p:sp>
      <p:sp>
        <p:nvSpPr>
          <p:cNvPr id="7" name="TextBox 6"/>
          <p:cNvSpPr txBox="1"/>
          <p:nvPr/>
        </p:nvSpPr>
        <p:spPr>
          <a:xfrm>
            <a:off x="6537960" y="2103120"/>
            <a:ext cx="4965192"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WHAT WE RE-RAN OURSELVES</a:t>
            </a:r>
          </a:p>
        </p:txBody>
      </p:sp>
      <p:sp>
        <p:nvSpPr>
          <p:cNvPr id="8" name="Rectangle 7"/>
          <p:cNvSpPr/>
          <p:nvPr/>
        </p:nvSpPr>
        <p:spPr>
          <a:xfrm>
            <a:off x="6537960" y="2395728"/>
            <a:ext cx="38100" cy="8686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84848" y="2395728"/>
            <a:ext cx="4663440" cy="868680"/>
          </a:xfrm>
          <a:prstGeom prst="rect">
            <a:avLst/>
          </a:prstGeom>
          <a:noFill/>
        </p:spPr>
        <p:txBody>
          <a:bodyPr wrap="square" anchor="t" lIns="0" rIns="0" tIns="0" bIns="0">
            <a:spAutoFit/>
          </a:bodyPr>
          <a:lstStyle/>
          <a:p>
            <a:pPr algn="l">
              <a:lnSpc>
                <a:spcPct val="114000"/>
              </a:lnSpc>
            </a:pPr>
            <a:r>
              <a:rPr sz="1200" b="1">
                <a:solidFill>
                  <a:srgbClr val="0D1B5C"/>
                </a:solidFill>
                <a:latin typeface="Calibri"/>
              </a:rPr>
              <a:t>Kasner and Dušek — faithfulness</a:t>
            </a:r>
          </a:p>
          <a:p>
            <a:pPr algn="l">
              <a:lnSpc>
                <a:spcPct val="114000"/>
              </a:lnSpc>
              <a:spcBef>
                <a:spcPts val="200"/>
              </a:spcBef>
            </a:pPr>
            <a:r>
              <a:rPr sz="1150" b="0">
                <a:solidFill>
                  <a:srgbClr val="0F172A"/>
                </a:solidFill>
                <a:latin typeface="Calibri"/>
              </a:rPr>
              <a:t>gemma4:12b left ~18% of outputs with a semantic error, against the paper's &gt;80%. A 4B model regressed to 52%.</a:t>
            </a:r>
          </a:p>
        </p:txBody>
      </p:sp>
      <p:sp>
        <p:nvSpPr>
          <p:cNvPr id="10" name="Rectangle 9"/>
          <p:cNvSpPr/>
          <p:nvPr/>
        </p:nvSpPr>
        <p:spPr>
          <a:xfrm>
            <a:off x="6537960" y="3419856"/>
            <a:ext cx="38100" cy="8686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3419856"/>
            <a:ext cx="4663440" cy="868680"/>
          </a:xfrm>
          <a:prstGeom prst="rect">
            <a:avLst/>
          </a:prstGeom>
          <a:noFill/>
        </p:spPr>
        <p:txBody>
          <a:bodyPr wrap="square" anchor="t" lIns="0" rIns="0" tIns="0" bIns="0">
            <a:spAutoFit/>
          </a:bodyPr>
          <a:lstStyle/>
          <a:p>
            <a:pPr algn="l">
              <a:lnSpc>
                <a:spcPct val="114000"/>
              </a:lnSpc>
            </a:pPr>
            <a:r>
              <a:rPr sz="1200" b="1">
                <a:solidFill>
                  <a:srgbClr val="0D1B5C"/>
                </a:solidFill>
                <a:latin typeface="Calibri"/>
              </a:rPr>
              <a:t>DataTales — data narration</a:t>
            </a:r>
          </a:p>
          <a:p>
            <a:pPr algn="l">
              <a:lnSpc>
                <a:spcPct val="114000"/>
              </a:lnSpc>
              <a:spcBef>
                <a:spcPts val="200"/>
              </a:spcBef>
            </a:pPr>
            <a:r>
              <a:rPr sz="1150" b="0">
                <a:solidFill>
                  <a:srgbClr val="0F172A"/>
                </a:solidFill>
                <a:latin typeface="Calibri"/>
              </a:rPr>
              <a:t>Reading operations climb with scale: rate-of-change goes 43% → 89% from a 4B model to a 12B one.</a:t>
            </a:r>
          </a:p>
        </p:txBody>
      </p:sp>
      <p:sp>
        <p:nvSpPr>
          <p:cNvPr id="12" name="Rectangle 11"/>
          <p:cNvSpPr/>
          <p:nvPr/>
        </p:nvSpPr>
        <p:spPr>
          <a:xfrm>
            <a:off x="6537960" y="4443984"/>
            <a:ext cx="38100" cy="8686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84848" y="4443984"/>
            <a:ext cx="4663440" cy="868680"/>
          </a:xfrm>
          <a:prstGeom prst="rect">
            <a:avLst/>
          </a:prstGeom>
          <a:noFill/>
        </p:spPr>
        <p:txBody>
          <a:bodyPr wrap="square" anchor="t" lIns="0" rIns="0" tIns="0" bIns="0">
            <a:spAutoFit/>
          </a:bodyPr>
          <a:lstStyle/>
          <a:p>
            <a:pPr algn="l">
              <a:lnSpc>
                <a:spcPct val="114000"/>
              </a:lnSpc>
            </a:pPr>
            <a:r>
              <a:rPr sz="1200" b="1">
                <a:solidFill>
                  <a:srgbClr val="0D1B5C"/>
                </a:solidFill>
                <a:latin typeface="Calibri"/>
              </a:rPr>
              <a:t>DataNarrative — architecture</a:t>
            </a:r>
          </a:p>
          <a:p>
            <a:pPr algn="l">
              <a:lnSpc>
                <a:spcPct val="114000"/>
              </a:lnSpc>
              <a:spcBef>
                <a:spcPts val="200"/>
              </a:spcBef>
            </a:pPr>
            <a:r>
              <a:rPr sz="1150" b="0">
                <a:solidFill>
                  <a:srgbClr val="0F172A"/>
                </a:solidFill>
                <a:latin typeface="Calibri"/>
              </a:rPr>
              <a:t>Reproduced the generate-and-verify pattern. It is the shape our own pipeline adapts.</a:t>
            </a:r>
          </a:p>
        </p:txBody>
      </p:sp>
      <p:sp>
        <p:nvSpPr>
          <p:cNvPr id="14" name="Rectangle 13"/>
          <p:cNvSpPr/>
          <p:nvPr/>
        </p:nvSpPr>
        <p:spPr>
          <a:xfrm>
            <a:off x="685800" y="5532120"/>
            <a:ext cx="10817352" cy="5669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5532120"/>
            <a:ext cx="44450" cy="566928"/>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60136"/>
            <a:ext cx="10332720" cy="365760"/>
          </a:xfrm>
          <a:prstGeom prst="rect">
            <a:avLst/>
          </a:prstGeom>
          <a:noFill/>
        </p:spPr>
        <p:txBody>
          <a:bodyPr wrap="square" anchor="t" lIns="0" rIns="0" tIns="0" bIns="0">
            <a:spAutoFit/>
          </a:bodyPr>
          <a:lstStyle/>
          <a:p>
            <a:pPr algn="l">
              <a:lnSpc>
                <a:spcPct val="100000"/>
              </a:lnSpc>
            </a:pPr>
            <a:r>
              <a:rPr sz="1300" b="1">
                <a:solidFill>
                  <a:srgbClr val="0D1B5C"/>
                </a:solidFill>
                <a:latin typeface="Calibri"/>
              </a:rPr>
              <a:t>The conclusion that set our topic: open models are already fairly faithful at stating data, and every critic agent in the literature checks facts. So another fact-checker is not the gap.</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PROBLEM</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Everyone checks the facts. Nobody checks the tone.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40280"/>
            <a:ext cx="5806440" cy="3657600"/>
          </a:xfrm>
          <a:prstGeom prst="rect">
            <a:avLst/>
          </a:prstGeom>
          <a:noFill/>
        </p:spPr>
        <p:txBody>
          <a:bodyPr wrap="square" anchor="t" lIns="0" rIns="0" tIns="0" bIns="0">
            <a:spAutoFit/>
          </a:bodyPr>
          <a:lstStyle/>
          <a:p>
            <a:pPr algn="l">
              <a:lnSpc>
                <a:spcPct val="115000"/>
              </a:lnSpc>
            </a:pPr>
            <a:r>
              <a:rPr sz="1600" b="1">
                <a:solidFill>
                  <a:srgbClr val="0D1B5C"/>
                </a:solidFill>
                <a:latin typeface="Calibri"/>
              </a:rPr>
              <a:t>▪  The critic is always a fact-checker.</a:t>
            </a:r>
          </a:p>
          <a:p>
            <a:pPr algn="l">
              <a:lnSpc>
                <a:spcPct val="115000"/>
              </a:lnSpc>
              <a:spcBef>
                <a:spcPts val="200"/>
              </a:spcBef>
            </a:pPr>
            <a:r>
              <a:rPr sz="1500" b="0">
                <a:solidFill>
                  <a:srgbClr val="0F172A"/>
                </a:solidFill>
                <a:latin typeface="Calibri"/>
              </a:rPr>
              <a:t>     That is what our survey found, without exception. No published system moderates the affective tone of a data narrative.</a:t>
            </a:r>
          </a:p>
          <a:p>
            <a:pPr algn="l">
              <a:lnSpc>
                <a:spcPct val="115000"/>
              </a:lnSpc>
              <a:spcBef>
                <a:spcPts val="1300"/>
              </a:spcBef>
            </a:pPr>
            <a:r>
              <a:rPr sz="1600" b="1">
                <a:solidFill>
                  <a:srgbClr val="0D1B5C"/>
                </a:solidFill>
                <a:latin typeface="Calibri"/>
              </a:rPr>
              <a:t>▪  But framing moves the reader on its own.</a:t>
            </a:r>
          </a:p>
          <a:p>
            <a:pPr algn="l">
              <a:lnSpc>
                <a:spcPct val="115000"/>
              </a:lnSpc>
              <a:spcBef>
                <a:spcPts val="200"/>
              </a:spcBef>
            </a:pPr>
            <a:r>
              <a:rPr sz="1500" b="0">
                <a:solidFill>
                  <a:srgbClr val="0F172A"/>
                </a:solidFill>
                <a:latin typeface="Calibri"/>
              </a:rPr>
              <a:t>     Hullman and Diakopoulos show editorial framing significantly changes how the same chart is read. Tone is not decoration; it is part of the claim.</a:t>
            </a:r>
          </a:p>
          <a:p>
            <a:pPr algn="l">
              <a:lnSpc>
                <a:spcPct val="115000"/>
              </a:lnSpc>
              <a:spcBef>
                <a:spcPts val="1300"/>
              </a:spcBef>
            </a:pPr>
            <a:r>
              <a:rPr sz="1600" b="1">
                <a:solidFill>
                  <a:srgbClr val="0D1B5C"/>
                </a:solidFill>
                <a:latin typeface="Calibri"/>
              </a:rPr>
              <a:t>▪  So a story can be fully correct and still mislead.</a:t>
            </a:r>
          </a:p>
          <a:p>
            <a:pPr algn="l">
              <a:lnSpc>
                <a:spcPct val="115000"/>
              </a:lnSpc>
              <a:spcBef>
                <a:spcPts val="200"/>
              </a:spcBef>
            </a:pPr>
            <a:r>
              <a:rPr sz="1500" b="0">
                <a:solidFill>
                  <a:srgbClr val="0F172A"/>
                </a:solidFill>
                <a:latin typeface="Calibri"/>
              </a:rPr>
              <a:t>     Both sentences on the right are true to the table. A fact-checker passes both. Only one of them is honest about what the data says.</a:t>
            </a:r>
          </a:p>
        </p:txBody>
      </p:sp>
      <p:sp>
        <p:nvSpPr>
          <p:cNvPr id="6" name="Rectangle 5"/>
          <p:cNvSpPr/>
          <p:nvPr/>
        </p:nvSpPr>
        <p:spPr>
          <a:xfrm>
            <a:off x="6858000" y="2148840"/>
            <a:ext cx="4645152" cy="32004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2148840"/>
            <a:ext cx="46451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78040" y="2423160"/>
            <a:ext cx="4023360" cy="274320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EVERY NUMBER BELOW IS CORRECT</a:t>
            </a:r>
          </a:p>
          <a:p>
            <a:pPr algn="l">
              <a:lnSpc>
                <a:spcPct val="115000"/>
              </a:lnSpc>
              <a:spcBef>
                <a:spcPts val="1400"/>
              </a:spcBef>
            </a:pPr>
            <a:r>
              <a:rPr sz="1600" b="1">
                <a:solidFill>
                  <a:srgbClr val="B45409"/>
                </a:solidFill>
                <a:latin typeface="Calibri"/>
              </a:rPr>
              <a:t>“The world faces a catastrophic resurgence as a deadly disease roars back.”</a:t>
            </a:r>
          </a:p>
          <a:p>
            <a:pPr algn="l">
              <a:lnSpc>
                <a:spcPct val="115000"/>
              </a:lnSpc>
              <a:spcBef>
                <a:spcPts val="600"/>
              </a:spcBef>
            </a:pPr>
            <a:r>
              <a:rPr sz="1200" b="0">
                <a:solidFill>
                  <a:srgbClr val="526173"/>
                </a:solidFill>
                <a:latin typeface="Calibri"/>
              </a:rPr>
              <a:t>A fact-checker passes this. It cites nothing false.</a:t>
            </a:r>
          </a:p>
          <a:p>
            <a:pPr algn="l">
              <a:lnSpc>
                <a:spcPct val="115000"/>
              </a:lnSpc>
              <a:spcBef>
                <a:spcPts val="1600"/>
              </a:spcBef>
            </a:pPr>
            <a:r>
              <a:rPr sz="1600" b="1">
                <a:solidFill>
                  <a:srgbClr val="0E8F86"/>
                </a:solidFill>
                <a:latin typeface="Calibri"/>
              </a:rPr>
              <a:t>“Cases rose for a third year while coverage stalled near 84%, below the 95% herd-immunity threshold.”</a:t>
            </a:r>
          </a:p>
          <a:p>
            <a:pPr algn="l">
              <a:lnSpc>
                <a:spcPct val="115000"/>
              </a:lnSpc>
              <a:spcBef>
                <a:spcPts val="600"/>
              </a:spcBef>
            </a:pPr>
            <a:r>
              <a:rPr sz="1200" b="0">
                <a:solidFill>
                  <a:srgbClr val="526173"/>
                </a:solidFill>
                <a:latin typeface="Calibri"/>
              </a:rPr>
              <a:t>Same table. Same facts. A different reader reaction.</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2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we built, and how we measure it</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Okasha</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we built</a:t>
            </a:r>
          </a:p>
        </p:txBody>
      </p:sp>
      <p:sp>
        <p:nvSpPr>
          <p:cNvPr id="11" name="Rectangle 10"/>
          <p:cNvSpPr/>
          <p:nvPr/>
        </p:nvSpPr>
        <p:spPr>
          <a:xfrm>
            <a:off x="6199632"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OUR FIX</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One generator, one agentic moderator, one independent judge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94560"/>
            <a:ext cx="2743200"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94560"/>
            <a:ext cx="2743200"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95728"/>
            <a:ext cx="233172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1   GENERATE</a:t>
            </a:r>
          </a:p>
          <a:p>
            <a:pPr algn="l">
              <a:lnSpc>
                <a:spcPct val="114000"/>
              </a:lnSpc>
              <a:spcBef>
                <a:spcPts val="400"/>
              </a:spcBef>
            </a:pPr>
            <a:r>
              <a:rPr sz="1500" b="1">
                <a:solidFill>
                  <a:srgbClr val="1E66B8"/>
                </a:solidFill>
                <a:latin typeface="Arial"/>
              </a:rPr>
              <a:t>llama3.1:8b</a:t>
            </a:r>
          </a:p>
          <a:p>
            <a:pPr algn="l">
              <a:lnSpc>
                <a:spcPct val="114000"/>
              </a:lnSpc>
              <a:spcBef>
                <a:spcPts val="400"/>
              </a:spcBef>
            </a:pPr>
            <a:r>
              <a:rPr sz="1100" b="0">
                <a:solidFill>
                  <a:srgbClr val="0F172A"/>
                </a:solidFill>
                <a:latin typeface="Calibri"/>
              </a:rPr>
              <a:t>Writes the first-draft story from
an evidence pack built out of
the table.</a:t>
            </a:r>
          </a:p>
        </p:txBody>
      </p:sp>
      <p:sp>
        <p:nvSpPr>
          <p:cNvPr id="8" name="Rectangle 7"/>
          <p:cNvSpPr/>
          <p:nvPr/>
        </p:nvSpPr>
        <p:spPr>
          <a:xfrm>
            <a:off x="3794760" y="2194560"/>
            <a:ext cx="4709160" cy="248716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794760" y="2194560"/>
            <a:ext cx="470916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41648" y="2395728"/>
            <a:ext cx="4206240" cy="54864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2   THE AGENTIC ROLE — ONE MODEL, THREE JOBS</a:t>
            </a:r>
          </a:p>
          <a:p>
            <a:pPr algn="l">
              <a:lnSpc>
                <a:spcPct val="114000"/>
              </a:lnSpc>
              <a:spcBef>
                <a:spcPts val="400"/>
              </a:spcBef>
            </a:pPr>
            <a:r>
              <a:rPr sz="1500" b="1">
                <a:solidFill>
                  <a:srgbClr val="0E8F86"/>
                </a:solidFill>
                <a:latin typeface="Arial"/>
              </a:rPr>
              <a:t>gemma4:31b</a:t>
            </a:r>
          </a:p>
        </p:txBody>
      </p:sp>
      <p:sp>
        <p:nvSpPr>
          <p:cNvPr id="11" name="Rectangle 10"/>
          <p:cNvSpPr/>
          <p:nvPr/>
        </p:nvSpPr>
        <p:spPr>
          <a:xfrm>
            <a:off x="4041648" y="3127248"/>
            <a:ext cx="31750" cy="40233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24528" y="3127248"/>
            <a:ext cx="4114800" cy="402336"/>
          </a:xfrm>
          <a:prstGeom prst="rect">
            <a:avLst/>
          </a:prstGeom>
          <a:noFill/>
        </p:spPr>
        <p:txBody>
          <a:bodyPr wrap="square" anchor="t" lIns="0" rIns="0" tIns="0" bIns="0">
            <a:spAutoFit/>
          </a:bodyPr>
          <a:lstStyle/>
          <a:p>
            <a:pPr algn="l">
              <a:lnSpc>
                <a:spcPct val="100000"/>
              </a:lnSpc>
            </a:pPr>
            <a:r>
              <a:rPr sz="1200" b="1">
                <a:solidFill>
                  <a:srgbClr val="0D1B5C"/>
                </a:solidFill>
                <a:latin typeface="Calibri"/>
              </a:rPr>
              <a:t>Moderates tone   </a:t>
            </a:r>
          </a:p>
        </p:txBody>
      </p:sp>
      <p:sp>
        <p:nvSpPr>
          <p:cNvPr id="13" name="TextBox 12"/>
          <p:cNvSpPr txBox="1"/>
          <p:nvPr/>
        </p:nvSpPr>
        <p:spPr>
          <a:xfrm>
            <a:off x="4224528" y="3319272"/>
            <a:ext cx="4114800" cy="219456"/>
          </a:xfrm>
          <a:prstGeom prst="rect">
            <a:avLst/>
          </a:prstGeom>
          <a:noFill/>
        </p:spPr>
        <p:txBody>
          <a:bodyPr wrap="square" anchor="t" lIns="0" rIns="0" tIns="0" bIns="0">
            <a:spAutoFit/>
          </a:bodyPr>
          <a:lstStyle/>
          <a:p>
            <a:pPr algn="l">
              <a:lnSpc>
                <a:spcPct val="100000"/>
              </a:lnSpc>
            </a:pPr>
            <a:r>
              <a:rPr sz="1050" b="1">
                <a:solidFill>
                  <a:srgbClr val="0E8F86"/>
                </a:solidFill>
                <a:latin typeface="Calibri"/>
              </a:rPr>
              <a:t>rewrites the framing, keeps the numbers   ← the contribution</a:t>
            </a:r>
          </a:p>
        </p:txBody>
      </p:sp>
      <p:sp>
        <p:nvSpPr>
          <p:cNvPr id="14" name="Rectangle 13"/>
          <p:cNvSpPr/>
          <p:nvPr/>
        </p:nvSpPr>
        <p:spPr>
          <a:xfrm>
            <a:off x="4041648" y="3630168"/>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3630168"/>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Fact-checks   </a:t>
            </a:r>
          </a:p>
        </p:txBody>
      </p:sp>
      <p:sp>
        <p:nvSpPr>
          <p:cNvPr id="16" name="TextBox 15"/>
          <p:cNvSpPr txBox="1"/>
          <p:nvPr/>
        </p:nvSpPr>
        <p:spPr>
          <a:xfrm>
            <a:off x="4224528" y="3822191"/>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every stated number back against the table</a:t>
            </a:r>
          </a:p>
        </p:txBody>
      </p:sp>
      <p:sp>
        <p:nvSpPr>
          <p:cNvPr id="17" name="Rectangle 16"/>
          <p:cNvSpPr/>
          <p:nvPr/>
        </p:nvSpPr>
        <p:spPr>
          <a:xfrm>
            <a:off x="4041648" y="4133087"/>
            <a:ext cx="31750" cy="402336"/>
          </a:xfrm>
          <a:prstGeom prst="rect">
            <a:avLst/>
          </a:prstGeom>
          <a:solidFill>
            <a:srgbClr val="D9DF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24528" y="4133087"/>
            <a:ext cx="4114800" cy="402336"/>
          </a:xfrm>
          <a:prstGeom prst="rect">
            <a:avLst/>
          </a:prstGeom>
          <a:noFill/>
        </p:spPr>
        <p:txBody>
          <a:bodyPr wrap="square" anchor="t" lIns="0" rIns="0" tIns="0" bIns="0">
            <a:spAutoFit/>
          </a:bodyPr>
          <a:lstStyle/>
          <a:p>
            <a:pPr algn="l">
              <a:lnSpc>
                <a:spcPct val="100000"/>
              </a:lnSpc>
            </a:pPr>
            <a:r>
              <a:rPr sz="1200" b="1">
                <a:solidFill>
                  <a:srgbClr val="0F172A"/>
                </a:solidFill>
                <a:latin typeface="Calibri"/>
              </a:rPr>
              <a:t>Selects the charts   </a:t>
            </a:r>
          </a:p>
        </p:txBody>
      </p:sp>
      <p:sp>
        <p:nvSpPr>
          <p:cNvPr id="19" name="TextBox 18"/>
          <p:cNvSpPr txBox="1"/>
          <p:nvPr/>
        </p:nvSpPr>
        <p:spPr>
          <a:xfrm>
            <a:off x="4224528" y="4325112"/>
            <a:ext cx="4114800" cy="219456"/>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ranks figures the table can honestly carry</a:t>
            </a:r>
          </a:p>
        </p:txBody>
      </p:sp>
      <p:sp>
        <p:nvSpPr>
          <p:cNvPr id="20" name="Rectangle 19"/>
          <p:cNvSpPr/>
          <p:nvPr/>
        </p:nvSpPr>
        <p:spPr>
          <a:xfrm>
            <a:off x="8869680" y="2194560"/>
            <a:ext cx="2633472" cy="13716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69680" y="2194560"/>
            <a:ext cx="2633472"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9136" y="2395728"/>
            <a:ext cx="2240280" cy="1097280"/>
          </a:xfrm>
          <a:prstGeom prst="rect">
            <a:avLst/>
          </a:prstGeom>
          <a:noFill/>
        </p:spPr>
        <p:txBody>
          <a:bodyPr wrap="square" anchor="t" lIns="0" rIns="0" tIns="0" bIns="0">
            <a:spAutoFit/>
          </a:bodyPr>
          <a:lstStyle/>
          <a:p>
            <a:pPr algn="l">
              <a:lnSpc>
                <a:spcPct val="114000"/>
              </a:lnSpc>
            </a:pPr>
            <a:r>
              <a:rPr sz="1000" b="1">
                <a:solidFill>
                  <a:srgbClr val="526173"/>
                </a:solidFill>
                <a:latin typeface="Arial"/>
              </a:rPr>
              <a:t>3   JUDGE</a:t>
            </a:r>
          </a:p>
          <a:p>
            <a:pPr algn="l">
              <a:lnSpc>
                <a:spcPct val="114000"/>
              </a:lnSpc>
              <a:spcBef>
                <a:spcPts val="400"/>
              </a:spcBef>
            </a:pPr>
            <a:r>
              <a:rPr sz="1500" b="1">
                <a:solidFill>
                  <a:srgbClr val="0D1B5C"/>
                </a:solidFill>
                <a:latin typeface="Arial"/>
              </a:rPr>
              <a:t>Claude Opus</a:t>
            </a:r>
          </a:p>
          <a:p>
            <a:pPr algn="l">
              <a:lnSpc>
                <a:spcPct val="114000"/>
              </a:lnSpc>
              <a:spcBef>
                <a:spcPts val="400"/>
              </a:spcBef>
            </a:pPr>
            <a:r>
              <a:rPr sz="1100" b="0">
                <a:solidFill>
                  <a:srgbClr val="0F172A"/>
                </a:solidFill>
                <a:latin typeface="Calibri"/>
              </a:rPr>
              <a:t>Rates each story blind. Evaluation
only — not part of the product
loop.</a:t>
            </a:r>
          </a:p>
        </p:txBody>
      </p:sp>
      <p:sp>
        <p:nvSpPr>
          <p:cNvPr id="23" name="Rectangle 22"/>
          <p:cNvSpPr/>
          <p:nvPr/>
        </p:nvSpPr>
        <p:spPr>
          <a:xfrm>
            <a:off x="685800" y="4846320"/>
            <a:ext cx="5394960" cy="1170432"/>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85800" y="4846320"/>
            <a:ext cx="44450" cy="1170432"/>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5010912"/>
            <a:ext cx="4937760" cy="91440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Same model, separate stages</a:t>
            </a:r>
          </a:p>
          <a:p>
            <a:pPr algn="l">
              <a:lnSpc>
                <a:spcPct val="114000"/>
              </a:lnSpc>
              <a:spcBef>
                <a:spcPts val="400"/>
              </a:spcBef>
            </a:pPr>
            <a:r>
              <a:rPr sz="1150" b="0">
                <a:solidFill>
                  <a:srgbClr val="0F172A"/>
                </a:solidFill>
                <a:latin typeface="Calibri"/>
              </a:rPr>
              <a:t>The moderator is the agentic role here, so the agentic reading of a table belongs to it too. The stages stay separate, so a tone number is still measuring one change — and one 19–23 GB load is paid per run instead of per stage.</a:t>
            </a:r>
          </a:p>
        </p:txBody>
      </p:sp>
      <p:sp>
        <p:nvSpPr>
          <p:cNvPr id="26" name="TextBox 25"/>
          <p:cNvSpPr txBox="1"/>
          <p:nvPr/>
        </p:nvSpPr>
        <p:spPr>
          <a:xfrm>
            <a:off x="6537960" y="4864608"/>
            <a:ext cx="4965192" cy="1188720"/>
          </a:xfrm>
          <a:prstGeom prst="rect">
            <a:avLst/>
          </a:prstGeom>
          <a:noFill/>
        </p:spPr>
        <p:txBody>
          <a:bodyPr wrap="square" anchor="t" lIns="0" rIns="0" tIns="0" bIns="0">
            <a:spAutoFit/>
          </a:bodyPr>
          <a:lstStyle/>
          <a:p>
            <a:pPr algn="l">
              <a:lnSpc>
                <a:spcPct val="114000"/>
              </a:lnSpc>
            </a:pPr>
            <a:r>
              <a:rPr sz="1250" b="1">
                <a:solidFill>
                  <a:srgbClr val="0D1B5C"/>
                </a:solidFill>
                <a:latin typeface="Calibri"/>
              </a:rPr>
              <a:t>Two datasets, because tone fails both ways.</a:t>
            </a:r>
          </a:p>
          <a:p>
            <a:pPr algn="l">
              <a:lnSpc>
                <a:spcPct val="114000"/>
              </a:lnSpc>
              <a:spcBef>
                <a:spcPts val="400"/>
              </a:spcBef>
            </a:pPr>
            <a:r>
              <a:rPr sz="1150" b="0">
                <a:solidFill>
                  <a:srgbClr val="0F172A"/>
                </a:solidFill>
                <a:latin typeface="Calibri"/>
              </a:rPr>
              <a:t>Measles × MCV1 coverage (9,959 rows, 1980–2024) invites alarmism. WHO child mortality invites the opposite failure, false reassurance, where the agent must keep the inequality and the COVID reversal visible.</a:t>
            </a:r>
          </a:p>
        </p:txBody>
      </p:sp>
      <p:sp>
        <p:nvSpPr>
          <p:cNvPr id="27" name="TextBox 2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8" name="TextBox 2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INSTRUMENT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Two axes, and both ends of each are failures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5349240" cy="3108960"/>
          </a:xfrm>
          <a:prstGeom prst="rect">
            <a:avLst/>
          </a:prstGeom>
          <a:noFill/>
        </p:spPr>
        <p:txBody>
          <a:bodyPr wrap="square" anchor="t" lIns="0" rIns="0" tIns="0" bIns="0">
            <a:spAutoFit/>
          </a:bodyPr>
          <a:lstStyle/>
          <a:p>
            <a:pPr algn="l">
              <a:lnSpc>
                <a:spcPct val="118000"/>
              </a:lnSpc>
            </a:pPr>
            <a:r>
              <a:rPr sz="1400" b="0">
                <a:solidFill>
                  <a:srgbClr val="0F172A"/>
                </a:solidFill>
                <a:latin typeface="Calibri"/>
              </a:rPr>
              <a:t>The judge rates every story 1 to 5 on alarmism, and separately 1 to 5 on optimism.</a:t>
            </a:r>
          </a:p>
          <a:p>
            <a:pPr algn="l">
              <a:lnSpc>
                <a:spcPct val="118000"/>
              </a:lnSpc>
              <a:spcBef>
                <a:spcPts val="900"/>
              </a:spcBef>
            </a:pPr>
            <a:r>
              <a:rPr sz="1400" b="0">
                <a:solidFill>
                  <a:srgbClr val="0F172A"/>
                </a:solidFill>
                <a:latin typeface="Calibri"/>
              </a:rPr>
              <a:t>A 5 catastrophises. A 1 is flat and hides real stakes. Only the middle is calibrated — so this is not a “lower is better” scale, and an agent that simply drains the feeling out of a story scores badly too.</a:t>
            </a:r>
          </a:p>
          <a:p>
            <a:pPr algn="l">
              <a:lnSpc>
                <a:spcPct val="118000"/>
              </a:lnSpc>
              <a:spcBef>
                <a:spcPts val="1200"/>
              </a:spcBef>
            </a:pPr>
            <a:r>
              <a:rPr sz="1400" b="1">
                <a:solidFill>
                  <a:srgbClr val="0D1B5C"/>
                </a:solidFill>
                <a:latin typeface="Calibri"/>
              </a:rPr>
              <a:t>Blinding cost us something.</a:t>
            </a:r>
          </a:p>
          <a:p>
            <a:pPr algn="l">
              <a:lnSpc>
                <a:spcPct val="118000"/>
              </a:lnSpc>
              <a:spcBef>
                <a:spcPts val="400"/>
              </a:spcBef>
            </a:pPr>
            <a:r>
              <a:rPr sz="1250" b="0">
                <a:solidFill>
                  <a:srgbClr val="526173"/>
                </a:solidFill>
                <a:latin typeface="Calibri"/>
              </a:rPr>
              <a:t>An earlier version showed the judge both stories in one call, labelled before and after, always in that order. That names the treatment to the rater. Each story is now scored alone, which doubles the calls and gives up the direct comparison — the price of a rating that was not told which story is the treatment.</a:t>
            </a:r>
          </a:p>
        </p:txBody>
      </p:sp>
      <p:sp>
        <p:nvSpPr>
          <p:cNvPr id="6" name="TextBox 5"/>
          <p:cNvSpPr txBox="1"/>
          <p:nvPr/>
        </p:nvSpPr>
        <p:spPr>
          <a:xfrm>
            <a:off x="6446520" y="219456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ALARMISM</a:t>
            </a:r>
          </a:p>
        </p:txBody>
      </p:sp>
      <p:sp>
        <p:nvSpPr>
          <p:cNvPr id="7" name="Rectangle 6"/>
          <p:cNvSpPr/>
          <p:nvPr/>
        </p:nvSpPr>
        <p:spPr>
          <a:xfrm>
            <a:off x="6446520" y="252374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81034" y="252374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81034" y="256032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0" name="Rectangle 9"/>
          <p:cNvSpPr/>
          <p:nvPr/>
        </p:nvSpPr>
        <p:spPr>
          <a:xfrm>
            <a:off x="7655813" y="2468879"/>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8009" y="2871215"/>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2.0</a:t>
            </a:r>
          </a:p>
        </p:txBody>
      </p:sp>
      <p:sp>
        <p:nvSpPr>
          <p:cNvPr id="12" name="TextBox 11"/>
          <p:cNvSpPr txBox="1"/>
          <p:nvPr/>
        </p:nvSpPr>
        <p:spPr>
          <a:xfrm>
            <a:off x="6446520" y="2871215"/>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13" name="TextBox 12"/>
          <p:cNvSpPr txBox="1"/>
          <p:nvPr/>
        </p:nvSpPr>
        <p:spPr>
          <a:xfrm>
            <a:off x="10058399" y="2871215"/>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14" name="TextBox 13"/>
          <p:cNvSpPr txBox="1"/>
          <p:nvPr/>
        </p:nvSpPr>
        <p:spPr>
          <a:xfrm>
            <a:off x="6446520" y="3520440"/>
            <a:ext cx="489204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OPTIMISM</a:t>
            </a:r>
          </a:p>
        </p:txBody>
      </p:sp>
      <p:sp>
        <p:nvSpPr>
          <p:cNvPr id="15" name="Rectangle 14"/>
          <p:cNvSpPr/>
          <p:nvPr/>
        </p:nvSpPr>
        <p:spPr>
          <a:xfrm>
            <a:off x="6446520" y="3849624"/>
            <a:ext cx="4892040" cy="2743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81034" y="3849624"/>
            <a:ext cx="1223010" cy="274320"/>
          </a:xfrm>
          <a:prstGeom prst="rect">
            <a:avLst/>
          </a:prstGeom>
          <a:solidFill>
            <a:srgbClr val="D5EC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81034" y="3886200"/>
            <a:ext cx="1223010" cy="219456"/>
          </a:xfrm>
          <a:prstGeom prst="rect">
            <a:avLst/>
          </a:prstGeom>
          <a:noFill/>
        </p:spPr>
        <p:txBody>
          <a:bodyPr wrap="square" anchor="t" lIns="0" rIns="0" tIns="0" bIns="0">
            <a:spAutoFit/>
          </a:bodyPr>
          <a:lstStyle/>
          <a:p>
            <a:pPr algn="ctr">
              <a:lnSpc>
                <a:spcPct val="100000"/>
              </a:lnSpc>
            </a:pPr>
            <a:r>
              <a:rPr sz="950" b="1">
                <a:solidFill>
                  <a:srgbClr val="0E8F86"/>
                </a:solidFill>
                <a:latin typeface="Calibri"/>
              </a:rPr>
              <a:t>3  rubric</a:t>
            </a:r>
          </a:p>
        </p:txBody>
      </p:sp>
      <p:sp>
        <p:nvSpPr>
          <p:cNvPr id="18" name="Rectangle 17"/>
          <p:cNvSpPr/>
          <p:nvPr/>
        </p:nvSpPr>
        <p:spPr>
          <a:xfrm>
            <a:off x="8267318" y="3794760"/>
            <a:ext cx="27432" cy="384048"/>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49514" y="4197096"/>
            <a:ext cx="1463040" cy="219456"/>
          </a:xfrm>
          <a:prstGeom prst="rect">
            <a:avLst/>
          </a:prstGeom>
          <a:noFill/>
        </p:spPr>
        <p:txBody>
          <a:bodyPr wrap="square" anchor="t" lIns="0" rIns="0" tIns="0" bIns="0">
            <a:spAutoFit/>
          </a:bodyPr>
          <a:lstStyle/>
          <a:p>
            <a:pPr algn="ctr">
              <a:lnSpc>
                <a:spcPct val="100000"/>
              </a:lnSpc>
            </a:pPr>
            <a:r>
              <a:rPr sz="950" b="1">
                <a:solidFill>
                  <a:srgbClr val="1E66B8"/>
                </a:solidFill>
                <a:latin typeface="Calibri"/>
              </a:rPr>
              <a:t>human 2.5</a:t>
            </a:r>
          </a:p>
        </p:txBody>
      </p:sp>
      <p:sp>
        <p:nvSpPr>
          <p:cNvPr id="20" name="TextBox 19"/>
          <p:cNvSpPr txBox="1"/>
          <p:nvPr/>
        </p:nvSpPr>
        <p:spPr>
          <a:xfrm>
            <a:off x="6446520" y="4197096"/>
            <a:ext cx="1097280" cy="219456"/>
          </a:xfrm>
          <a:prstGeom prst="rect">
            <a:avLst/>
          </a:prstGeom>
          <a:noFill/>
        </p:spPr>
        <p:txBody>
          <a:bodyPr wrap="square" anchor="t" lIns="0" rIns="0" tIns="0" bIns="0">
            <a:spAutoFit/>
          </a:bodyPr>
          <a:lstStyle/>
          <a:p>
            <a:pPr algn="l">
              <a:lnSpc>
                <a:spcPct val="100000"/>
              </a:lnSpc>
            </a:pPr>
            <a:r>
              <a:rPr sz="950" b="0">
                <a:solidFill>
                  <a:srgbClr val="526173"/>
                </a:solidFill>
                <a:latin typeface="Calibri"/>
              </a:rPr>
              <a:t>1  flat</a:t>
            </a:r>
          </a:p>
        </p:txBody>
      </p:sp>
      <p:sp>
        <p:nvSpPr>
          <p:cNvPr id="21" name="TextBox 20"/>
          <p:cNvSpPr txBox="1"/>
          <p:nvPr/>
        </p:nvSpPr>
        <p:spPr>
          <a:xfrm>
            <a:off x="10058399" y="4197096"/>
            <a:ext cx="1280160" cy="219456"/>
          </a:xfrm>
          <a:prstGeom prst="rect">
            <a:avLst/>
          </a:prstGeom>
          <a:noFill/>
        </p:spPr>
        <p:txBody>
          <a:bodyPr wrap="square" anchor="t" lIns="0" rIns="0" tIns="0" bIns="0">
            <a:spAutoFit/>
          </a:bodyPr>
          <a:lstStyle/>
          <a:p>
            <a:pPr algn="r">
              <a:lnSpc>
                <a:spcPct val="100000"/>
              </a:lnSpc>
            </a:pPr>
            <a:r>
              <a:rPr sz="950" b="0">
                <a:solidFill>
                  <a:srgbClr val="526173"/>
                </a:solidFill>
                <a:latin typeface="Calibri"/>
              </a:rPr>
              <a:t>5  extreme</a:t>
            </a:r>
          </a:p>
        </p:txBody>
      </p:sp>
      <p:sp>
        <p:nvSpPr>
          <p:cNvPr id="22" name="Rectangle 21"/>
          <p:cNvSpPr/>
          <p:nvPr/>
        </p:nvSpPr>
        <p:spPr>
          <a:xfrm>
            <a:off x="6446520" y="4754880"/>
            <a:ext cx="4892040" cy="10972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46520" y="4754880"/>
            <a:ext cx="44450" cy="10972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3408" y="4919472"/>
            <a:ext cx="4480560" cy="868680"/>
          </a:xfrm>
          <a:prstGeom prst="rect">
            <a:avLst/>
          </a:prstGeom>
          <a:noFill/>
        </p:spPr>
        <p:txBody>
          <a:bodyPr wrap="square" anchor="t" lIns="0" rIns="0" tIns="0" bIns="0">
            <a:spAutoFit/>
          </a:bodyPr>
          <a:lstStyle/>
          <a:p>
            <a:pPr algn="l">
              <a:lnSpc>
                <a:spcPct val="116000"/>
              </a:lnSpc>
            </a:pPr>
            <a:r>
              <a:rPr sz="1200" b="0">
                <a:solidFill>
                  <a:srgbClr val="0F172A"/>
                </a:solidFill>
                <a:latin typeface="Calibri"/>
              </a:rPr>
              <a:t>The rubric calls 3 calibrated. Our human writers sit at 2.0 and 2.5, so the human band — not the rubric midpoint — is the target we report against.</a:t>
            </a:r>
          </a:p>
        </p:txBody>
      </p:sp>
      <p:sp>
        <p:nvSpPr>
          <p:cNvPr id="25" name="TextBox 24"/>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6" name="TextBox 25"/>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1</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we measure about the system</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Tone — the contribution</a:t>
            </a:r>
          </a:p>
          <a:p>
            <a:pPr algn="l">
              <a:lnSpc>
                <a:spcPct val="112000"/>
              </a:lnSpc>
              <a:spcBef>
                <a:spcPts val="300"/>
              </a:spcBef>
            </a:pPr>
            <a:r>
              <a:rPr sz="1050" b="0">
                <a:solidFill>
                  <a:srgbClr val="526173"/>
                </a:solidFill>
                <a:latin typeface="Calibri"/>
              </a:rPr>
              <a:t>An LLM judge, blind, one story per call. The only family that needs a model.</a:t>
            </a:r>
          </a:p>
          <a:p>
            <a:pPr algn="l">
              <a:lnSpc>
                <a:spcPct val="112000"/>
              </a:lnSpc>
              <a:spcBef>
                <a:spcPts val="500"/>
              </a:spcBef>
            </a:pPr>
            <a:r>
              <a:rPr sz="1050" b="0">
                <a:solidFill>
                  <a:srgbClr val="0F172A"/>
                </a:solidFill>
                <a:latin typeface="Calibri"/>
              </a:rPr>
              <a:t>Alarmism 1-5   flat ↔ catastrophising</a:t>
            </a:r>
          </a:p>
          <a:p>
            <a:pPr algn="l">
              <a:lnSpc>
                <a:spcPct val="112000"/>
              </a:lnSpc>
              <a:spcBef>
                <a:spcPts val="500"/>
              </a:spcBef>
            </a:pPr>
            <a:r>
              <a:rPr sz="1050" b="0">
                <a:solidFill>
                  <a:srgbClr val="0F172A"/>
                </a:solidFill>
                <a:latin typeface="Calibri"/>
              </a:rPr>
              <a:t>Optimism 1-5   bleak ↔ false reassurance</a:t>
            </a:r>
          </a:p>
          <a:p>
            <a:pPr algn="l">
              <a:lnSpc>
                <a:spcPct val="112000"/>
              </a:lnSpc>
              <a:spcBef>
                <a:spcPts val="500"/>
              </a:spcBef>
            </a:pPr>
            <a:r>
              <a:rPr sz="1050" b="0">
                <a:solidFill>
                  <a:srgbClr val="0F172A"/>
                </a:solidFill>
                <a:latin typeface="Calibri"/>
              </a:rPr>
              <a:t>Emotive spans removed   count, per run</a:t>
            </a:r>
          </a:p>
        </p:txBody>
      </p:sp>
      <p:sp>
        <p:nvSpPr>
          <p:cNvPr id="8" name="Rectangle 7"/>
          <p:cNvSpPr/>
          <p:nvPr/>
        </p:nvSpPr>
        <p:spPr>
          <a:xfrm>
            <a:off x="685800" y="4041648"/>
            <a:ext cx="5394960"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041648"/>
            <a:ext cx="5394960" cy="4445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242816"/>
            <a:ext cx="4956048"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Faithfulness — computed, no model, free</a:t>
            </a:r>
          </a:p>
          <a:p>
            <a:pPr algn="l">
              <a:lnSpc>
                <a:spcPct val="112000"/>
              </a:lnSpc>
              <a:spcBef>
                <a:spcPts val="300"/>
              </a:spcBef>
            </a:pPr>
            <a:r>
              <a:rPr sz="1050" b="0">
                <a:solidFill>
                  <a:srgbClr val="526173"/>
                </a:solidFill>
                <a:latin typeface="Calibri"/>
              </a:rPr>
              <a:t>Did the rewrite keep the facts? Runs on every story automatically.</a:t>
            </a:r>
          </a:p>
          <a:p>
            <a:pPr algn="l">
              <a:lnSpc>
                <a:spcPct val="112000"/>
              </a:lnSpc>
              <a:spcBef>
                <a:spcPts val="500"/>
              </a:spcBef>
            </a:pPr>
            <a:r>
              <a:rPr sz="1050" b="0">
                <a:solidFill>
                  <a:srgbClr val="0F172A"/>
                </a:solidFill>
                <a:latin typeface="Calibri"/>
              </a:rPr>
              <a:t>Numeric retention   share of the raw story's figures that survive</a:t>
            </a:r>
          </a:p>
          <a:p>
            <a:pPr algn="l">
              <a:lnSpc>
                <a:spcPct val="112000"/>
              </a:lnSpc>
              <a:spcBef>
                <a:spcPts val="500"/>
              </a:spcBef>
            </a:pPr>
            <a:r>
              <a:rPr sz="1050" b="0">
                <a:solidFill>
                  <a:srgbClr val="0F172A"/>
                </a:solidFill>
                <a:latin typeface="Calibri"/>
              </a:rPr>
              <a:t>Added unsupported   figures the moderator introduced</a:t>
            </a:r>
          </a:p>
          <a:p>
            <a:pPr algn="l">
              <a:lnSpc>
                <a:spcPct val="112000"/>
              </a:lnSpc>
              <a:spcBef>
                <a:spcPts val="500"/>
              </a:spcBef>
            </a:pPr>
            <a:r>
              <a:rPr sz="1050" b="0">
                <a:solidFill>
                  <a:srgbClr val="0F172A"/>
                </a:solidFill>
                <a:latin typeface="Calibri"/>
              </a:rPr>
              <a:t>Groundedness   stated numbers the table actually supports</a:t>
            </a:r>
          </a:p>
          <a:p>
            <a:pPr algn="l">
              <a:lnSpc>
                <a:spcPct val="112000"/>
              </a:lnSpc>
              <a:spcBef>
                <a:spcPts val="500"/>
              </a:spcBef>
            </a:pPr>
            <a:r>
              <a:rPr sz="1050" b="0">
                <a:solidFill>
                  <a:srgbClr val="0F172A"/>
                </a:solidFill>
                <a:latin typeface="Calibri"/>
              </a:rPr>
              <a:t>Rewrite intensity   how much text changed at all</a:t>
            </a:r>
          </a:p>
          <a:p>
            <a:pPr algn="l">
              <a:lnSpc>
                <a:spcPct val="112000"/>
              </a:lnSpc>
              <a:spcBef>
                <a:spcPts val="500"/>
              </a:spcBef>
            </a:pPr>
            <a:r>
              <a:rPr sz="1050" b="0">
                <a:solidFill>
                  <a:srgbClr val="0F172A"/>
                </a:solidFill>
                <a:latin typeface="Calibri"/>
              </a:rPr>
              <a:t>Trend selection   does the story's window agree with the whole series</a:t>
            </a:r>
          </a:p>
        </p:txBody>
      </p:sp>
      <p:sp>
        <p:nvSpPr>
          <p:cNvPr id="11" name="Rectangle 10"/>
          <p:cNvSpPr/>
          <p:nvPr/>
        </p:nvSpPr>
        <p:spPr>
          <a:xfrm>
            <a:off x="6309360" y="2103120"/>
            <a:ext cx="5193792" cy="17830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417319"/>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Similarity to the human baseline</a:t>
            </a:r>
          </a:p>
          <a:p>
            <a:pPr algn="l">
              <a:lnSpc>
                <a:spcPct val="112000"/>
              </a:lnSpc>
              <a:spcBef>
                <a:spcPts val="300"/>
              </a:spcBef>
            </a:pPr>
            <a:r>
              <a:rPr sz="1050" b="0">
                <a:solidFill>
                  <a:srgbClr val="526173"/>
                </a:solidFill>
                <a:latin typeface="Calibri"/>
              </a:rPr>
              <a:t>How close the wording lands to the 25 stories we wrote by hand.</a:t>
            </a:r>
          </a:p>
          <a:p>
            <a:pPr algn="l">
              <a:lnSpc>
                <a:spcPct val="112000"/>
              </a:lnSpc>
              <a:spcBef>
                <a:spcPts val="500"/>
              </a:spcBef>
            </a:pPr>
            <a:r>
              <a:rPr sz="1050" b="0">
                <a:solidFill>
                  <a:srgbClr val="0F172A"/>
                </a:solidFill>
                <a:latin typeface="Calibri"/>
              </a:rPr>
              <a:t>chrF++   character n-grams; our ranking metric</a:t>
            </a:r>
          </a:p>
          <a:p>
            <a:pPr algn="l">
              <a:lnSpc>
                <a:spcPct val="112000"/>
              </a:lnSpc>
              <a:spcBef>
                <a:spcPts val="500"/>
              </a:spcBef>
            </a:pPr>
            <a:r>
              <a:rPr sz="1050" b="0">
                <a:solidFill>
                  <a:srgbClr val="0F172A"/>
                </a:solidFill>
                <a:latin typeface="Calibri"/>
              </a:rPr>
              <a:t>BLEU 1-4, ROUGE-L   n-gram and longest-common-subsequence overlap</a:t>
            </a:r>
          </a:p>
          <a:p>
            <a:pPr algn="l">
              <a:lnSpc>
                <a:spcPct val="112000"/>
              </a:lnSpc>
              <a:spcBef>
                <a:spcPts val="500"/>
              </a:spcBef>
            </a:pPr>
            <a:r>
              <a:rPr sz="1050" b="0">
                <a:solidFill>
                  <a:srgbClr val="0F172A"/>
                </a:solidFill>
                <a:latin typeface="Calibri"/>
              </a:rPr>
              <a:t>METEOR, unigram F1   stem and synonym aware</a:t>
            </a:r>
          </a:p>
        </p:txBody>
      </p:sp>
      <p:sp>
        <p:nvSpPr>
          <p:cNvPr id="14" name="Rectangle 13"/>
          <p:cNvSpPr/>
          <p:nvPr/>
        </p:nvSpPr>
        <p:spPr>
          <a:xfrm>
            <a:off x="6309360" y="4041648"/>
            <a:ext cx="5193792" cy="1975104"/>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4041648"/>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4242816"/>
            <a:ext cx="4754879" cy="1609344"/>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Analytical operations — from the DataTales re-run</a:t>
            </a:r>
          </a:p>
          <a:p>
            <a:pPr algn="l">
              <a:lnSpc>
                <a:spcPct val="112000"/>
              </a:lnSpc>
              <a:spcBef>
                <a:spcPts val="300"/>
              </a:spcBef>
            </a:pPr>
            <a:r>
              <a:rPr sz="1050" b="0">
                <a:solidFill>
                  <a:srgbClr val="526173"/>
                </a:solidFill>
                <a:latin typeface="Calibri"/>
              </a:rPr>
              <a:t>Not every claim is equally hard, so we score accuracy per kind of claim.</a:t>
            </a:r>
          </a:p>
          <a:p>
            <a:pPr algn="l">
              <a:lnSpc>
                <a:spcPct val="112000"/>
              </a:lnSpc>
              <a:spcBef>
                <a:spcPts val="500"/>
              </a:spcBef>
            </a:pPr>
            <a:r>
              <a:rPr sz="1050" b="0">
                <a:solidFill>
                  <a:srgbClr val="0F172A"/>
                </a:solidFill>
                <a:latin typeface="Calibri"/>
              </a:rPr>
              <a:t>lookup   reading a single value off the table</a:t>
            </a:r>
          </a:p>
          <a:p>
            <a:pPr algn="l">
              <a:lnSpc>
                <a:spcPct val="112000"/>
              </a:lnSpc>
              <a:spcBef>
                <a:spcPts val="500"/>
              </a:spcBef>
            </a:pPr>
            <a:r>
              <a:rPr sz="1050" b="0">
                <a:solidFill>
                  <a:srgbClr val="0F172A"/>
                </a:solidFill>
                <a:latin typeface="Calibri"/>
              </a:rPr>
              <a:t>comparison   ranking two values against each other</a:t>
            </a:r>
          </a:p>
          <a:p>
            <a:pPr algn="l">
              <a:lnSpc>
                <a:spcPct val="112000"/>
              </a:lnSpc>
              <a:spcBef>
                <a:spcPts val="500"/>
              </a:spcBef>
            </a:pPr>
            <a:r>
              <a:rPr sz="1050" b="0">
                <a:solidFill>
                  <a:srgbClr val="0F172A"/>
                </a:solidFill>
                <a:latin typeface="Calibri"/>
              </a:rPr>
              <a:t>trend   which way a series moves across a window</a:t>
            </a:r>
          </a:p>
          <a:p>
            <a:pPr algn="l">
              <a:lnSpc>
                <a:spcPct val="112000"/>
              </a:lnSpc>
              <a:spcBef>
                <a:spcPts val="500"/>
              </a:spcBef>
            </a:pPr>
            <a:r>
              <a:rPr sz="1050" b="0">
                <a:solidFill>
                  <a:srgbClr val="0F172A"/>
                </a:solidFill>
                <a:latin typeface="Calibri"/>
              </a:rPr>
              <a:t>rate of change   how steeply it moves</a:t>
            </a:r>
          </a:p>
          <a:p>
            <a:pPr algn="l">
              <a:lnSpc>
                <a:spcPct val="112000"/>
              </a:lnSpc>
              <a:spcBef>
                <a:spcPts val="500"/>
              </a:spcBef>
            </a:pPr>
            <a:r>
              <a:rPr sz="1050" b="0">
                <a:solidFill>
                  <a:srgbClr val="0F172A"/>
                </a:solidFill>
                <a:latin typeface="Calibri"/>
              </a:rPr>
              <a:t>causal   why it moved — the hardest, and the one we treat with most caution</a:t>
            </a:r>
          </a:p>
        </p:txBody>
      </p:sp>
      <p:sp>
        <p:nvSpPr>
          <p:cNvPr id="17" name="TextBox 16"/>
          <p:cNvSpPr txBox="1"/>
          <p:nvPr/>
        </p:nvSpPr>
        <p:spPr>
          <a:xfrm>
            <a:off x="685800" y="6108192"/>
            <a:ext cx="10789920" cy="256032"/>
          </a:xfrm>
          <a:prstGeom prst="rect">
            <a:avLst/>
          </a:prstGeom>
          <a:noFill/>
        </p:spPr>
        <p:txBody>
          <a:bodyPr wrap="square" anchor="t" lIns="0" rIns="0" tIns="0" bIns="0">
            <a:spAutoFit/>
          </a:bodyPr>
          <a:lstStyle/>
          <a:p>
            <a:pPr algn="l">
              <a:lnSpc>
                <a:spcPct val="100000"/>
              </a:lnSpc>
            </a:pPr>
            <a:r>
              <a:rPr sz="1000" b="0">
                <a:solidFill>
                  <a:srgbClr val="526173"/>
                </a:solidFill>
                <a:latin typeface="Calibri"/>
              </a:rPr>
              <a:t>“Trend” appears twice: trend selection (bottom left) is a cherry-picking check on one story; trend (bottom right) is an accuracy category from the benchmark.</a:t>
            </a:r>
          </a:p>
        </p:txBody>
      </p:sp>
      <p:sp>
        <p:nvSpPr>
          <p:cNvPr id="18" name="TextBox 17"/>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9" name="TextBox 18"/>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3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What the reader sees, and how we chose the pair</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Elsaadani</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What the reader sees</a:t>
            </a:r>
          </a:p>
        </p:txBody>
      </p:sp>
      <p:sp>
        <p:nvSpPr>
          <p:cNvPr id="13" name="Rectangle 12"/>
          <p:cNvSpPr/>
          <p:nvPr/>
        </p:nvSpPr>
        <p:spPr>
          <a:xfrm>
            <a:off x="8796528" y="4892040"/>
            <a:ext cx="2395728" cy="635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METRICS · PART 2</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the reader is shown, and why</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03120"/>
            <a:ext cx="5394960"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03120"/>
            <a:ext cx="539496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304288"/>
            <a:ext cx="4956048" cy="17830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In the app, next to the story</a:t>
            </a:r>
          </a:p>
          <a:p>
            <a:pPr algn="l">
              <a:lnSpc>
                <a:spcPct val="112000"/>
              </a:lnSpc>
              <a:spcBef>
                <a:spcPts val="300"/>
              </a:spcBef>
            </a:pPr>
            <a:r>
              <a:rPr sz="1050" b="0">
                <a:solidFill>
                  <a:srgbClr val="526173"/>
                </a:solidFill>
                <a:latin typeface="Calibri"/>
              </a:rPr>
              <a:t>These exist so a reader can audit the rewrite instead of trusting it.</a:t>
            </a:r>
          </a:p>
          <a:p>
            <a:pPr algn="l">
              <a:lnSpc>
                <a:spcPct val="112000"/>
              </a:lnSpc>
              <a:spcBef>
                <a:spcPts val="500"/>
              </a:spcBef>
            </a:pPr>
            <a:r>
              <a:rPr sz="1050" b="0">
                <a:solidFill>
                  <a:srgbClr val="0F172A"/>
                </a:solidFill>
                <a:latin typeface="Calibri"/>
              </a:rPr>
              <a:t>Alarmism rating   where this story sits on the scale</a:t>
            </a:r>
          </a:p>
          <a:p>
            <a:pPr algn="l">
              <a:lnSpc>
                <a:spcPct val="112000"/>
              </a:lnSpc>
              <a:spcBef>
                <a:spcPts val="500"/>
              </a:spcBef>
            </a:pPr>
            <a:r>
              <a:rPr sz="1050" b="0">
                <a:solidFill>
                  <a:srgbClr val="0F172A"/>
                </a:solidFill>
                <a:latin typeface="Calibri"/>
              </a:rPr>
              <a:t>Human tone band   ±0.5 around the human author's own rating</a:t>
            </a:r>
          </a:p>
          <a:p>
            <a:pPr algn="l">
              <a:lnSpc>
                <a:spcPct val="112000"/>
              </a:lnSpc>
              <a:spcBef>
                <a:spcPts val="500"/>
              </a:spcBef>
            </a:pPr>
            <a:r>
              <a:rPr sz="1050" b="0">
                <a:solidFill>
                  <a:srgbClr val="0F172A"/>
                </a:solidFill>
                <a:latin typeface="Calibri"/>
              </a:rPr>
              <a:t>Numbing / catastrophising   which end it failed toward</a:t>
            </a:r>
          </a:p>
          <a:p>
            <a:pPr algn="l">
              <a:lnSpc>
                <a:spcPct val="112000"/>
              </a:lnSpc>
              <a:spcBef>
                <a:spcPts val="500"/>
              </a:spcBef>
            </a:pPr>
            <a:r>
              <a:rPr sz="1050" b="0">
                <a:solidFill>
                  <a:srgbClr val="0F172A"/>
                </a:solidFill>
                <a:latin typeface="Calibri"/>
              </a:rPr>
              <a:t>Emotive span   the exact words the moderator removed</a:t>
            </a:r>
          </a:p>
          <a:p>
            <a:pPr algn="l">
              <a:lnSpc>
                <a:spcPct val="112000"/>
              </a:lnSpc>
              <a:spcBef>
                <a:spcPts val="500"/>
              </a:spcBef>
            </a:pPr>
            <a:r>
              <a:rPr sz="1050" b="0">
                <a:solidFill>
                  <a:srgbClr val="0F172A"/>
                </a:solidFill>
                <a:latin typeface="Calibri"/>
              </a:rPr>
              <a:t>Verified / flagged / corrected   what the fact-check did to each number</a:t>
            </a:r>
          </a:p>
        </p:txBody>
      </p:sp>
      <p:sp>
        <p:nvSpPr>
          <p:cNvPr id="8" name="Rectangle 7"/>
          <p:cNvSpPr/>
          <p:nvPr/>
        </p:nvSpPr>
        <p:spPr>
          <a:xfrm>
            <a:off x="685800" y="4434840"/>
            <a:ext cx="5394960" cy="164592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4434840"/>
            <a:ext cx="5394960" cy="4445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4636007"/>
            <a:ext cx="4956048" cy="128016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The edit taxonomy</a:t>
            </a:r>
          </a:p>
          <a:p>
            <a:pPr algn="l">
              <a:lnSpc>
                <a:spcPct val="112000"/>
              </a:lnSpc>
              <a:spcBef>
                <a:spcPts val="300"/>
              </a:spcBef>
            </a:pPr>
            <a:r>
              <a:rPr sz="1050" b="0">
                <a:solidFill>
                  <a:srgbClr val="526173"/>
                </a:solidFill>
                <a:latin typeface="Calibri"/>
              </a:rPr>
              <a:t>Every change the moderator made, classified — so the diff is readable.</a:t>
            </a:r>
          </a:p>
          <a:p>
            <a:pPr algn="l">
              <a:lnSpc>
                <a:spcPct val="112000"/>
              </a:lnSpc>
              <a:spcBef>
                <a:spcPts val="500"/>
              </a:spcBef>
            </a:pPr>
            <a:r>
              <a:rPr sz="1050" b="0">
                <a:solidFill>
                  <a:srgbClr val="0F172A"/>
                </a:solidFill>
                <a:latin typeface="Calibri"/>
              </a:rPr>
              <a:t>Intensity   how hard the wording pushes</a:t>
            </a:r>
          </a:p>
          <a:p>
            <a:pPr algn="l">
              <a:lnSpc>
                <a:spcPct val="112000"/>
              </a:lnSpc>
              <a:spcBef>
                <a:spcPts val="500"/>
              </a:spcBef>
            </a:pPr>
            <a:r>
              <a:rPr sz="1050" b="0">
                <a:solidFill>
                  <a:srgbClr val="0F172A"/>
                </a:solidFill>
                <a:latin typeface="Calibri"/>
              </a:rPr>
              <a:t>Framing   what the sentence is made to be about</a:t>
            </a:r>
          </a:p>
          <a:p>
            <a:pPr algn="l">
              <a:lnSpc>
                <a:spcPct val="112000"/>
              </a:lnSpc>
              <a:spcBef>
                <a:spcPts val="500"/>
              </a:spcBef>
            </a:pPr>
            <a:r>
              <a:rPr sz="1050" b="0">
                <a:solidFill>
                  <a:srgbClr val="0F172A"/>
                </a:solidFill>
                <a:latin typeface="Calibri"/>
              </a:rPr>
              <a:t>Overreach   a claim beyond what the table shows</a:t>
            </a:r>
          </a:p>
          <a:p>
            <a:pPr algn="l">
              <a:lnSpc>
                <a:spcPct val="112000"/>
              </a:lnSpc>
              <a:spcBef>
                <a:spcPts val="500"/>
              </a:spcBef>
            </a:pPr>
            <a:r>
              <a:rPr sz="1050" b="0">
                <a:solidFill>
                  <a:srgbClr val="0F172A"/>
                </a:solidFill>
                <a:latin typeface="Calibri"/>
              </a:rPr>
              <a:t>Grounding   a claim tied back to a number</a:t>
            </a:r>
          </a:p>
        </p:txBody>
      </p:sp>
      <p:sp>
        <p:nvSpPr>
          <p:cNvPr id="11" name="Rectangle 10"/>
          <p:cNvSpPr/>
          <p:nvPr/>
        </p:nvSpPr>
        <p:spPr>
          <a:xfrm>
            <a:off x="6309360" y="2103120"/>
            <a:ext cx="5193792" cy="1691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2103120"/>
            <a:ext cx="5193792" cy="4445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304288"/>
            <a:ext cx="4754879" cy="1325880"/>
          </a:xfrm>
          <a:prstGeom prst="rect">
            <a:avLst/>
          </a:prstGeom>
          <a:noFill/>
        </p:spPr>
        <p:txBody>
          <a:bodyPr wrap="square" anchor="t" lIns="0" rIns="0" tIns="0" bIns="0">
            <a:spAutoFit/>
          </a:bodyPr>
          <a:lstStyle/>
          <a:p>
            <a:pPr algn="l">
              <a:lnSpc>
                <a:spcPct val="112000"/>
              </a:lnSpc>
            </a:pPr>
            <a:r>
              <a:rPr sz="1300" b="1">
                <a:solidFill>
                  <a:srgbClr val="0D1B5C"/>
                </a:solidFill>
                <a:latin typeface="Arial"/>
              </a:rPr>
              <a:t>Designed, not yet run</a:t>
            </a:r>
          </a:p>
          <a:p>
            <a:pPr algn="l">
              <a:lnSpc>
                <a:spcPct val="112000"/>
              </a:lnSpc>
              <a:spcBef>
                <a:spcPts val="300"/>
              </a:spcBef>
            </a:pPr>
            <a:r>
              <a:rPr sz="1050" b="0">
                <a:solidFill>
                  <a:srgbClr val="526173"/>
                </a:solidFill>
                <a:latin typeface="Calibri"/>
              </a:rPr>
              <a:t>The brief allows metrics or a user study. We chose metrics and went deep.</a:t>
            </a:r>
          </a:p>
          <a:p>
            <a:pPr algn="l">
              <a:lnSpc>
                <a:spcPct val="112000"/>
              </a:lnSpc>
              <a:spcBef>
                <a:spcPts val="500"/>
              </a:spcBef>
            </a:pPr>
            <a:r>
              <a:rPr sz="1050" b="0">
                <a:solidFill>
                  <a:srgbClr val="0F172A"/>
                </a:solidFill>
                <a:latin typeface="Calibri"/>
              </a:rPr>
              <a:t>Trust   does the reader believe the story</a:t>
            </a:r>
          </a:p>
          <a:p>
            <a:pPr algn="l">
              <a:lnSpc>
                <a:spcPct val="112000"/>
              </a:lnSpc>
              <a:spcBef>
                <a:spcPts val="500"/>
              </a:spcBef>
            </a:pPr>
            <a:r>
              <a:rPr sz="1050" b="0">
                <a:solidFill>
                  <a:srgbClr val="0F172A"/>
                </a:solidFill>
                <a:latin typeface="Calibri"/>
              </a:rPr>
              <a:t>Engagement   does it hold attention</a:t>
            </a:r>
          </a:p>
          <a:p>
            <a:pPr algn="l">
              <a:lnSpc>
                <a:spcPct val="112000"/>
              </a:lnSpc>
              <a:spcBef>
                <a:spcPts val="500"/>
              </a:spcBef>
            </a:pPr>
            <a:r>
              <a:rPr sz="1050" b="0">
                <a:solidFill>
                  <a:srgbClr val="0F172A"/>
                </a:solidFill>
                <a:latin typeface="Calibri"/>
              </a:rPr>
              <a:t>Readability   is it clear and easy to follow</a:t>
            </a:r>
          </a:p>
          <a:p>
            <a:pPr algn="l">
              <a:lnSpc>
                <a:spcPct val="112000"/>
              </a:lnSpc>
              <a:spcBef>
                <a:spcPts val="500"/>
              </a:spcBef>
            </a:pPr>
            <a:r>
              <a:rPr sz="1050" b="0">
                <a:solidFill>
                  <a:srgbClr val="0F172A"/>
                </a:solidFill>
                <a:latin typeface="Calibri"/>
              </a:rPr>
              <a:t>Human-vs-LLM preference   which story readers prefer, and why</a:t>
            </a:r>
          </a:p>
        </p:txBody>
      </p:sp>
      <p:sp>
        <p:nvSpPr>
          <p:cNvPr id="14" name="Rectangle 13"/>
          <p:cNvSpPr/>
          <p:nvPr/>
        </p:nvSpPr>
        <p:spPr>
          <a:xfrm>
            <a:off x="6309360" y="3977639"/>
            <a:ext cx="5193792" cy="20116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3977639"/>
            <a:ext cx="5193792" cy="4445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47104" y="4187952"/>
            <a:ext cx="4718304" cy="1691640"/>
          </a:xfrm>
          <a:prstGeom prst="rect">
            <a:avLst/>
          </a:prstGeom>
          <a:noFill/>
        </p:spPr>
        <p:txBody>
          <a:bodyPr wrap="square" anchor="t" lIns="0" rIns="0" tIns="0" bIns="0">
            <a:spAutoFit/>
          </a:bodyPr>
          <a:lstStyle/>
          <a:p>
            <a:pPr algn="l">
              <a:lnSpc>
                <a:spcPct val="115000"/>
              </a:lnSpc>
            </a:pPr>
            <a:r>
              <a:rPr sz="1300" b="1">
                <a:solidFill>
                  <a:srgbClr val="0D1B5C"/>
                </a:solidFill>
                <a:latin typeface="Arial"/>
              </a:rPr>
              <a:t>The split that matters</a:t>
            </a:r>
          </a:p>
          <a:p>
            <a:pPr algn="l">
              <a:lnSpc>
                <a:spcPct val="115000"/>
              </a:lnSpc>
              <a:spcBef>
                <a:spcPts val="600"/>
              </a:spcBef>
            </a:pPr>
            <a:r>
              <a:rPr sz="1150" b="0">
                <a:solidFill>
                  <a:srgbClr val="0F172A"/>
                </a:solidFill>
                <a:latin typeface="Calibri"/>
              </a:rPr>
              <a:t>Part 1 answers “is the system any good”. It is aggregated over runs and nobody reading a story ever sees it.</a:t>
            </a:r>
          </a:p>
          <a:p>
            <a:pPr algn="l">
              <a:lnSpc>
                <a:spcPct val="115000"/>
              </a:lnSpc>
              <a:spcBef>
                <a:spcPts val="600"/>
              </a:spcBef>
            </a:pPr>
            <a:r>
              <a:rPr sz="1150" b="0">
                <a:solidFill>
                  <a:srgbClr val="0F172A"/>
                </a:solidFill>
                <a:latin typeface="Calibri"/>
              </a:rPr>
              <a:t>Part 2 answers “should I believe this particular story”. It is per-story, visible in the interface, and it is the reason the app shows a diff rather than just a cleaner paragraph.</a:t>
            </a:r>
          </a:p>
          <a:p>
            <a:pPr algn="l">
              <a:lnSpc>
                <a:spcPct val="115000"/>
              </a:lnSpc>
              <a:spcBef>
                <a:spcPts val="600"/>
              </a:spcBef>
            </a:pPr>
            <a:r>
              <a:rPr sz="1150" b="1">
                <a:solidFill>
                  <a:srgbClr val="0E8F86"/>
                </a:solidFill>
                <a:latin typeface="Calibri"/>
              </a:rPr>
              <a:t>Same underlying numbers in places. Different job.</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PART 4 OF 4</a:t>
            </a:r>
          </a:p>
        </p:txBody>
      </p:sp>
      <p:sp>
        <p:nvSpPr>
          <p:cNvPr id="5" name="TextBox 4"/>
          <p:cNvSpPr txBox="1"/>
          <p:nvPr/>
        </p:nvSpPr>
        <p:spPr>
          <a:xfrm>
            <a:off x="1005840" y="2606040"/>
            <a:ext cx="9692640" cy="1005840"/>
          </a:xfrm>
          <a:prstGeom prst="rect">
            <a:avLst/>
          </a:prstGeom>
          <a:noFill/>
        </p:spPr>
        <p:txBody>
          <a:bodyPr wrap="square" anchor="t" lIns="0" rIns="0" tIns="0" bIns="0">
            <a:spAutoFit/>
          </a:bodyPr>
          <a:lstStyle/>
          <a:p>
            <a:pPr algn="l">
              <a:lnSpc>
                <a:spcPct val="108000"/>
              </a:lnSpc>
            </a:pPr>
            <a:r>
              <a:rPr sz="3400" b="1">
                <a:solidFill>
                  <a:srgbClr val="FFFFFF"/>
                </a:solidFill>
                <a:latin typeface="Arial"/>
              </a:rPr>
              <a:t>The result, the agent, and the system</a:t>
            </a:r>
          </a:p>
        </p:txBody>
      </p:sp>
      <p:sp>
        <p:nvSpPr>
          <p:cNvPr id="6" name="TextBox 5"/>
          <p:cNvSpPr txBox="1"/>
          <p:nvPr/>
        </p:nvSpPr>
        <p:spPr>
          <a:xfrm>
            <a:off x="1005840" y="3794760"/>
            <a:ext cx="9692640" cy="365760"/>
          </a:xfrm>
          <a:prstGeom prst="rect">
            <a:avLst/>
          </a:prstGeom>
          <a:noFill/>
        </p:spPr>
        <p:txBody>
          <a:bodyPr wrap="square" anchor="t" lIns="0" rIns="0" tIns="0" bIns="0">
            <a:spAutoFit/>
          </a:bodyPr>
          <a:lstStyle/>
          <a:p>
            <a:pPr algn="l">
              <a:lnSpc>
                <a:spcPct val="100000"/>
              </a:lnSpc>
            </a:pPr>
            <a:r>
              <a:rPr sz="1500" b="1">
                <a:solidFill>
                  <a:srgbClr val="8A9CB8"/>
                </a:solidFill>
                <a:latin typeface="Calibri"/>
              </a:rPr>
              <a:t>Ramadan</a:t>
            </a:r>
          </a:p>
        </p:txBody>
      </p:sp>
      <p:sp>
        <p:nvSpPr>
          <p:cNvPr id="7" name="Rectangle 6"/>
          <p:cNvSpPr/>
          <p:nvPr/>
        </p:nvSpPr>
        <p:spPr>
          <a:xfrm>
            <a:off x="1005840"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The research</a:t>
            </a:r>
          </a:p>
        </p:txBody>
      </p:sp>
      <p:sp>
        <p:nvSpPr>
          <p:cNvPr id="9" name="Rectangle 8"/>
          <p:cNvSpPr/>
          <p:nvPr/>
        </p:nvSpPr>
        <p:spPr>
          <a:xfrm>
            <a:off x="3602736"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2736"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we built</a:t>
            </a:r>
          </a:p>
        </p:txBody>
      </p:sp>
      <p:sp>
        <p:nvSpPr>
          <p:cNvPr id="11" name="Rectangle 10"/>
          <p:cNvSpPr/>
          <p:nvPr/>
        </p:nvSpPr>
        <p:spPr>
          <a:xfrm>
            <a:off x="6199632"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5074920"/>
            <a:ext cx="2395728" cy="457200"/>
          </a:xfrm>
          <a:prstGeom prst="rect">
            <a:avLst/>
          </a:prstGeom>
          <a:noFill/>
        </p:spPr>
        <p:txBody>
          <a:bodyPr wrap="square" anchor="t" lIns="0" rIns="0" tIns="0" bIns="0">
            <a:spAutoFit/>
          </a:bodyPr>
          <a:lstStyle/>
          <a:p>
            <a:pPr algn="l">
              <a:lnSpc>
                <a:spcPct val="112000"/>
              </a:lnSpc>
            </a:pPr>
            <a:r>
              <a:rPr sz="1050" b="0">
                <a:solidFill>
                  <a:srgbClr val="6B7D9B"/>
                </a:solidFill>
                <a:latin typeface="Calibri"/>
              </a:rPr>
              <a:t>What the reader sees</a:t>
            </a:r>
          </a:p>
        </p:txBody>
      </p:sp>
      <p:sp>
        <p:nvSpPr>
          <p:cNvPr id="13" name="Rectangle 12"/>
          <p:cNvSpPr/>
          <p:nvPr/>
        </p:nvSpPr>
        <p:spPr>
          <a:xfrm>
            <a:off x="8796528" y="4892040"/>
            <a:ext cx="2395728" cy="635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96528" y="5074920"/>
            <a:ext cx="2395728" cy="457200"/>
          </a:xfrm>
          <a:prstGeom prst="rect">
            <a:avLst/>
          </a:prstGeom>
          <a:noFill/>
        </p:spPr>
        <p:txBody>
          <a:bodyPr wrap="square" anchor="t" lIns="0" rIns="0" tIns="0" bIns="0">
            <a:spAutoFit/>
          </a:bodyPr>
          <a:lstStyle/>
          <a:p>
            <a:pPr algn="l">
              <a:lnSpc>
                <a:spcPct val="112000"/>
              </a:lnSpc>
            </a:pPr>
            <a:r>
              <a:rPr sz="1050" b="1">
                <a:solidFill>
                  <a:srgbClr val="FFFFFF"/>
                </a:solidFill>
                <a:latin typeface="Calibri"/>
              </a:rPr>
              <a:t>The result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INSIDE THE MODERATOR'S THIRD JOB</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How an 8B-class local model picks charts without hallucinating 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148840"/>
            <a:ext cx="3401568"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14884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359152"/>
            <a:ext cx="2926080" cy="1828800"/>
          </a:xfrm>
          <a:prstGeom prst="rect">
            <a:avLst/>
          </a:prstGeom>
          <a:noFill/>
        </p:spPr>
        <p:txBody>
          <a:bodyPr wrap="square" anchor="t" lIns="0" rIns="0" tIns="0" bIns="0">
            <a:spAutoFit/>
          </a:bodyPr>
          <a:lstStyle/>
          <a:p>
            <a:pPr algn="l">
              <a:lnSpc>
                <a:spcPct val="114000"/>
              </a:lnSpc>
            </a:pPr>
            <a:r>
              <a:rPr sz="950" b="1">
                <a:solidFill>
                  <a:srgbClr val="526173"/>
                </a:solidFill>
                <a:latin typeface="Arial"/>
              </a:rPr>
              <a:t>WHICH FORMS THE DATA CAN CARRY</a:t>
            </a:r>
          </a:p>
          <a:p>
            <a:pPr algn="l">
              <a:lnSpc>
                <a:spcPct val="114000"/>
              </a:lnSpc>
              <a:spcBef>
                <a:spcPts val="400"/>
              </a:spcBef>
            </a:pPr>
            <a:r>
              <a:rPr sz="1500" b="1">
                <a:solidFill>
                  <a:srgbClr val="1E66B8"/>
                </a:solidFill>
                <a:latin typeface="Arial"/>
              </a:rPr>
              <a:t>applicability.py</a:t>
            </a:r>
          </a:p>
          <a:p>
            <a:pPr algn="l">
              <a:lnSpc>
                <a:spcPct val="114000"/>
              </a:lnSpc>
              <a:spcBef>
                <a:spcPts val="500"/>
              </a:spcBef>
            </a:pPr>
            <a:r>
              <a:rPr sz="1150" b="0">
                <a:solidFill>
                  <a:srgbClr val="0F172A"/>
                </a:solidFill>
                <a:latin typeface="Calibri"/>
              </a:rPr>
              <a:t>Computed from column types. Exhaustive, instant, no tokens, and it cannot propose a map for a table with no geography.</a:t>
            </a:r>
          </a:p>
          <a:p>
            <a:pPr algn="l">
              <a:lnSpc>
                <a:spcPct val="114000"/>
              </a:lnSpc>
              <a:spcBef>
                <a:spcPts val="600"/>
              </a:spcBef>
            </a:pPr>
            <a:r>
              <a:rPr sz="1050" b="1">
                <a:solidFill>
                  <a:srgbClr val="1E66B8"/>
                </a:solidFill>
                <a:latin typeface="Calibri"/>
              </a:rPr>
              <a:t>closed  ·  free</a:t>
            </a:r>
          </a:p>
        </p:txBody>
      </p:sp>
      <p:sp>
        <p:nvSpPr>
          <p:cNvPr id="8" name="TextBox 7"/>
          <p:cNvSpPr txBox="1"/>
          <p:nvPr/>
        </p:nvSpPr>
        <p:spPr>
          <a:xfrm>
            <a:off x="4123944" y="3063240"/>
            <a:ext cx="274320" cy="365760"/>
          </a:xfrm>
          <a:prstGeom prst="rect">
            <a:avLst/>
          </a:prstGeom>
          <a:noFill/>
        </p:spPr>
        <p:txBody>
          <a:bodyPr wrap="square" anchor="t" lIns="0" rIns="0" tIns="0" bIns="0">
            <a:spAutoFit/>
          </a:bodyPr>
          <a:lstStyle/>
          <a:p>
            <a:pPr algn="l">
              <a:lnSpc>
                <a:spcPct val="100000"/>
              </a:lnSpc>
            </a:pPr>
            <a:r>
              <a:rPr sz="2200" b="1">
                <a:solidFill>
                  <a:srgbClr val="D9DFE7"/>
                </a:solidFill>
                <a:latin typeface="Arial"/>
              </a:rPr>
              <a:t>›</a:t>
            </a:r>
          </a:p>
        </p:txBody>
      </p:sp>
      <p:sp>
        <p:nvSpPr>
          <p:cNvPr id="9" name="Rectangle 8"/>
          <p:cNvSpPr/>
          <p:nvPr/>
        </p:nvSpPr>
        <p:spPr>
          <a:xfrm>
            <a:off x="4398264" y="2148840"/>
            <a:ext cx="3401568"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98264" y="214884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36007" y="2359152"/>
            <a:ext cx="2926080" cy="1828800"/>
          </a:xfrm>
          <a:prstGeom prst="rect">
            <a:avLst/>
          </a:prstGeom>
          <a:noFill/>
        </p:spPr>
        <p:txBody>
          <a:bodyPr wrap="square" anchor="t" lIns="0" rIns="0" tIns="0" bIns="0">
            <a:spAutoFit/>
          </a:bodyPr>
          <a:lstStyle/>
          <a:p>
            <a:pPr algn="l">
              <a:lnSpc>
                <a:spcPct val="114000"/>
              </a:lnSpc>
            </a:pPr>
            <a:r>
              <a:rPr sz="950" b="1">
                <a:solidFill>
                  <a:srgbClr val="526173"/>
                </a:solidFill>
                <a:latin typeface="Arial"/>
              </a:rPr>
              <a:t>WHICH ARE WORTH SHOWING, AND WHY</a:t>
            </a:r>
          </a:p>
          <a:p>
            <a:pPr algn="l">
              <a:lnSpc>
                <a:spcPct val="114000"/>
              </a:lnSpc>
              <a:spcBef>
                <a:spcPts val="400"/>
              </a:spcBef>
            </a:pPr>
            <a:r>
              <a:rPr sz="1500" b="1">
                <a:solidFill>
                  <a:srgbClr val="20C4B0"/>
                </a:solidFill>
                <a:latin typeface="Arial"/>
              </a:rPr>
              <a:t>select.py</a:t>
            </a:r>
          </a:p>
          <a:p>
            <a:pPr algn="l">
              <a:lnSpc>
                <a:spcPct val="114000"/>
              </a:lnSpc>
              <a:spcBef>
                <a:spcPts val="500"/>
              </a:spcBef>
            </a:pPr>
            <a:r>
              <a:rPr sz="1150" b="0">
                <a:solidFill>
                  <a:srgbClr val="0F172A"/>
                </a:solidFill>
                <a:latin typeface="Calibri"/>
              </a:rPr>
              <a:t>The moderator picks an index out of candidates that are already drawable and encoded against real columns. Its job is ranking and prose.</a:t>
            </a:r>
          </a:p>
          <a:p>
            <a:pPr algn="l">
              <a:lnSpc>
                <a:spcPct val="114000"/>
              </a:lnSpc>
              <a:spcBef>
                <a:spcPts val="600"/>
              </a:spcBef>
            </a:pPr>
            <a:r>
              <a:rPr sz="1050" b="1">
                <a:solidFill>
                  <a:srgbClr val="20C4B0"/>
                </a:solidFill>
                <a:latin typeface="Calibri"/>
              </a:rPr>
              <a:t>open  ·  the model</a:t>
            </a:r>
          </a:p>
        </p:txBody>
      </p:sp>
      <p:sp>
        <p:nvSpPr>
          <p:cNvPr id="12" name="TextBox 11"/>
          <p:cNvSpPr txBox="1"/>
          <p:nvPr/>
        </p:nvSpPr>
        <p:spPr>
          <a:xfrm>
            <a:off x="7836408" y="3063240"/>
            <a:ext cx="274320" cy="365760"/>
          </a:xfrm>
          <a:prstGeom prst="rect">
            <a:avLst/>
          </a:prstGeom>
          <a:noFill/>
        </p:spPr>
        <p:txBody>
          <a:bodyPr wrap="square" anchor="t" lIns="0" rIns="0" tIns="0" bIns="0">
            <a:spAutoFit/>
          </a:bodyPr>
          <a:lstStyle/>
          <a:p>
            <a:pPr algn="l">
              <a:lnSpc>
                <a:spcPct val="100000"/>
              </a:lnSpc>
            </a:pPr>
            <a:r>
              <a:rPr sz="2200" b="1">
                <a:solidFill>
                  <a:srgbClr val="D9DFE7"/>
                </a:solidFill>
                <a:latin typeface="Arial"/>
              </a:rPr>
              <a:t>›</a:t>
            </a:r>
          </a:p>
        </p:txBody>
      </p:sp>
      <p:sp>
        <p:nvSpPr>
          <p:cNvPr id="13" name="Rectangle 12"/>
          <p:cNvSpPr/>
          <p:nvPr/>
        </p:nvSpPr>
        <p:spPr>
          <a:xfrm>
            <a:off x="8110727" y="2148840"/>
            <a:ext cx="3401568" cy="2148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10727" y="214884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1" y="2359152"/>
            <a:ext cx="2926080" cy="1828800"/>
          </a:xfrm>
          <a:prstGeom prst="rect">
            <a:avLst/>
          </a:prstGeom>
          <a:noFill/>
        </p:spPr>
        <p:txBody>
          <a:bodyPr wrap="square" anchor="t" lIns="0" rIns="0" tIns="0" bIns="0">
            <a:spAutoFit/>
          </a:bodyPr>
          <a:lstStyle/>
          <a:p>
            <a:pPr algn="l">
              <a:lnSpc>
                <a:spcPct val="114000"/>
              </a:lnSpc>
            </a:pPr>
            <a:r>
              <a:rPr sz="950" b="1">
                <a:solidFill>
                  <a:srgbClr val="526173"/>
                </a:solidFill>
                <a:latin typeface="Arial"/>
              </a:rPr>
              <a:t>WHETHER THE RESULT IS HONEST</a:t>
            </a:r>
          </a:p>
          <a:p>
            <a:pPr algn="l">
              <a:lnSpc>
                <a:spcPct val="114000"/>
              </a:lnSpc>
              <a:spcBef>
                <a:spcPts val="400"/>
              </a:spcBef>
            </a:pPr>
            <a:r>
              <a:rPr sz="1500" b="1">
                <a:solidFill>
                  <a:srgbClr val="0D1B5C"/>
                </a:solidFill>
                <a:latin typeface="Arial"/>
              </a:rPr>
              <a:t>validate.py</a:t>
            </a:r>
          </a:p>
          <a:p>
            <a:pPr algn="l">
              <a:lnSpc>
                <a:spcPct val="114000"/>
              </a:lnSpc>
              <a:spcBef>
                <a:spcPts val="500"/>
              </a:spcBef>
            </a:pPr>
            <a:r>
              <a:rPr sz="1150" b="0">
                <a:solidFill>
                  <a:srgbClr val="0F172A"/>
                </a:solidFill>
                <a:latin typeface="Calibri"/>
              </a:rPr>
              <a:t>A rejected spec is not dropped silently: the validator's own errors go back to the model for one retry.</a:t>
            </a:r>
          </a:p>
          <a:p>
            <a:pPr algn="l">
              <a:lnSpc>
                <a:spcPct val="114000"/>
              </a:lnSpc>
              <a:spcBef>
                <a:spcPts val="600"/>
              </a:spcBef>
            </a:pPr>
            <a:r>
              <a:rPr sz="1050" b="1">
                <a:solidFill>
                  <a:srgbClr val="0D1B5C"/>
                </a:solidFill>
                <a:latin typeface="Calibri"/>
              </a:rPr>
              <a:t>closed  ·  free</a:t>
            </a:r>
          </a:p>
        </p:txBody>
      </p:sp>
      <p:sp>
        <p:nvSpPr>
          <p:cNvPr id="16" name="TextBox 15"/>
          <p:cNvSpPr txBox="1"/>
          <p:nvPr/>
        </p:nvSpPr>
        <p:spPr>
          <a:xfrm>
            <a:off x="685800" y="4480560"/>
            <a:ext cx="5394960" cy="1371600"/>
          </a:xfrm>
          <a:prstGeom prst="rect">
            <a:avLst/>
          </a:prstGeom>
          <a:noFill/>
        </p:spPr>
        <p:txBody>
          <a:bodyPr wrap="square" anchor="t" lIns="0" rIns="0" tIns="0" bIns="0">
            <a:spAutoFit/>
          </a:bodyPr>
          <a:lstStyle/>
          <a:p>
            <a:pPr algn="l">
              <a:lnSpc>
                <a:spcPct val="115000"/>
              </a:lnSpc>
            </a:pPr>
            <a:r>
              <a:rPr sz="1300" b="1">
                <a:solidFill>
                  <a:srgbClr val="0D1B5C"/>
                </a:solidFill>
                <a:latin typeface="Calibri"/>
              </a:rPr>
              <a:t>Why split it at all</a:t>
            </a:r>
          </a:p>
          <a:p>
            <a:pPr algn="l">
              <a:lnSpc>
                <a:spcPct val="115000"/>
              </a:lnSpc>
              <a:spcBef>
                <a:spcPts val="400"/>
              </a:spcBef>
            </a:pPr>
            <a:r>
              <a:rPr sz="1150" b="0">
                <a:solidFill>
                  <a:srgbClr val="0F172A"/>
                </a:solidFill>
                <a:latin typeface="Calibri"/>
              </a:rPr>
              <a:t>Applicability is a closed question over column types, so computing it beats asking. That shrinks the prompt from seventeen forms with their rules to a handful of pre-validated candidates — which is what makes this reliable on a local model rather than only on a frontier one.</a:t>
            </a:r>
          </a:p>
        </p:txBody>
      </p:sp>
      <p:sp>
        <p:nvSpPr>
          <p:cNvPr id="17" name="Rectangle 16"/>
          <p:cNvSpPr/>
          <p:nvPr/>
        </p:nvSpPr>
        <p:spPr>
          <a:xfrm>
            <a:off x="6537960" y="4407408"/>
            <a:ext cx="4965192" cy="1481328"/>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37960" y="4407408"/>
            <a:ext cx="44450" cy="1481328"/>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12280" y="4572000"/>
            <a:ext cx="4526280" cy="1188720"/>
          </a:xfrm>
          <a:prstGeom prst="rect">
            <a:avLst/>
          </a:prstGeom>
          <a:noFill/>
        </p:spPr>
        <p:txBody>
          <a:bodyPr wrap="square" anchor="t" lIns="0" rIns="0" tIns="0" bIns="0">
            <a:spAutoFit/>
          </a:bodyPr>
          <a:lstStyle/>
          <a:p>
            <a:pPr algn="l">
              <a:lnSpc>
                <a:spcPct val="114000"/>
              </a:lnSpc>
            </a:pPr>
            <a:r>
              <a:rPr sz="1250" b="1">
                <a:solidFill>
                  <a:srgbClr val="B45409"/>
                </a:solidFill>
                <a:latin typeface="Calibri"/>
              </a:rPr>
              <a:t>Tool surface: specified, not wired</a:t>
            </a:r>
          </a:p>
          <a:p>
            <a:pPr algn="l">
              <a:lnSpc>
                <a:spcPct val="114000"/>
              </a:lnSpc>
              <a:spcBef>
                <a:spcPts val="400"/>
              </a:spcBef>
            </a:pPr>
            <a:r>
              <a:rPr sz="1150" b="0">
                <a:solidFill>
                  <a:srgbClr val="0F172A"/>
                </a:solidFill>
                <a:latin typeface="Calibri"/>
              </a:rPr>
              <a:t>The contract defines seven chart tools plus three read tools, and the build emits a JSON schema shaped to drop straight in as an MCP inputSchema. That is a written design, not something running today — selection is one structured call.</a:t>
            </a:r>
          </a:p>
        </p:txBody>
      </p:sp>
      <p:sp>
        <p:nvSpPr>
          <p:cNvPr id="20" name="TextBox 19"/>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1" name="TextBox 20"/>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058400" cy="8229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THE WHOLE SYSTEM</a:t>
            </a:r>
          </a:p>
          <a:p>
            <a:pPr algn="l">
              <a:lnSpc>
                <a:spcPct val="100000"/>
              </a:lnSpc>
              <a:spcBef>
                <a:spcPts val="600"/>
              </a:spcBef>
            </a:pPr>
            <a:r>
              <a:rPr sz="3400" b="1">
                <a:solidFill>
                  <a:srgbClr val="FFFFFF"/>
                </a:solidFill>
                <a:latin typeface="Arial"/>
              </a:rPr>
              <a:t>Table in, audited story out — on one laptop</a:t>
            </a:r>
          </a:p>
        </p:txBody>
      </p:sp>
      <p:sp>
        <p:nvSpPr>
          <p:cNvPr id="5" name="Rectangle 4"/>
          <p:cNvSpPr/>
          <p:nvPr/>
        </p:nvSpPr>
        <p:spPr>
          <a:xfrm>
            <a:off x="868680"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7840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Table</a:t>
            </a:r>
          </a:p>
          <a:p>
            <a:pPr algn="ctr">
              <a:lnSpc>
                <a:spcPct val="110000"/>
              </a:lnSpc>
              <a:spcBef>
                <a:spcPts val="100"/>
              </a:spcBef>
            </a:pPr>
            <a:r>
              <a:rPr sz="900" b="0">
                <a:solidFill>
                  <a:srgbClr val="8A9CB8"/>
                </a:solidFill>
                <a:latin typeface="Calibri"/>
              </a:rPr>
              <a:t>9,959 rows</a:t>
            </a:r>
          </a:p>
        </p:txBody>
      </p:sp>
      <p:sp>
        <p:nvSpPr>
          <p:cNvPr id="8" name="TextBox 7"/>
          <p:cNvSpPr txBox="1"/>
          <p:nvPr/>
        </p:nvSpPr>
        <p:spPr>
          <a:xfrm>
            <a:off x="2240280"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9" name="Rectangle 8"/>
          <p:cNvSpPr/>
          <p:nvPr/>
        </p:nvSpPr>
        <p:spPr>
          <a:xfrm>
            <a:off x="244144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4144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51176"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Evidence pack</a:t>
            </a:r>
          </a:p>
          <a:p>
            <a:pPr algn="ctr">
              <a:lnSpc>
                <a:spcPct val="110000"/>
              </a:lnSpc>
              <a:spcBef>
                <a:spcPts val="100"/>
              </a:spcBef>
            </a:pPr>
            <a:r>
              <a:rPr sz="900" b="0">
                <a:solidFill>
                  <a:srgbClr val="8A9CB8"/>
                </a:solidFill>
                <a:latin typeface="Calibri"/>
              </a:rPr>
              <a:t>computed</a:t>
            </a:r>
          </a:p>
        </p:txBody>
      </p:sp>
      <p:sp>
        <p:nvSpPr>
          <p:cNvPr id="12" name="TextBox 11"/>
          <p:cNvSpPr txBox="1"/>
          <p:nvPr/>
        </p:nvSpPr>
        <p:spPr>
          <a:xfrm>
            <a:off x="3813048"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3" name="Rectangle 12"/>
          <p:cNvSpPr/>
          <p:nvPr/>
        </p:nvSpPr>
        <p:spPr>
          <a:xfrm>
            <a:off x="4014215"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14215"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23944"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Raw story</a:t>
            </a:r>
          </a:p>
          <a:p>
            <a:pPr algn="ctr">
              <a:lnSpc>
                <a:spcPct val="110000"/>
              </a:lnSpc>
              <a:spcBef>
                <a:spcPts val="100"/>
              </a:spcBef>
            </a:pPr>
            <a:r>
              <a:rPr sz="900" b="0">
                <a:solidFill>
                  <a:srgbClr val="8A9CB8"/>
                </a:solidFill>
                <a:latin typeface="Calibri"/>
              </a:rPr>
              <a:t>llama3.1:8b</a:t>
            </a:r>
          </a:p>
        </p:txBody>
      </p:sp>
      <p:sp>
        <p:nvSpPr>
          <p:cNvPr id="16" name="TextBox 15"/>
          <p:cNvSpPr txBox="1"/>
          <p:nvPr/>
        </p:nvSpPr>
        <p:spPr>
          <a:xfrm>
            <a:off x="5385816"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17" name="Rectangle 16"/>
          <p:cNvSpPr/>
          <p:nvPr/>
        </p:nvSpPr>
        <p:spPr>
          <a:xfrm>
            <a:off x="5586984"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86984"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96712"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Moderated</a:t>
            </a:r>
          </a:p>
          <a:p>
            <a:pPr algn="ctr">
              <a:lnSpc>
                <a:spcPct val="110000"/>
              </a:lnSpc>
              <a:spcBef>
                <a:spcPts val="100"/>
              </a:spcBef>
            </a:pPr>
            <a:r>
              <a:rPr sz="900" b="0">
                <a:solidFill>
                  <a:srgbClr val="8A9CB8"/>
                </a:solidFill>
                <a:latin typeface="Calibri"/>
              </a:rPr>
              <a:t>gemma4:31b</a:t>
            </a:r>
          </a:p>
        </p:txBody>
      </p:sp>
      <p:sp>
        <p:nvSpPr>
          <p:cNvPr id="20" name="TextBox 19"/>
          <p:cNvSpPr txBox="1"/>
          <p:nvPr/>
        </p:nvSpPr>
        <p:spPr>
          <a:xfrm>
            <a:off x="6958584"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1" name="Rectangle 20"/>
          <p:cNvSpPr/>
          <p:nvPr/>
        </p:nvSpPr>
        <p:spPr>
          <a:xfrm>
            <a:off x="7159752"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159752"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69480"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Fact-check</a:t>
            </a:r>
          </a:p>
          <a:p>
            <a:pPr algn="ctr">
              <a:lnSpc>
                <a:spcPct val="110000"/>
              </a:lnSpc>
              <a:spcBef>
                <a:spcPts val="100"/>
              </a:spcBef>
            </a:pPr>
            <a:r>
              <a:rPr sz="900" b="0">
                <a:solidFill>
                  <a:srgbClr val="8A9CB8"/>
                </a:solidFill>
                <a:latin typeface="Calibri"/>
              </a:rPr>
              <a:t>same model</a:t>
            </a:r>
          </a:p>
        </p:txBody>
      </p:sp>
      <p:sp>
        <p:nvSpPr>
          <p:cNvPr id="24" name="TextBox 23"/>
          <p:cNvSpPr txBox="1"/>
          <p:nvPr/>
        </p:nvSpPr>
        <p:spPr>
          <a:xfrm>
            <a:off x="8531352"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5" name="Rectangle 24"/>
          <p:cNvSpPr/>
          <p:nvPr/>
        </p:nvSpPr>
        <p:spPr>
          <a:xfrm>
            <a:off x="8732519"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732519" y="2514600"/>
            <a:ext cx="1371600" cy="381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42247"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Charts</a:t>
            </a:r>
          </a:p>
          <a:p>
            <a:pPr algn="ctr">
              <a:lnSpc>
                <a:spcPct val="110000"/>
              </a:lnSpc>
              <a:spcBef>
                <a:spcPts val="100"/>
              </a:spcBef>
            </a:pPr>
            <a:r>
              <a:rPr sz="900" b="0">
                <a:solidFill>
                  <a:srgbClr val="8A9CB8"/>
                </a:solidFill>
                <a:latin typeface="Calibri"/>
              </a:rPr>
              <a:t>same model</a:t>
            </a:r>
          </a:p>
        </p:txBody>
      </p:sp>
      <p:sp>
        <p:nvSpPr>
          <p:cNvPr id="28" name="TextBox 27"/>
          <p:cNvSpPr txBox="1"/>
          <p:nvPr/>
        </p:nvSpPr>
        <p:spPr>
          <a:xfrm>
            <a:off x="10104119" y="2761488"/>
            <a:ext cx="201168" cy="274320"/>
          </a:xfrm>
          <a:prstGeom prst="rect">
            <a:avLst/>
          </a:prstGeom>
          <a:noFill/>
        </p:spPr>
        <p:txBody>
          <a:bodyPr wrap="square" anchor="t" lIns="0" rIns="0" tIns="0" bIns="0">
            <a:spAutoFit/>
          </a:bodyPr>
          <a:lstStyle/>
          <a:p>
            <a:pPr algn="ctr">
              <a:lnSpc>
                <a:spcPct val="100000"/>
              </a:lnSpc>
            </a:pPr>
            <a:r>
              <a:rPr sz="1500" b="1">
                <a:solidFill>
                  <a:srgbClr val="2B4A84"/>
                </a:solidFill>
                <a:latin typeface="Arial"/>
              </a:rPr>
              <a:t>›</a:t>
            </a:r>
          </a:p>
        </p:txBody>
      </p:sp>
      <p:sp>
        <p:nvSpPr>
          <p:cNvPr id="29" name="Rectangle 28"/>
          <p:cNvSpPr/>
          <p:nvPr/>
        </p:nvSpPr>
        <p:spPr>
          <a:xfrm>
            <a:off x="10305288" y="2514600"/>
            <a:ext cx="1371600" cy="777240"/>
          </a:xfrm>
          <a:prstGeom prst="rect">
            <a:avLst/>
          </a:prstGeom>
          <a:solidFill>
            <a:srgbClr val="122C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0305288" y="2514600"/>
            <a:ext cx="1371600" cy="38100"/>
          </a:xfrm>
          <a:prstGeom prst="rect">
            <a:avLst/>
          </a:prstGeom>
          <a:solidFill>
            <a:srgbClr val="2B4A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15015" y="2697480"/>
            <a:ext cx="1152144" cy="548640"/>
          </a:xfrm>
          <a:prstGeom prst="rect">
            <a:avLst/>
          </a:prstGeom>
          <a:noFill/>
        </p:spPr>
        <p:txBody>
          <a:bodyPr wrap="square" anchor="t" lIns="0" rIns="0" tIns="0" bIns="0">
            <a:spAutoFit/>
          </a:bodyPr>
          <a:lstStyle/>
          <a:p>
            <a:pPr algn="ctr">
              <a:lnSpc>
                <a:spcPct val="110000"/>
              </a:lnSpc>
            </a:pPr>
            <a:r>
              <a:rPr sz="1150" b="1">
                <a:solidFill>
                  <a:srgbClr val="FFFFFF"/>
                </a:solidFill>
                <a:latin typeface="Calibri"/>
              </a:rPr>
              <a:t>Judged</a:t>
            </a:r>
          </a:p>
          <a:p>
            <a:pPr algn="ctr">
              <a:lnSpc>
                <a:spcPct val="110000"/>
              </a:lnSpc>
              <a:spcBef>
                <a:spcPts val="100"/>
              </a:spcBef>
            </a:pPr>
            <a:r>
              <a:rPr sz="900" b="0">
                <a:solidFill>
                  <a:srgbClr val="8A9CB8"/>
                </a:solidFill>
                <a:latin typeface="Calibri"/>
              </a:rPr>
              <a:t>Opus, blind</a:t>
            </a:r>
          </a:p>
        </p:txBody>
      </p:sp>
      <p:sp>
        <p:nvSpPr>
          <p:cNvPr id="32" name="TextBox 31"/>
          <p:cNvSpPr txBox="1"/>
          <p:nvPr/>
        </p:nvSpPr>
        <p:spPr>
          <a:xfrm>
            <a:off x="868680" y="3456432"/>
            <a:ext cx="10515600" cy="274320"/>
          </a:xfrm>
          <a:prstGeom prst="rect">
            <a:avLst/>
          </a:prstGeom>
          <a:noFill/>
        </p:spPr>
        <p:txBody>
          <a:bodyPr wrap="square" anchor="t" lIns="0" rIns="0" tIns="0" bIns="0">
            <a:spAutoFit/>
          </a:bodyPr>
          <a:lstStyle/>
          <a:p>
            <a:pPr algn="l">
              <a:lnSpc>
                <a:spcPct val="100000"/>
              </a:lnSpc>
            </a:pPr>
            <a:r>
              <a:rPr sz="1000" b="0">
                <a:solidFill>
                  <a:srgbClr val="8A9CB8"/>
                </a:solidFill>
                <a:latin typeface="Calibri"/>
              </a:rPr>
              <a:t>teal = the three stages that run on the moderator model</a:t>
            </a:r>
          </a:p>
        </p:txBody>
      </p:sp>
      <p:sp>
        <p:nvSpPr>
          <p:cNvPr id="33" name="TextBox 32"/>
          <p:cNvSpPr txBox="1"/>
          <p:nvPr/>
        </p:nvSpPr>
        <p:spPr>
          <a:xfrm>
            <a:off x="1005840" y="4114800"/>
            <a:ext cx="10058400" cy="1371600"/>
          </a:xfrm>
          <a:prstGeom prst="rect">
            <a:avLst/>
          </a:prstGeom>
          <a:noFill/>
        </p:spPr>
        <p:txBody>
          <a:bodyPr wrap="square" anchor="t" lIns="0" rIns="0" tIns="0" bIns="0">
            <a:spAutoFit/>
          </a:bodyPr>
          <a:lstStyle/>
          <a:p>
            <a:pPr algn="l">
              <a:lnSpc>
                <a:spcPct val="120000"/>
              </a:lnSpc>
            </a:pPr>
            <a:r>
              <a:rPr sz="1200" b="1">
                <a:solidFill>
                  <a:srgbClr val="20C4B0"/>
                </a:solidFill>
                <a:latin typeface="Arial"/>
              </a:rPr>
              <a:t>LIVE DEMO  ·  3:30</a:t>
            </a:r>
          </a:p>
          <a:p>
            <a:pPr algn="l">
              <a:lnSpc>
                <a:spcPct val="120000"/>
              </a:lnSpc>
              <a:spcBef>
                <a:spcPts val="800"/>
              </a:spcBef>
            </a:pPr>
            <a:r>
              <a:rPr sz="2000" b="1">
                <a:solidFill>
                  <a:srgbClr val="FFFFFF"/>
                </a:solidFill>
                <a:latin typeface="Arial"/>
              </a:rPr>
              <a:t>Table → chosen figures → raw story → moderated story → the human story beside it</a:t>
            </a:r>
          </a:p>
          <a:p>
            <a:pPr algn="l">
              <a:lnSpc>
                <a:spcPct val="120000"/>
              </a:lnSpc>
              <a:spcBef>
                <a:spcPts val="800"/>
              </a:spcBef>
            </a:pPr>
            <a:r>
              <a:rPr sz="1300" b="0">
                <a:solidFill>
                  <a:srgbClr val="8A9CB8"/>
                </a:solidFill>
                <a:latin typeface="Calibri"/>
              </a:rPr>
              <a:t>localhost:3000  ·  Django on :8000  ·  llama3.1:8b and gemma4:31b on Ollama. No API call anywhere in the generation path.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051560"/>
            <a:ext cx="10241280" cy="2194560"/>
          </a:xfrm>
          <a:prstGeom prst="rect">
            <a:avLst/>
          </a:prstGeom>
          <a:noFill/>
        </p:spPr>
        <p:txBody>
          <a:bodyPr wrap="square" anchor="t" lIns="0" rIns="0" tIns="0" bIns="0">
            <a:spAutoFit/>
          </a:bodyPr>
          <a:lstStyle/>
          <a:p>
            <a:pPr algn="l">
              <a:lnSpc>
                <a:spcPct val="120000"/>
              </a:lnSpc>
            </a:pPr>
            <a:r>
              <a:rPr sz="1300" b="1">
                <a:solidFill>
                  <a:srgbClr val="0E8F86"/>
                </a:solidFill>
                <a:latin typeface="Arial"/>
              </a:rPr>
              <a:t>What we can defend</a:t>
            </a:r>
          </a:p>
          <a:p>
            <a:pPr algn="l">
              <a:lnSpc>
                <a:spcPct val="120000"/>
              </a:lnSpc>
              <a:spcBef>
                <a:spcPts val="1000"/>
              </a:spcBef>
            </a:pPr>
            <a:r>
              <a:rPr sz="2600" b="1">
                <a:solidFill>
                  <a:srgbClr val="0D1B5C"/>
                </a:solidFill>
                <a:latin typeface="Arial"/>
              </a:rPr>
              <a:t>A second agent can move a generated data story onto the tone level of a person writing from the same table —</a:t>
            </a:r>
          </a:p>
          <a:p>
            <a:pPr algn="l">
              <a:lnSpc>
                <a:spcPct val="120000"/>
              </a:lnSpc>
              <a:spcBef>
                <a:spcPts val="200"/>
              </a:spcBef>
            </a:pPr>
            <a:r>
              <a:rPr sz="2600" b="1">
                <a:solidFill>
                  <a:srgbClr val="0D1B5C"/>
                </a:solidFill>
                <a:latin typeface="Arial"/>
              </a:rPr>
              <a:t>without losing the numbers, and at a cost in readability we can state.</a:t>
            </a:r>
          </a:p>
        </p:txBody>
      </p:sp>
      <p:sp>
        <p:nvSpPr>
          <p:cNvPr id="5" name="Rectangle 4"/>
          <p:cNvSpPr/>
          <p:nvPr/>
        </p:nvSpPr>
        <p:spPr>
          <a:xfrm>
            <a:off x="1005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3611880"/>
            <a:ext cx="44450" cy="155448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RESULT</a:t>
            </a:r>
          </a:p>
        </p:txBody>
      </p:sp>
      <p:sp>
        <p:nvSpPr>
          <p:cNvPr id="8" name="TextBox 7"/>
          <p:cNvSpPr txBox="1"/>
          <p:nvPr/>
        </p:nvSpPr>
        <p:spPr>
          <a:xfrm>
            <a:off x="1261872" y="4087368"/>
            <a:ext cx="2697480" cy="548640"/>
          </a:xfrm>
          <a:prstGeom prst="rect">
            <a:avLst/>
          </a:prstGeom>
          <a:noFill/>
        </p:spPr>
        <p:txBody>
          <a:bodyPr wrap="square" anchor="t" lIns="0" rIns="0" tIns="0" bIns="0">
            <a:spAutoFit/>
          </a:bodyPr>
          <a:lstStyle/>
          <a:p>
            <a:pPr algn="l">
              <a:lnSpc>
                <a:spcPct val="100000"/>
              </a:lnSpc>
            </a:pPr>
            <a:r>
              <a:rPr sz="3000" b="1">
                <a:solidFill>
                  <a:srgbClr val="0E8F86"/>
                </a:solidFill>
                <a:latin typeface="Arial"/>
              </a:rPr>
              <a:t>3.74 → 2.09</a:t>
            </a:r>
          </a:p>
        </p:txBody>
      </p:sp>
      <p:sp>
        <p:nvSpPr>
          <p:cNvPr id="9" name="TextBox 8"/>
          <p:cNvSpPr txBox="1"/>
          <p:nvPr/>
        </p:nvSpPr>
        <p:spPr>
          <a:xfrm>
            <a:off x="1261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alarmism, against a human median of 2.00</a:t>
            </a:r>
          </a:p>
        </p:txBody>
      </p:sp>
      <p:sp>
        <p:nvSpPr>
          <p:cNvPr id="10" name="Rectangle 9"/>
          <p:cNvSpPr/>
          <p:nvPr/>
        </p:nvSpPr>
        <p:spPr>
          <a:xfrm>
            <a:off x="4434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34840" y="3611880"/>
            <a:ext cx="44450" cy="155448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INSTRUMENT</a:t>
            </a:r>
          </a:p>
        </p:txBody>
      </p:sp>
      <p:sp>
        <p:nvSpPr>
          <p:cNvPr id="13" name="TextBox 12"/>
          <p:cNvSpPr txBox="1"/>
          <p:nvPr/>
        </p:nvSpPr>
        <p:spPr>
          <a:xfrm>
            <a:off x="4690872" y="4087368"/>
            <a:ext cx="2697480" cy="548640"/>
          </a:xfrm>
          <a:prstGeom prst="rect">
            <a:avLst/>
          </a:prstGeom>
          <a:noFill/>
        </p:spPr>
        <p:txBody>
          <a:bodyPr wrap="square" anchor="t" lIns="0" rIns="0" tIns="0" bIns="0">
            <a:spAutoFit/>
          </a:bodyPr>
          <a:lstStyle/>
          <a:p>
            <a:pPr algn="l">
              <a:lnSpc>
                <a:spcPct val="100000"/>
              </a:lnSpc>
            </a:pPr>
            <a:r>
              <a:rPr sz="3000" b="1">
                <a:solidFill>
                  <a:srgbClr val="1E66B8"/>
                </a:solidFill>
                <a:latin typeface="Arial"/>
              </a:rPr>
              <a:t>0.991</a:t>
            </a:r>
          </a:p>
        </p:txBody>
      </p:sp>
      <p:sp>
        <p:nvSpPr>
          <p:cNvPr id="14" name="TextBox 13"/>
          <p:cNvSpPr txBox="1"/>
          <p:nvPr/>
        </p:nvSpPr>
        <p:spPr>
          <a:xfrm>
            <a:off x="4690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ICC, so every number above has an error bar</a:t>
            </a:r>
          </a:p>
        </p:txBody>
      </p:sp>
      <p:sp>
        <p:nvSpPr>
          <p:cNvPr id="15" name="Rectangle 14"/>
          <p:cNvSpPr/>
          <p:nvPr/>
        </p:nvSpPr>
        <p:spPr>
          <a:xfrm>
            <a:off x="7863840" y="3611880"/>
            <a:ext cx="3154680" cy="155448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3611880"/>
            <a:ext cx="44450" cy="155448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3813048"/>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COST</a:t>
            </a:r>
          </a:p>
        </p:txBody>
      </p:sp>
      <p:sp>
        <p:nvSpPr>
          <p:cNvPr id="18" name="TextBox 17"/>
          <p:cNvSpPr txBox="1"/>
          <p:nvPr/>
        </p:nvSpPr>
        <p:spPr>
          <a:xfrm>
            <a:off x="8119872" y="4087368"/>
            <a:ext cx="2697480" cy="548640"/>
          </a:xfrm>
          <a:prstGeom prst="rect">
            <a:avLst/>
          </a:prstGeom>
          <a:noFill/>
        </p:spPr>
        <p:txBody>
          <a:bodyPr wrap="square" anchor="t" lIns="0" rIns="0" tIns="0" bIns="0">
            <a:spAutoFit/>
          </a:bodyPr>
          <a:lstStyle/>
          <a:p>
            <a:pPr algn="l">
              <a:lnSpc>
                <a:spcPct val="100000"/>
              </a:lnSpc>
            </a:pPr>
            <a:r>
              <a:rPr sz="3000" b="1">
                <a:solidFill>
                  <a:srgbClr val="B45409"/>
                </a:solidFill>
                <a:latin typeface="Arial"/>
              </a:rPr>
              <a:t>12/20</a:t>
            </a:r>
          </a:p>
        </p:txBody>
      </p:sp>
      <p:sp>
        <p:nvSpPr>
          <p:cNvPr id="19" name="TextBox 18"/>
          <p:cNvSpPr txBox="1"/>
          <p:nvPr/>
        </p:nvSpPr>
        <p:spPr>
          <a:xfrm>
            <a:off x="8119872" y="4636008"/>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pairs where the raw story still read better</a:t>
            </a:r>
          </a:p>
        </p:txBody>
      </p:sp>
      <p:sp>
        <p:nvSpPr>
          <p:cNvPr id="20" name="TextBox 19"/>
          <p:cNvSpPr txBox="1"/>
          <p:nvPr/>
        </p:nvSpPr>
        <p:spPr>
          <a:xfrm>
            <a:off x="1005840" y="5440680"/>
            <a:ext cx="10241280" cy="777240"/>
          </a:xfrm>
          <a:prstGeom prst="rect">
            <a:avLst/>
          </a:prstGeom>
          <a:noFill/>
        </p:spPr>
        <p:txBody>
          <a:bodyPr wrap="square" anchor="t" lIns="0" rIns="0" tIns="0" bIns="0">
            <a:spAutoFit/>
          </a:bodyPr>
          <a:lstStyle/>
          <a:p>
            <a:pPr algn="l">
              <a:lnSpc>
                <a:spcPct val="116000"/>
              </a:lnSpc>
            </a:pPr>
            <a:r>
              <a:rPr sz="1200" b="0">
                <a:solidFill>
                  <a:srgbClr val="526173"/>
                </a:solidFill>
                <a:latin typeface="Calibri"/>
              </a:rPr>
              <a:t>What we are not claiming: one judge family agreeing with itself, not a panel. No user study. Twenty-five human stories from five writer slots, not a controlled writer design.</a:t>
            </a:r>
          </a:p>
          <a:p>
            <a:pPr algn="l">
              <a:lnSpc>
                <a:spcPct val="116000"/>
              </a:lnSpc>
              <a:spcBef>
                <a:spcPts val="800"/>
              </a:spcBef>
            </a:pPr>
            <a:r>
              <a:rPr sz="1250" b="1">
                <a:solidFill>
                  <a:srgbClr val="0D1B5C"/>
                </a:solidFill>
                <a:latin typeface="Calibri"/>
              </a:rPr>
              <a:t>github.com/memoelsamadony/ai-powered-data-storytelling  ·  Thank you — questions welcome</a:t>
            </a:r>
          </a:p>
        </p:txBody>
      </p:sp>
      <p:sp>
        <p:nvSpPr>
          <p:cNvPr id="21" name="TextBox 20"/>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2" name="TextBox 21"/>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