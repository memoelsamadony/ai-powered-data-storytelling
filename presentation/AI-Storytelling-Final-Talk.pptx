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parts,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[0:20]   running total 0:35   ~38 words</a:t>
            </a:r>
          </a:p>
          <a:p/>
          <a:p>
            <a:r>
              <a:t>Four parts. What the research told us and the problem it exposed. What we built</a:t>
            </a:r>
          </a:p>
          <a:p>
            <a:r>
              <a:t>and how we measure it. What a reader sees, and how we picked the model pair.</a:t>
            </a:r>
          </a:p>
          <a:p>
            <a:r>
              <a:t>Then the result and the system itself, and we finish live in the app.</a:t>
            </a:r>
          </a:p>
          <a:p/>
          <a:p>
            <a:r>
              <a:t>DELIVERY: fifteen seconds. Read the four part names, point at the claim on the</a:t>
            </a:r>
          </a:p>
          <a:p>
            <a:r>
              <a:t>right, move on. Do not explain the claim here - the whole talk is the</a:t>
            </a:r>
          </a:p>
          <a:p>
            <a:r>
              <a:t>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[0:05]   running total 0:40   ~15 words</a:t>
            </a:r>
          </a:p>
          <a:p/>
          <a:p>
            <a:r>
              <a:t>First: what the field already does, and the gap we found in it.</a:t>
            </a:r>
          </a:p>
          <a:p/>
          <a:p>
            <a:r>
              <a:t>DELIVERY: one line, then move. A divider is a beat, not a slide to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[0:35]   running total 1:15   ~100 words</a:t>
            </a:r>
          </a:p>
          <a:p/>
          <a:p>
            <a:r>
              <a:t>We surveyed the field, and the report lists it. These are the three we re-ran</a:t>
            </a:r>
          </a:p>
          <a:p>
            <a:r>
              <a:t>ourselves, because they shaped what we built.</a:t>
            </a:r>
          </a:p>
          <a:p/>
          <a:p>
            <a:r>
              <a:t>Kasner and Dušek: are open models faithful? Re-running their method, a 12B model</a:t>
            </a:r>
          </a:p>
          <a:p>
            <a:r>
              <a:t>left an error in about 18 percent of outputs where the paper reported over 80.</a:t>
            </a:r>
          </a:p>
          <a:p/>
          <a:p>
            <a:r>
              <a:t>DataTales: which claims are hard? Stating a number is not the hard part.</a:t>
            </a:r>
          </a:p>
          <a:p>
            <a:r>
              <a:t>Explaining it is.</a:t>
            </a:r>
          </a:p>
          <a:p/>
          <a:p>
            <a:r>
              <a:t>DataNarrative gave us the architecture - one agent writes, a second checks.</a:t>
            </a:r>
          </a:p>
          <a:p/>
          <a:p>
            <a:r>
              <a:t>Together, that is the bar at the bottom. Another fact-checker is not the gap.</a:t>
            </a:r>
          </a:p>
          <a:p/>
          <a:p>
            <a:r>
              <a:t>DELIVERY: three cards, one sentence each, then the bottom bar. If asked about</a:t>
            </a:r>
          </a:p>
          <a:p>
            <a:r>
              <a:t>the wider survey, it is in the interim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[0:30]   running total 1:45   ~98 words   &gt;&gt;&gt; HAND TO OKASHA</a:t>
            </a:r>
          </a:p>
          <a:p/>
          <a:p>
            <a:r>
              <a:t>So here is the problem we noticed.</a:t>
            </a:r>
          </a:p>
          <a:p/>
          <a:p>
            <a:r>
              <a:t>The critic is always a fact-checker. But Hullman and Diakopoulos showed framing</a:t>
            </a:r>
          </a:p>
          <a:p>
            <a:r>
              <a:t>alone significantly changes how people read the same chart. Tone is part of the</a:t>
            </a:r>
          </a:p>
          <a:p>
            <a:r>
              <a:t>claim.</a:t>
            </a:r>
          </a:p>
          <a:p/>
          <a:p>
            <a:r>
              <a:t>[POINT] Both sentences are true to the table. A fact-checker passes both. One</a:t>
            </a:r>
          </a:p>
          <a:p>
            <a:r>
              <a:t>catastrophises, one is calibrated, and nothing in the literature tells them</a:t>
            </a:r>
          </a:p>
          <a:p>
            <a:r>
              <a:t>apart.</a:t>
            </a:r>
          </a:p>
          <a:p/>
          <a:p>
            <a:r>
              <a:t>Okasha will show you what we built for that.</a:t>
            </a:r>
          </a:p>
          <a:p/>
          <a:p>
            <a:r>
              <a:t>DELIVERY: read both quotes out loud, slowly. This is the motivation and it lands</a:t>
            </a:r>
          </a:p>
          <a:p>
            <a:r>
              <a:t>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[0:05]   running total 1:50   ~15 words</a:t>
            </a:r>
          </a:p>
          <a:p/>
          <a:p>
            <a:r>
              <a:t>Thank you. I will take the system itself, and then how we put a number on tone.</a:t>
            </a:r>
          </a:p>
          <a:p/>
          <a:p>
            <a:r>
              <a:t>DELIVERY: your first words as a new speaker. Say them to the room, not the</a:t>
            </a:r>
          </a:p>
          <a:p>
            <a:r>
              <a:t>screen.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2:23   ~82 words</a:t>
            </a:r>
          </a:p>
          <a:p/>
          <a:p>
            <a:r>
              <a:t>Three roles, but only two local models.</a:t>
            </a:r>
          </a:p>
          <a:p/>
          <a:p>
            <a:r>
              <a:t>A generator writes the draft. Then the moderator - the agentic role here - does</a:t>
            </a:r>
          </a:p>
          <a:p>
            <a:r>
              <a:t>three jobs on the same weights: it rewrites the tone, that is our contribution,</a:t>
            </a:r>
          </a:p>
          <a:p>
            <a:r>
              <a:t>it fact-checks every number, and it picks the charts.</a:t>
            </a:r>
          </a:p>
          <a:p/>
          <a:p>
            <a:r>
              <a:t>Same model, separate stages. That matters twice: a tone number still measures</a:t>
            </a:r>
          </a:p>
          <a:p>
            <a:r>
              <a:t>one change, and we pay one twenty-gigabyte model load per run instead of three.</a:t>
            </a:r>
          </a:p>
          <a:p/>
          <a:p>
            <a:r>
              <a:t>Claude Opus judges, and only judges.</a:t>
            </a:r>
          </a:p>
          <a:p/>
          <a:p>
            <a:r>
              <a:t>DELIVERY: "one model, three jobs" is the line. Do not call chart selection a</a:t>
            </a:r>
          </a:p>
          <a:p>
            <a:r>
              <a:t>fourth model - it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2:56   ~95 words</a:t>
            </a:r>
          </a:p>
          <a:p/>
          <a:p>
            <a:r>
              <a:t>To measure tone you need a scale. Every story gets two: alarmism and optimism,</a:t>
            </a:r>
          </a:p>
          <a:p>
            <a:r>
              <a:t>one to five each.</a:t>
            </a:r>
          </a:p>
          <a:p/>
          <a:p>
            <a:r>
              <a:t>Both ends are failures. Five catastrophises, one is flat and hides real stakes.</a:t>
            </a:r>
          </a:p>
          <a:p>
            <a:r>
              <a:t>So an agent cannot win by draining the feeling out of a story.</a:t>
            </a:r>
          </a:p>
          <a:p/>
          <a:p>
            <a:r>
              <a:t>Two honest notes. The rubric calls three calibrated, but our human writers sit</a:t>
            </a:r>
          </a:p>
          <a:p>
            <a:r>
              <a:t>at 2.0 and 2.5, so</a:t>
            </a:r>
          </a:p>
          <a:p>
            <a:r>
              <a:t>the human band is what we report against.</a:t>
            </a:r>
          </a:p>
          <a:p/>
          <a:p>
            <a:r>
              <a:t>And blinding cost us: scoring each story alone doubles the calls.</a:t>
            </a:r>
          </a:p>
          <a:p/>
          <a:p>
            <a:r>
              <a:t>DELIVERY: "both ends are failures" must land. Pause after it. Point at the blue</a:t>
            </a:r>
          </a:p>
          <a:p>
            <a:r>
              <a:t>human marks on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[0:28]   running total 3:24   ~70 words   &gt;&gt;&gt; HAND TO ELSAADANI</a:t>
            </a:r>
          </a:p>
          <a:p/>
          <a:p>
            <a:r>
              <a:t>Four families of metric, and only the first one needs a model.</a:t>
            </a:r>
          </a:p>
          <a:p/>
          <a:p>
            <a:r>
              <a:t>Tone is the contribution and it is judged. Faithfulness is computed in code, for</a:t>
            </a:r>
          </a:p>
          <a:p>
            <a:r>
              <a:t>free, including a cherry-picking check on the window the story chose. Similarity</a:t>
            </a:r>
          </a:p>
          <a:p>
            <a:r>
              <a:t>is against our human stories. The operation accuracies come from DataTales.</a:t>
            </a:r>
          </a:p>
          <a:p/>
          <a:p>
            <a:r>
              <a:t>Careful: two of these share the word trend. The footnote says which 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[0:05]   running total 3:29   ~15 words</a:t>
            </a:r>
          </a:p>
          <a:p/>
          <a:p>
            <a:r>
              <a:t>My half: what a reader is actually shown, and how we picked the model pair.</a:t>
            </a:r>
          </a:p>
          <a:p/>
          <a:p>
            <a:r>
              <a:t>DELIVERY: a beat, then straight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3:53   ~60 words</a:t>
            </a:r>
          </a:p>
          <a:p/>
          <a:p>
            <a:r>
              <a:t>Not every metric is for us. These are for the reader.</a:t>
            </a:r>
          </a:p>
          <a:p/>
          <a:p>
            <a:r>
              <a:t>The app shows the tone rating, the human band, and every emotive span the</a:t>
            </a:r>
          </a:p>
          <a:p>
            <a:r>
              <a:t>moderator removed, classified by kind. That is why the interface shows a diff</a:t>
            </a:r>
          </a:p>
          <a:p>
            <a:r>
              <a:t>rather than a cleaner paragraph - a reader can audit the rewrite.</a:t>
            </a:r>
          </a:p>
          <a:p/>
          <a:p>
            <a:r>
              <a:t>The user-study axes are designed and not run.</a:t>
            </a:r>
          </a:p>
          <a:p/>
          <a:p>
            <a:r>
              <a:t>DELIVERY: this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[0:28]   running total 4:21   ~65 words</a:t>
            </a:r>
          </a:p>
          <a:p/>
          <a:p>
            <a:r>
              <a:t>How we actually chose the pair, in four steps.</a:t>
            </a:r>
          </a:p>
          <a:p/>
          <a:p>
            <a:r>
              <a:t>Build a grid of generator and moderator combinations. Score every run the same</a:t>
            </a:r>
          </a:p>
          <a:p>
            <a:r>
              <a:t>way, on the same dataset. Tone does not decide it - six land on exactly 2.0.</a:t>
            </a:r>
          </a:p>
          <a:p/>
          <a:p>
            <a:r>
              <a:t>So break the tie on faithfulness, then repeat the top two at different seeds,</a:t>
            </a:r>
          </a:p>
          <a:p>
            <a:r>
              <a:t>because one run cannot separate a model from a draft.</a:t>
            </a:r>
          </a:p>
          <a:p/>
          <a:p>
            <a:r>
              <a:t>The next two slides are steps three and four.</a:t>
            </a:r>
          </a:p>
          <a:p/>
          <a:p>
            <a:r>
              <a:t>DELIVERY: this is the method slide. Say the four steps, then let the two figures</a:t>
            </a:r>
          </a:p>
          <a:p>
            <a:r>
              <a:t>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[0:20]   running total 4:41   ~50 words</a:t>
            </a:r>
          </a:p>
          <a:p/>
          <a:p>
            <a:r>
              <a:t>Step three. Fourteen runs. The green rows all tie on tone at exactly 2.0, so we</a:t>
            </a:r>
          </a:p>
          <a:p>
            <a:r>
              <a:t>rank them on the "figures kept" column instead.</a:t>
            </a:r>
          </a:p>
          <a:p/>
          <a:p>
            <a:r>
              <a:t>Now look at the three rows that read llama3.1:8b times gemma4:31b. Same models,</a:t>
            </a:r>
          </a:p>
          <a:p>
            <a:r>
              <a:t>three separate runs: 50 percent, 75 percent, 100 percent.</a:t>
            </a:r>
          </a:p>
          <a:p/>
          <a:p>
            <a:r>
              <a:t>DELIVERY: point at those three rows. That is the moment the audience should</a:t>
            </a:r>
          </a:p>
          <a:p>
            <a:r>
              <a:t>distrust the table, and it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[0:35]   running total 5:16   ~80 words   &gt;&gt;&gt; HAND TO RAMADAN</a:t>
            </a:r>
          </a:p>
          <a:p/>
          <a:p>
            <a:r>
              <a:t>Step four. Both configurations, five runs each, at distinct seeds.</a:t>
            </a:r>
          </a:p>
          <a:p/>
          <a:p>
            <a:r>
              <a:t>It reverses. Qwen averages 61%, llama</a:t>
            </a:r>
          </a:p>
          <a:p>
            <a:r>
              <a:t>averages 90%. Welch t of minus 2.70,</a:t>
            </a:r>
          </a:p>
          <a:p>
            <a:r>
              <a:t>p of 0.029. Our recommendation had been backwards, and one run per cell was</a:t>
            </a:r>
          </a:p>
          <a:p>
            <a:r>
              <a:t>never going to show us that.</a:t>
            </a:r>
          </a:p>
          <a:p/>
          <a:p>
            <a:r>
              <a:t>So we ship llama3.1:8b generating and gemma4:31b moderating.</a:t>
            </a:r>
          </a:p>
          <a:p/>
          <a:p>
            <a:r>
              <a:t>And the lower half is the more interesting finding: moderated tone is 2.10</a:t>
            </a:r>
          </a:p>
          <a:p>
            <a:r>
              <a:t>either way. The moderator converges on the same tone whoever wrote the draft.</a:t>
            </a:r>
          </a:p>
          <a:p/>
          <a:p>
            <a:r>
              <a:t>DELIVERY: "our recommendation had been backwards" is the line. Say it plainly.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[0:05]   running total 5:21   ~15 words</a:t>
            </a:r>
          </a:p>
          <a:p/>
          <a:p>
            <a:r>
              <a:t>Last part: where that lands against a person, and how the agent works inside.</a:t>
            </a:r>
          </a:p>
          <a:p/>
          <a:p>
            <a:r>
              <a:t>DELIVERY: a beat. Then fig9 is the payoff slide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[0:38]   running total 5:59   ~105 words</a:t>
            </a:r>
          </a:p>
          <a:p/>
          <a:p>
            <a:r>
              <a:t>This is the result. We wrote 25 stories by hand from the same</a:t>
            </a:r>
          </a:p>
          <a:p>
            <a:r>
              <a:t>evidence packs, before seeing any machine output. The green band is where those</a:t>
            </a:r>
          </a:p>
          <a:p>
            <a:r>
              <a:t>human writers sit.</a:t>
            </a:r>
          </a:p>
          <a:p/>
          <a:p>
            <a:r>
              <a:t>Red is raw, blue is after moderation. On every one of the five series the arrow</a:t>
            </a:r>
          </a:p>
          <a:p>
            <a:r>
              <a:t>lands on or inside the human band.</a:t>
            </a:r>
          </a:p>
          <a:p/>
          <a:p>
            <a:r>
              <a:t>Overall 3.74 to 2.09,</a:t>
            </a:r>
          </a:p>
          <a:p>
            <a:r>
              <a:t>against a human median of 2.00, over</a:t>
            </a:r>
          </a:p>
          <a:p>
            <a:r>
              <a:t>32 runs with a human counterpart.</a:t>
            </a:r>
          </a:p>
          <a:p/>
          <a:p>
            <a:r>
              <a:t>The caveat is on the slide rather than hidden: our human stories carry no</a:t>
            </a:r>
          </a:p>
          <a:p>
            <a:r>
              <a:t>headline and the machine ones do, so every gap is a lower bound.</a:t>
            </a:r>
          </a:p>
          <a:p/>
          <a:p>
            <a:r>
              <a:t>DELIVERY: say the three numbers slowly,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[0:40]   running total 6:39   ~105 words</a:t>
            </a:r>
          </a:p>
          <a:p/>
          <a:p>
            <a:r>
              <a:t>How the model picks the figures, because people ask.</a:t>
            </a:r>
          </a:p>
          <a:p/>
          <a:p>
            <a:r>
              <a:t>Three steps. Which forms can this table carry - computed from column types, so</a:t>
            </a:r>
          </a:p>
          <a:p>
            <a:r>
              <a:t>it cannot propose a map for a table with no geography. Which are worth showing -</a:t>
            </a:r>
          </a:p>
          <a:p>
            <a:r>
              <a:t>the model. Is the result honest - computed again.</a:t>
            </a:r>
          </a:p>
          <a:p/>
          <a:p>
            <a:r>
              <a:t>The interesting part is the shape of the decision. Instead of seventeen flat</a:t>
            </a:r>
          </a:p>
          <a:p>
            <a:r>
              <a:t>chart types, the contract groups them into seven tools by the reader's job, with</a:t>
            </a:r>
          </a:p>
          <a:p>
            <a:r>
              <a:t>the geometry as an enum inside each. A two-level choice is what a local model</a:t>
            </a:r>
          </a:p>
          <a:p>
            <a:r>
              <a:t>does reliably.</a:t>
            </a:r>
          </a:p>
          <a:p/>
          <a:p>
            <a:r>
              <a:t>That surface is MCP-shaped and specified - a design, not a running server.</a:t>
            </a:r>
          </a:p>
          <a:p/>
          <a:p>
            <a:r>
              <a:t>DELIVERY: say "specified, not wired" out loud. Someone will ask to see the</a:t>
            </a:r>
          </a:p>
          <a:p>
            <a:r>
              <a:t>server.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[0:21]   running total 7:00   ~50 words   &gt;&gt;&gt; DEMO</a:t>
            </a:r>
          </a:p>
          <a:p/>
          <a:p>
            <a:r>
              <a:t>That is the whole system. A table becomes an evidence pack, a local model writes</a:t>
            </a:r>
          </a:p>
          <a:p>
            <a:r>
              <a:t>the story, and the moderator model rewrites the tone, checks the numbers and</a:t>
            </a:r>
          </a:p>
          <a:p>
            <a:r>
              <a:t>picks the figures. Opus judges it blind.</a:t>
            </a:r>
          </a:p>
          <a:p/>
          <a:p>
            <a:r>
              <a:t>Everything except the judge runs on this laptop.</a:t>
            </a:r>
          </a:p>
          <a:p/>
          <a:p>
            <a:r>
              <a:t>Let me show you.</a:t>
            </a:r>
          </a:p>
          <a:p/>
          <a:p>
            <a:r>
              <a:t>DELIVERY: 20 seconds, then switch. The browser should ALREADY be open on the</a:t>
            </a:r>
          </a:p>
          <a:p>
            <a:r>
              <a:t>dataset page. Never click Generate and wait - see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 all four speakers stay at the front</a:t>
            </a:r>
          </a:p>
          <a:p/>
          <a:p>
            <a:r>
              <a:t>Leave this slide up for the whole Q&amp;A. It holds the names and the repository</a:t>
            </a:r>
          </a:p>
          <a:p>
            <a:r>
              <a:t>link, which is what anyone wanting to follow up needs.</a:t>
            </a:r>
          </a:p>
          <a:p/>
          <a:p>
            <a:r>
              <a:t>The four questions to expect, with answers, are at the end of</a:t>
            </a:r>
          </a:p>
          <a:p>
            <a:r>
              <a:t>presentation/SPEAKER-SCRIPT.md. Read them on the way in. Short forms:</a:t>
            </a:r>
          </a:p>
          <a:p/>
          <a:p>
            <a:r>
              <a:t>- Only one judge? Yes, and slide 19 says so. 0.991 is self-consistency, not</a:t>
            </a:r>
          </a:p>
          <a:p>
            <a:r>
              <a:t>  inter-rater. Two independent methods agree though: the scalar scores and the</a:t>
            </a:r>
          </a:p>
          <a:p>
            <a:r>
              <a:t>  blind pairwise verdicts.</a:t>
            </a:r>
          </a:p>
          <a:p>
            <a:r>
              <a:t>- Why no user study? The brief allows metrics or a user study. We chose metrics</a:t>
            </a:r>
          </a:p>
          <a:p>
            <a:r>
              <a:t>  and went deep: reliability, repeats, a significance test.</a:t>
            </a:r>
          </a:p>
          <a:p>
            <a:r>
              <a:t>- Why not just prompt the generator to be calm? Because a separate pass is</a:t>
            </a:r>
          </a:p>
          <a:p>
            <a:r>
              <a:t>  measurable on its own, and because the moderator lands on 2.10 whichever</a:t>
            </a:r>
          </a:p>
          <a:p>
            <a:r>
              <a:t>  generator wrote the draft.</a:t>
            </a:r>
          </a:p>
          <a:p>
            <a:r>
              <a:t>- Is 2.09 against a human 2.00 just noise? Essentially yes, and that is the</a:t>
            </a:r>
          </a:p>
          <a:p>
            <a:r>
              <a:t>  claim: it lands on the human level. The judge's own disagreement is 0.08.</a:t>
            </a:r>
          </a:p>
          <a:p/>
          <a:p>
            <a:r>
              <a:t>DELIVERY: whoever is nearest the laptop takes questions first, then hand to</a:t>
            </a:r>
          </a:p>
          <a:p>
            <a:r>
              <a:t>whoever owns that section. Nobody answers over anybody.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Ramadan</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AGENDA</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parts, then the system running</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58568"/>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01</a:t>
            </a:r>
          </a:p>
        </p:txBody>
      </p:sp>
      <p:sp>
        <p:nvSpPr>
          <p:cNvPr id="8" name="TextBox 7"/>
          <p:cNvSpPr txBox="1"/>
          <p:nvPr/>
        </p:nvSpPr>
        <p:spPr>
          <a:xfrm>
            <a:off x="1691640" y="2267712"/>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research, and the problem it found</a:t>
            </a:r>
          </a:p>
        </p:txBody>
      </p:sp>
      <p:sp>
        <p:nvSpPr>
          <p:cNvPr id="9" name="TextBox 8"/>
          <p:cNvSpPr txBox="1"/>
          <p:nvPr/>
        </p:nvSpPr>
        <p:spPr>
          <a:xfrm>
            <a:off x="1691640" y="2551176"/>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Mahmoud</a:t>
            </a:r>
          </a:p>
        </p:txBody>
      </p:sp>
      <p:sp>
        <p:nvSpPr>
          <p:cNvPr id="10" name="Rectangle 9"/>
          <p:cNvSpPr/>
          <p:nvPr/>
        </p:nvSpPr>
        <p:spPr>
          <a:xfrm>
            <a:off x="685800" y="2990088"/>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90088"/>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99816"/>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02</a:t>
            </a:r>
          </a:p>
        </p:txBody>
      </p:sp>
      <p:sp>
        <p:nvSpPr>
          <p:cNvPr id="13" name="TextBox 12"/>
          <p:cNvSpPr txBox="1"/>
          <p:nvPr/>
        </p:nvSpPr>
        <p:spPr>
          <a:xfrm>
            <a:off x="1691640" y="3108960"/>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we built, and how we measure it</a:t>
            </a:r>
          </a:p>
        </p:txBody>
      </p:sp>
      <p:sp>
        <p:nvSpPr>
          <p:cNvPr id="14" name="TextBox 13"/>
          <p:cNvSpPr txBox="1"/>
          <p:nvPr/>
        </p:nvSpPr>
        <p:spPr>
          <a:xfrm>
            <a:off x="1691640" y="3392424"/>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Okasha</a:t>
            </a:r>
          </a:p>
        </p:txBody>
      </p:sp>
      <p:sp>
        <p:nvSpPr>
          <p:cNvPr id="15" name="Rectangle 14"/>
          <p:cNvSpPr/>
          <p:nvPr/>
        </p:nvSpPr>
        <p:spPr>
          <a:xfrm>
            <a:off x="685800" y="3831336"/>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831336"/>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941064"/>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03</a:t>
            </a:r>
          </a:p>
        </p:txBody>
      </p:sp>
      <p:sp>
        <p:nvSpPr>
          <p:cNvPr id="18" name="TextBox 17"/>
          <p:cNvSpPr txBox="1"/>
          <p:nvPr/>
        </p:nvSpPr>
        <p:spPr>
          <a:xfrm>
            <a:off x="1691640" y="3950208"/>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the reader sees, and how we chose the pair</a:t>
            </a:r>
          </a:p>
        </p:txBody>
      </p:sp>
      <p:sp>
        <p:nvSpPr>
          <p:cNvPr id="19" name="TextBox 18"/>
          <p:cNvSpPr txBox="1"/>
          <p:nvPr/>
        </p:nvSpPr>
        <p:spPr>
          <a:xfrm>
            <a:off x="1691640" y="4233672"/>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Elsaadani</a:t>
            </a:r>
          </a:p>
        </p:txBody>
      </p:sp>
      <p:sp>
        <p:nvSpPr>
          <p:cNvPr id="20" name="Rectangle 19"/>
          <p:cNvSpPr/>
          <p:nvPr/>
        </p:nvSpPr>
        <p:spPr>
          <a:xfrm>
            <a:off x="685800" y="4672584"/>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72584"/>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82312"/>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04</a:t>
            </a:r>
          </a:p>
        </p:txBody>
      </p:sp>
      <p:sp>
        <p:nvSpPr>
          <p:cNvPr id="23" name="TextBox 22"/>
          <p:cNvSpPr txBox="1"/>
          <p:nvPr/>
        </p:nvSpPr>
        <p:spPr>
          <a:xfrm>
            <a:off x="1691640" y="4791456"/>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result, the agent, and the system</a:t>
            </a:r>
          </a:p>
        </p:txBody>
      </p:sp>
      <p:sp>
        <p:nvSpPr>
          <p:cNvPr id="24" name="TextBox 23"/>
          <p:cNvSpPr txBox="1"/>
          <p:nvPr/>
        </p:nvSpPr>
        <p:spPr>
          <a:xfrm>
            <a:off x="1691640" y="5074920"/>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Ramadan</a:t>
            </a:r>
          </a:p>
        </p:txBody>
      </p:sp>
      <p:sp>
        <p:nvSpPr>
          <p:cNvPr id="25" name="Rectangle 24"/>
          <p:cNvSpPr/>
          <p:nvPr/>
        </p:nvSpPr>
        <p:spPr>
          <a:xfrm>
            <a:off x="685800" y="5513832"/>
            <a:ext cx="7863840" cy="566928"/>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650992"/>
            <a:ext cx="7315200" cy="365760"/>
          </a:xfrm>
          <a:prstGeom prst="rect">
            <a:avLst/>
          </a:prstGeom>
          <a:noFill/>
        </p:spPr>
        <p:txBody>
          <a:bodyPr wrap="square" anchor="t" lIns="0" rIns="0" tIns="0" bIns="0">
            <a:spAutoFit/>
          </a:bodyPr>
          <a:lstStyle/>
          <a:p>
            <a:pPr algn="l">
              <a:lnSpc>
                <a:spcPct val="100000"/>
              </a:lnSpc>
            </a:pPr>
            <a:r>
              <a:rPr sz="1300" b="1">
                <a:solidFill>
                  <a:srgbClr val="FFFFFF"/>
                </a:solidFill>
                <a:latin typeface="Calibri"/>
              </a:rPr>
              <a:t>LIVE DEMO   ·   the pipeline running locally   ·   3:30</a:t>
            </a:r>
          </a:p>
        </p:txBody>
      </p:sp>
      <p:sp>
        <p:nvSpPr>
          <p:cNvPr id="27" name="Rectangle 26"/>
          <p:cNvSpPr/>
          <p:nvPr/>
        </p:nvSpPr>
        <p:spPr>
          <a:xfrm>
            <a:off x="8915400" y="2148840"/>
            <a:ext cx="2587752" cy="3931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2148840"/>
            <a:ext cx="25877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62288" y="2359152"/>
            <a:ext cx="2148840" cy="3566160"/>
          </a:xfrm>
          <a:prstGeom prst="rect">
            <a:avLst/>
          </a:prstGeom>
          <a:noFill/>
        </p:spPr>
        <p:txBody>
          <a:bodyPr wrap="square" anchor="t" lIns="0" rIns="0" tIns="0" bIns="0">
            <a:spAutoFit/>
          </a:bodyPr>
          <a:lstStyle/>
          <a:p>
            <a:pPr algn="l">
              <a:lnSpc>
                <a:spcPct val="116000"/>
              </a:lnSpc>
            </a:pPr>
            <a:r>
              <a:rPr sz="1250" b="1">
                <a:solidFill>
                  <a:srgbClr val="0D1B5C"/>
                </a:solidFill>
                <a:latin typeface="Calibri"/>
              </a:rPr>
              <a:t>The one claim</a:t>
            </a:r>
          </a:p>
          <a:p>
            <a:pPr algn="l">
              <a:lnSpc>
                <a:spcPct val="116000"/>
              </a:lnSpc>
              <a:spcBef>
                <a:spcPts val="600"/>
              </a:spcBef>
            </a:pPr>
            <a:r>
              <a:rPr sz="1200" b="0">
                <a:solidFill>
                  <a:srgbClr val="0F172A"/>
                </a:solidFill>
                <a:latin typeface="Calibri"/>
              </a:rPr>
              <a:t>A second agent can pull a generated data story's tone back to what the evidence supports —</a:t>
            </a:r>
          </a:p>
          <a:p>
            <a:pPr algn="l">
              <a:lnSpc>
                <a:spcPct val="116000"/>
              </a:lnSpc>
              <a:spcBef>
                <a:spcPts val="600"/>
              </a:spcBef>
            </a:pPr>
            <a:r>
              <a:rPr sz="1200" b="1">
                <a:solidFill>
                  <a:srgbClr val="0E8F86"/>
                </a:solidFill>
                <a:latin typeface="Calibri"/>
              </a:rPr>
              <a:t>without losing the numbers,</a:t>
            </a:r>
          </a:p>
          <a:p>
            <a:pPr algn="l">
              <a:lnSpc>
                <a:spcPct val="116000"/>
              </a:lnSpc>
              <a:spcBef>
                <a:spcPts val="200"/>
              </a:spcBef>
            </a:pPr>
            <a:r>
              <a:rPr sz="1200" b="1">
                <a:solidFill>
                  <a:srgbClr val="0E8F86"/>
                </a:solidFill>
                <a:latin typeface="Calibri"/>
              </a:rPr>
              <a:t>and at a cost in readability we can put a number on.</a:t>
            </a:r>
          </a:p>
          <a:p>
            <a:pPr algn="l">
              <a:lnSpc>
                <a:spcPct val="116000"/>
              </a:lnSpc>
              <a:spcBef>
                <a:spcPts val="800"/>
              </a:spcBef>
            </a:pPr>
            <a:r>
              <a:rPr sz="1150" b="0">
                <a:solidFill>
                  <a:srgbClr val="526173"/>
                </a:solidFill>
                <a:latin typeface="Calibri"/>
              </a:rPr>
              <a:t>Everything else in this talk exists to make that measurable.</a:t>
            </a:r>
          </a:p>
        </p:txBody>
      </p:sp>
      <p:sp>
        <p:nvSpPr>
          <p:cNvPr id="30" name="TextBox 2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1" name="TextBox 3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1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research, and the problem it found</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Mahmoud</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research</a:t>
            </a:r>
          </a:p>
        </p:txBody>
      </p:sp>
      <p:sp>
        <p:nvSpPr>
          <p:cNvPr id="9" name="Rectangle 8"/>
          <p:cNvSpPr/>
          <p:nvPr/>
        </p:nvSpPr>
        <p:spPr>
          <a:xfrm>
            <a:off x="3602736"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Three systems we did not just cite — we re-ran them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Kasner and Dušek, ACL 2024</a:t>
            </a:r>
          </a:p>
          <a:p>
            <a:pPr algn="l">
              <a:lnSpc>
                <a:spcPct val="115000"/>
              </a:lnSpc>
              <a:spcBef>
                <a:spcPts val="400"/>
              </a:spcBef>
            </a:pPr>
            <a:r>
              <a:rPr sz="1400" b="1">
                <a:solidFill>
                  <a:srgbClr val="1E66B8"/>
                </a:solidFill>
                <a:latin typeface="Arial"/>
              </a:rPr>
              <a:t>Are open models faithful?</a:t>
            </a:r>
          </a:p>
          <a:p>
            <a:pPr algn="l">
              <a:lnSpc>
                <a:spcPct val="115000"/>
              </a:lnSpc>
              <a:spcBef>
                <a:spcPts val="700"/>
              </a:spcBef>
            </a:pPr>
            <a:r>
              <a:rPr sz="1100" b="0">
                <a:solidFill>
                  <a:srgbClr val="0F172A"/>
                </a:solidFill>
                <a:latin typeface="Calibri"/>
              </a:rPr>
              <a:t>Their reference-free method marks every span of generated text that the source table does not support.</a:t>
            </a:r>
          </a:p>
          <a:p>
            <a:pPr algn="l">
              <a:lnSpc>
                <a:spcPct val="115000"/>
              </a:lnSpc>
              <a:spcBef>
                <a:spcPts val="700"/>
              </a:spcBef>
            </a:pPr>
            <a:r>
              <a:rPr sz="1100" b="0">
                <a:solidFill>
                  <a:srgbClr val="0F172A"/>
                </a:solidFill>
                <a:latin typeface="Calibri"/>
              </a:rPr>
              <a:t>What we did: We re-ran it on modern open models. A 12B model left a semantic error in about 18% of outputs, where the paper reported over 80%. A 4B model regressed to 52%.</a:t>
            </a:r>
          </a:p>
          <a:p>
            <a:pPr algn="l">
              <a:lnSpc>
                <a:spcPct val="115000"/>
              </a:lnSpc>
              <a:spcBef>
                <a:spcPts val="700"/>
              </a:spcBef>
            </a:pPr>
            <a:r>
              <a:rPr sz="1100" b="1">
                <a:solidFill>
                  <a:srgbClr val="0D1B5C"/>
                </a:solidFill>
                <a:latin typeface="Calibri"/>
              </a:rPr>
              <a:t>Recency and size both matter — and today's open models are already fairly faithful at stating data.</a:t>
            </a:r>
          </a:p>
        </p:txBody>
      </p:sp>
      <p:sp>
        <p:nvSpPr>
          <p:cNvPr id="8" name="Rectangle 7"/>
          <p:cNvSpPr/>
          <p:nvPr/>
        </p:nvSpPr>
        <p:spPr>
          <a:xfrm>
            <a:off x="4398264"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DataTales, 2025</a:t>
            </a:r>
          </a:p>
          <a:p>
            <a:pPr algn="l">
              <a:lnSpc>
                <a:spcPct val="115000"/>
              </a:lnSpc>
              <a:spcBef>
                <a:spcPts val="400"/>
              </a:spcBef>
            </a:pPr>
            <a:r>
              <a:rPr sz="1400" b="1">
                <a:solidFill>
                  <a:srgbClr val="20C4B0"/>
                </a:solidFill>
                <a:latin typeface="Arial"/>
              </a:rPr>
              <a:t>Which kinds of claim are hard?</a:t>
            </a:r>
          </a:p>
          <a:p>
            <a:pPr algn="l">
              <a:lnSpc>
                <a:spcPct val="115000"/>
              </a:lnSpc>
              <a:spcBef>
                <a:spcPts val="700"/>
              </a:spcBef>
            </a:pPr>
            <a:r>
              <a:rPr sz="1100" b="0">
                <a:solidFill>
                  <a:srgbClr val="0F172A"/>
                </a:solidFill>
                <a:latin typeface="Calibri"/>
              </a:rPr>
              <a:t>A benchmark for data narration that scores a story per operation: lookup, comparison, trend, rate of change, causal.</a:t>
            </a:r>
          </a:p>
          <a:p>
            <a:pPr algn="l">
              <a:lnSpc>
                <a:spcPct val="115000"/>
              </a:lnSpc>
              <a:spcBef>
                <a:spcPts val="700"/>
              </a:spcBef>
            </a:pPr>
            <a:r>
              <a:rPr sz="1100" b="0">
                <a:solidFill>
                  <a:srgbClr val="0F172A"/>
                </a:solidFill>
                <a:latin typeface="Calibri"/>
              </a:rPr>
              <a:t>What we did: We reproduced a 30-report slice. Reading operations climb steeply with scale — rate of change went 43% to 89% from a 4B to a 12B model.</a:t>
            </a:r>
          </a:p>
          <a:p>
            <a:pPr algn="l">
              <a:lnSpc>
                <a:spcPct val="115000"/>
              </a:lnSpc>
              <a:spcBef>
                <a:spcPts val="700"/>
              </a:spcBef>
            </a:pPr>
            <a:r>
              <a:rPr sz="1100" b="1">
                <a:solidFill>
                  <a:srgbClr val="0D1B5C"/>
                </a:solidFill>
                <a:latin typeface="Calibri"/>
              </a:rPr>
              <a:t>Stating a number is not the hard part. Explaining it is.</a:t>
            </a:r>
          </a:p>
        </p:txBody>
      </p:sp>
      <p:sp>
        <p:nvSpPr>
          <p:cNvPr id="11" name="Rectangle 10"/>
          <p:cNvSpPr/>
          <p:nvPr/>
        </p:nvSpPr>
        <p:spPr>
          <a:xfrm>
            <a:off x="8110727"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1"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DataNarrative, EMNLP 2024</a:t>
            </a:r>
          </a:p>
          <a:p>
            <a:pPr algn="l">
              <a:lnSpc>
                <a:spcPct val="115000"/>
              </a:lnSpc>
              <a:spcBef>
                <a:spcPts val="400"/>
              </a:spcBef>
            </a:pPr>
            <a:r>
              <a:rPr sz="1400" b="1">
                <a:solidFill>
                  <a:srgbClr val="0D1B5C"/>
                </a:solidFill>
                <a:latin typeface="Arial"/>
              </a:rPr>
              <a:t>What architecture works?</a:t>
            </a:r>
          </a:p>
          <a:p>
            <a:pPr algn="l">
              <a:lnSpc>
                <a:spcPct val="115000"/>
              </a:lnSpc>
              <a:spcBef>
                <a:spcPts val="700"/>
              </a:spcBef>
            </a:pPr>
            <a:r>
              <a:rPr sz="1100" b="0">
                <a:solidFill>
                  <a:srgbClr val="0F172A"/>
                </a:solidFill>
                <a:latin typeface="Calibri"/>
              </a:rPr>
              <a:t>One agent writes the story, a second agent verifies it at every step, beating single-LLM baselines.</a:t>
            </a:r>
          </a:p>
          <a:p>
            <a:pPr algn="l">
              <a:lnSpc>
                <a:spcPct val="115000"/>
              </a:lnSpc>
              <a:spcBef>
                <a:spcPts val="700"/>
              </a:spcBef>
            </a:pPr>
            <a:r>
              <a:rPr sz="1100" b="0">
                <a:solidFill>
                  <a:srgbClr val="0F172A"/>
                </a:solidFill>
                <a:latin typeface="Calibri"/>
              </a:rPr>
              <a:t>What we did: We rebuilt the two-agent generate-and-verify loop, which is the structural basis of our own pipeline.</a:t>
            </a:r>
          </a:p>
          <a:p>
            <a:pPr algn="l">
              <a:lnSpc>
                <a:spcPct val="115000"/>
              </a:lnSpc>
              <a:spcBef>
                <a:spcPts val="700"/>
              </a:spcBef>
            </a:pPr>
            <a:r>
              <a:rPr sz="1100" b="1">
                <a:solidFill>
                  <a:srgbClr val="0D1B5C"/>
                </a:solidFill>
                <a:latin typeface="Calibri"/>
              </a:rPr>
              <a:t>The second-agent pattern works. Ours swaps its factual verifier for a tone moderator.</a:t>
            </a:r>
          </a:p>
        </p:txBody>
      </p:sp>
      <p:sp>
        <p:nvSpPr>
          <p:cNvPr id="14" name="Rectangle 13"/>
          <p:cNvSpPr/>
          <p:nvPr/>
        </p:nvSpPr>
        <p:spPr>
          <a:xfrm>
            <a:off x="685800" y="5559552"/>
            <a:ext cx="10817352"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59552"/>
            <a:ext cx="44450" cy="548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78424"/>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Put together: open models already state data fairly faithfully, and every critic agent in this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2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we built, and how we measure it</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Okasha</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One generator, one agentic moderator, one independent judge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743200"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743200"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95728"/>
            <a:ext cx="233172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first-draft story from
an evidence pack built out of
the table.</a:t>
            </a:r>
          </a:p>
        </p:txBody>
      </p:sp>
      <p:sp>
        <p:nvSpPr>
          <p:cNvPr id="8" name="Rectangle 7"/>
          <p:cNvSpPr/>
          <p:nvPr/>
        </p:nvSpPr>
        <p:spPr>
          <a:xfrm>
            <a:off x="3794760" y="2194560"/>
            <a:ext cx="4709160" cy="248716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94760" y="2194560"/>
            <a:ext cx="470916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1648" y="2395728"/>
            <a:ext cx="4206240" cy="5486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THE AGENTIC ROLE — ONE MODEL, THREE JOBS</a:t>
            </a:r>
          </a:p>
          <a:p>
            <a:pPr algn="l">
              <a:lnSpc>
                <a:spcPct val="114000"/>
              </a:lnSpc>
              <a:spcBef>
                <a:spcPts val="400"/>
              </a:spcBef>
            </a:pPr>
            <a:r>
              <a:rPr sz="1500" b="1">
                <a:solidFill>
                  <a:srgbClr val="0E8F86"/>
                </a:solidFill>
                <a:latin typeface="Arial"/>
              </a:rPr>
              <a:t>gemma4:31b</a:t>
            </a:r>
          </a:p>
        </p:txBody>
      </p:sp>
      <p:sp>
        <p:nvSpPr>
          <p:cNvPr id="11" name="Rectangle 10"/>
          <p:cNvSpPr/>
          <p:nvPr/>
        </p:nvSpPr>
        <p:spPr>
          <a:xfrm>
            <a:off x="4041648" y="3127248"/>
            <a:ext cx="31750" cy="40233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3127248"/>
            <a:ext cx="4114800" cy="402336"/>
          </a:xfrm>
          <a:prstGeom prst="rect">
            <a:avLst/>
          </a:prstGeom>
          <a:noFill/>
        </p:spPr>
        <p:txBody>
          <a:bodyPr wrap="square" anchor="t" lIns="0" rIns="0" tIns="0" bIns="0">
            <a:spAutoFit/>
          </a:bodyPr>
          <a:lstStyle/>
          <a:p>
            <a:pPr algn="l">
              <a:lnSpc>
                <a:spcPct val="100000"/>
              </a:lnSpc>
            </a:pPr>
            <a:r>
              <a:rPr sz="1200" b="1">
                <a:solidFill>
                  <a:srgbClr val="0D1B5C"/>
                </a:solidFill>
                <a:latin typeface="Calibri"/>
              </a:rPr>
              <a:t>Moderates tone   </a:t>
            </a:r>
          </a:p>
        </p:txBody>
      </p:sp>
      <p:sp>
        <p:nvSpPr>
          <p:cNvPr id="13" name="TextBox 12"/>
          <p:cNvSpPr txBox="1"/>
          <p:nvPr/>
        </p:nvSpPr>
        <p:spPr>
          <a:xfrm>
            <a:off x="4224528" y="3319272"/>
            <a:ext cx="4114800" cy="219456"/>
          </a:xfrm>
          <a:prstGeom prst="rect">
            <a:avLst/>
          </a:prstGeom>
          <a:noFill/>
        </p:spPr>
        <p:txBody>
          <a:bodyPr wrap="square" anchor="t" lIns="0" rIns="0" tIns="0" bIns="0">
            <a:spAutoFit/>
          </a:bodyPr>
          <a:lstStyle/>
          <a:p>
            <a:pPr algn="l">
              <a:lnSpc>
                <a:spcPct val="100000"/>
              </a:lnSpc>
            </a:pPr>
            <a:r>
              <a:rPr sz="1050" b="1">
                <a:solidFill>
                  <a:srgbClr val="0E8F86"/>
                </a:solidFill>
                <a:latin typeface="Calibri"/>
              </a:rPr>
              <a:t>rewrites the framing, keeps the numbers   ← the contribution</a:t>
            </a:r>
          </a:p>
        </p:txBody>
      </p:sp>
      <p:sp>
        <p:nvSpPr>
          <p:cNvPr id="14" name="Rectangle 13"/>
          <p:cNvSpPr/>
          <p:nvPr/>
        </p:nvSpPr>
        <p:spPr>
          <a:xfrm>
            <a:off x="4041648" y="3630168"/>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3630168"/>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Fact-checks   </a:t>
            </a:r>
          </a:p>
        </p:txBody>
      </p:sp>
      <p:sp>
        <p:nvSpPr>
          <p:cNvPr id="16" name="TextBox 15"/>
          <p:cNvSpPr txBox="1"/>
          <p:nvPr/>
        </p:nvSpPr>
        <p:spPr>
          <a:xfrm>
            <a:off x="4224528" y="3822191"/>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every stated number back against the table</a:t>
            </a:r>
          </a:p>
        </p:txBody>
      </p:sp>
      <p:sp>
        <p:nvSpPr>
          <p:cNvPr id="17" name="Rectangle 16"/>
          <p:cNvSpPr/>
          <p:nvPr/>
        </p:nvSpPr>
        <p:spPr>
          <a:xfrm>
            <a:off x="4041648" y="4133087"/>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4133087"/>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Selects the charts   </a:t>
            </a:r>
          </a:p>
        </p:txBody>
      </p:sp>
      <p:sp>
        <p:nvSpPr>
          <p:cNvPr id="19" name="TextBox 18"/>
          <p:cNvSpPr txBox="1"/>
          <p:nvPr/>
        </p:nvSpPr>
        <p:spPr>
          <a:xfrm>
            <a:off x="4224528" y="4325112"/>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ranks figures the table can honestly carry</a:t>
            </a:r>
          </a:p>
        </p:txBody>
      </p:sp>
      <p:sp>
        <p:nvSpPr>
          <p:cNvPr id="20" name="Rectangle 19"/>
          <p:cNvSpPr/>
          <p:nvPr/>
        </p:nvSpPr>
        <p:spPr>
          <a:xfrm>
            <a:off x="8869680" y="2194560"/>
            <a:ext cx="263347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680" y="2194560"/>
            <a:ext cx="263347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395728"/>
            <a:ext cx="224028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JUDGE</a:t>
            </a:r>
          </a:p>
          <a:p>
            <a:pPr algn="l">
              <a:lnSpc>
                <a:spcPct val="114000"/>
              </a:lnSpc>
              <a:spcBef>
                <a:spcPts val="400"/>
              </a:spcBef>
            </a:pPr>
            <a:r>
              <a:rPr sz="1500" b="1">
                <a:solidFill>
                  <a:srgbClr val="0D1B5C"/>
                </a:solidFill>
                <a:latin typeface="Arial"/>
              </a:rPr>
              <a:t>Claude Opus</a:t>
            </a:r>
          </a:p>
          <a:p>
            <a:pPr algn="l">
              <a:lnSpc>
                <a:spcPct val="114000"/>
              </a:lnSpc>
              <a:spcBef>
                <a:spcPts val="400"/>
              </a:spcBef>
            </a:pPr>
            <a:r>
              <a:rPr sz="1100" b="0">
                <a:solidFill>
                  <a:srgbClr val="0F172A"/>
                </a:solidFill>
                <a:latin typeface="Calibri"/>
              </a:rPr>
              <a:t>Rates each story blind. Evaluation
only — not part of the product
loop.</a:t>
            </a:r>
          </a:p>
        </p:txBody>
      </p:sp>
      <p:sp>
        <p:nvSpPr>
          <p:cNvPr id="23" name="Rectangle 22"/>
          <p:cNvSpPr/>
          <p:nvPr/>
        </p:nvSpPr>
        <p:spPr>
          <a:xfrm>
            <a:off x="685800" y="4846320"/>
            <a:ext cx="5394960"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846320"/>
            <a:ext cx="44450" cy="1170432"/>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010912"/>
            <a:ext cx="4937760" cy="91440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Same model, separate stages</a:t>
            </a:r>
          </a:p>
          <a:p>
            <a:pPr algn="l">
              <a:lnSpc>
                <a:spcPct val="114000"/>
              </a:lnSpc>
              <a:spcBef>
                <a:spcPts val="400"/>
              </a:spcBef>
            </a:pPr>
            <a:r>
              <a:rPr sz="1150" b="0">
                <a:solidFill>
                  <a:srgbClr val="0F172A"/>
                </a:solidFill>
                <a:latin typeface="Calibri"/>
              </a:rPr>
              <a:t>The moderator is the agentic role here, so the agentic reading of a table belongs to it too. The stages stay separate, so a tone number is still measuring one change — and one 19–23 GB load is paid per run instead of per stage.</a:t>
            </a:r>
          </a:p>
        </p:txBody>
      </p:sp>
      <p:sp>
        <p:nvSpPr>
          <p:cNvPr id="26" name="TextBox 25"/>
          <p:cNvSpPr txBox="1"/>
          <p:nvPr/>
        </p:nvSpPr>
        <p:spPr>
          <a:xfrm>
            <a:off x="6537960" y="4864608"/>
            <a:ext cx="4965192" cy="118872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Two datasets, because tone fails both ways.</a:t>
            </a:r>
          </a:p>
          <a:p>
            <a:pPr algn="l">
              <a:lnSpc>
                <a:spcPct val="114000"/>
              </a:lnSpc>
              <a:spcBef>
                <a:spcPts val="400"/>
              </a:spcBef>
            </a:pPr>
            <a:r>
              <a:rPr sz="115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41648"/>
            <a:ext cx="5193792"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41648"/>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42816"/>
            <a:ext cx="4754879"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Not every claim is equally hard, so we score accuracy per kind of claim.</a:t>
            </a:r>
          </a:p>
          <a:p>
            <a:pPr algn="l">
              <a:lnSpc>
                <a:spcPct val="112000"/>
              </a:lnSpc>
              <a:spcBef>
                <a:spcPts val="500"/>
              </a:spcBef>
            </a:pPr>
            <a:r>
              <a:rPr sz="1050" b="0">
                <a:solidFill>
                  <a:srgbClr val="0F172A"/>
                </a:solidFill>
                <a:latin typeface="Calibri"/>
              </a:rPr>
              <a:t>lookup   reading a single value off the table</a:t>
            </a:r>
          </a:p>
          <a:p>
            <a:pPr algn="l">
              <a:lnSpc>
                <a:spcPct val="112000"/>
              </a:lnSpc>
              <a:spcBef>
                <a:spcPts val="500"/>
              </a:spcBef>
            </a:pPr>
            <a:r>
              <a:rPr sz="1050" b="0">
                <a:solidFill>
                  <a:srgbClr val="0F172A"/>
                </a:solidFill>
                <a:latin typeface="Calibri"/>
              </a:rPr>
              <a:t>comparison   ranking two values against each other</a:t>
            </a:r>
          </a:p>
          <a:p>
            <a:pPr algn="l">
              <a:lnSpc>
                <a:spcPct val="112000"/>
              </a:lnSpc>
              <a:spcBef>
                <a:spcPts val="500"/>
              </a:spcBef>
            </a:pPr>
            <a:r>
              <a:rPr sz="1050" b="0">
                <a:solidFill>
                  <a:srgbClr val="0F172A"/>
                </a:solidFill>
                <a:latin typeface="Calibri"/>
              </a:rPr>
              <a:t>trend   which way a series moves across a window</a:t>
            </a:r>
          </a:p>
          <a:p>
            <a:pPr algn="l">
              <a:lnSpc>
                <a:spcPct val="112000"/>
              </a:lnSpc>
              <a:spcBef>
                <a:spcPts val="500"/>
              </a:spcBef>
            </a:pPr>
            <a:r>
              <a:rPr sz="1050" b="0">
                <a:solidFill>
                  <a:srgbClr val="0F172A"/>
                </a:solidFill>
                <a:latin typeface="Calibri"/>
              </a:rPr>
              <a:t>rate of change   how steeply it moves</a:t>
            </a:r>
          </a:p>
          <a:p>
            <a:pPr algn="l">
              <a:lnSpc>
                <a:spcPct val="112000"/>
              </a:lnSpc>
              <a:spcBef>
                <a:spcPts val="500"/>
              </a:spcBef>
            </a:pPr>
            <a:r>
              <a:rPr sz="1050" b="0">
                <a:solidFill>
                  <a:srgbClr val="0F172A"/>
                </a:solidFill>
                <a:latin typeface="Calibri"/>
              </a:rPr>
              <a:t>causal   why it moved — the hardest, and the one we treat with most caution</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“Trend” appears twice: trend selection (bottom left) is a cherry-picking check on one story; trend (bottom right) is an accuracy category from the benchmark.</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3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the reader sees, and how we chose the pair</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Elsaadani</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CHOOSING THE PAIR</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steps from fourteen candidates to one pipeline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169164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01</a:t>
            </a:r>
          </a:p>
        </p:txBody>
      </p:sp>
      <p:sp>
        <p:nvSpPr>
          <p:cNvPr id="8" name="TextBox 7"/>
          <p:cNvSpPr txBox="1"/>
          <p:nvPr/>
        </p:nvSpPr>
        <p:spPr>
          <a:xfrm>
            <a:off x="1737360" y="2350008"/>
            <a:ext cx="4023360" cy="1371600"/>
          </a:xfrm>
          <a:prstGeom prst="rect">
            <a:avLst/>
          </a:prstGeom>
          <a:noFill/>
        </p:spPr>
        <p:txBody>
          <a:bodyPr wrap="square" anchor="t" lIns="0" rIns="0" tIns="0" bIns="0">
            <a:spAutoFit/>
          </a:bodyPr>
          <a:lstStyle/>
          <a:p>
            <a:pPr algn="l">
              <a:lnSpc>
                <a:spcPct val="115000"/>
              </a:lnSpc>
            </a:pPr>
            <a:r>
              <a:rPr sz="1350" b="1">
                <a:solidFill>
                  <a:srgbClr val="1E66B8"/>
                </a:solidFill>
                <a:latin typeface="Calibri"/>
              </a:rPr>
              <a:t>Build the grid</a:t>
            </a:r>
          </a:p>
          <a:p>
            <a:pPr algn="l">
              <a:lnSpc>
                <a:spcPct val="115000"/>
              </a:lnSpc>
              <a:spcBef>
                <a:spcPts val="500"/>
              </a:spcBef>
            </a:pPr>
            <a:r>
              <a:rPr sz="1150" b="0">
                <a:solidFill>
                  <a:srgbClr val="0F172A"/>
                </a:solidFill>
                <a:latin typeface="Calibri"/>
              </a:rPr>
              <a:t>Vary the generator against a fixed moderator, then the moderator against a fixed generator. L-shaped, not factorial — so the best × best cell is never assumed, it has to be run.</a:t>
            </a:r>
          </a:p>
        </p:txBody>
      </p:sp>
      <p:sp>
        <p:nvSpPr>
          <p:cNvPr id="9" name="Rectangle 8"/>
          <p:cNvSpPr/>
          <p:nvPr/>
        </p:nvSpPr>
        <p:spPr>
          <a:xfrm>
            <a:off x="6208776"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48840"/>
            <a:ext cx="44450" cy="1691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02</a:t>
            </a:r>
          </a:p>
        </p:txBody>
      </p:sp>
      <p:sp>
        <p:nvSpPr>
          <p:cNvPr id="12" name="TextBox 11"/>
          <p:cNvSpPr txBox="1"/>
          <p:nvPr/>
        </p:nvSpPr>
        <p:spPr>
          <a:xfrm>
            <a:off x="7260336" y="2350008"/>
            <a:ext cx="4023360" cy="1371600"/>
          </a:xfrm>
          <a:prstGeom prst="rect">
            <a:avLst/>
          </a:prstGeom>
          <a:noFill/>
        </p:spPr>
        <p:txBody>
          <a:bodyPr wrap="square" anchor="t" lIns="0" rIns="0" tIns="0" bIns="0">
            <a:spAutoFit/>
          </a:bodyPr>
          <a:lstStyle/>
          <a:p>
            <a:pPr algn="l">
              <a:lnSpc>
                <a:spcPct val="115000"/>
              </a:lnSpc>
            </a:pPr>
            <a:r>
              <a:rPr sz="1350" b="1">
                <a:solidFill>
                  <a:srgbClr val="20C4B0"/>
                </a:solidFill>
                <a:latin typeface="Calibri"/>
              </a:rPr>
              <a:t>Score every run the same way</a:t>
            </a:r>
          </a:p>
          <a:p>
            <a:pPr algn="l">
              <a:lnSpc>
                <a:spcPct val="115000"/>
              </a:lnSpc>
              <a:spcBef>
                <a:spcPts val="500"/>
              </a:spcBef>
            </a:pPr>
            <a:r>
              <a:rPr sz="1150" b="0">
                <a:solidFill>
                  <a:srgbClr val="0F172A"/>
                </a:solidFill>
                <a:latin typeface="Calibri"/>
              </a:rPr>
              <a:t>Blind Opus rating on both tone axes, plus the computed faithfulness metrics. Same dataset throughout, so the comparison is not rewarded for drawing an easy table.</a:t>
            </a:r>
          </a:p>
        </p:txBody>
      </p:sp>
      <p:sp>
        <p:nvSpPr>
          <p:cNvPr id="13" name="Rectangle 12"/>
          <p:cNvSpPr/>
          <p:nvPr/>
        </p:nvSpPr>
        <p:spPr>
          <a:xfrm>
            <a:off x="685800"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069080"/>
            <a:ext cx="44450" cy="1691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03</a:t>
            </a:r>
          </a:p>
        </p:txBody>
      </p:sp>
      <p:sp>
        <p:nvSpPr>
          <p:cNvPr id="16" name="TextBox 15"/>
          <p:cNvSpPr txBox="1"/>
          <p:nvPr/>
        </p:nvSpPr>
        <p:spPr>
          <a:xfrm>
            <a:off x="1737360" y="4270248"/>
            <a:ext cx="4023360" cy="1371600"/>
          </a:xfrm>
          <a:prstGeom prst="rect">
            <a:avLst/>
          </a:prstGeom>
          <a:noFill/>
        </p:spPr>
        <p:txBody>
          <a:bodyPr wrap="square" anchor="t" lIns="0" rIns="0" tIns="0" bIns="0">
            <a:spAutoFit/>
          </a:bodyPr>
          <a:lstStyle/>
          <a:p>
            <a:pPr algn="l">
              <a:lnSpc>
                <a:spcPct val="115000"/>
              </a:lnSpc>
            </a:pPr>
            <a:r>
              <a:rPr sz="1350" b="1">
                <a:solidFill>
                  <a:srgbClr val="0E8F86"/>
                </a:solidFill>
                <a:latin typeface="Calibri"/>
              </a:rPr>
              <a:t>Tone does not decide it</a:t>
            </a:r>
          </a:p>
          <a:p>
            <a:pPr algn="l">
              <a:lnSpc>
                <a:spcPct val="115000"/>
              </a:lnSpc>
              <a:spcBef>
                <a:spcPts val="500"/>
              </a:spcBef>
            </a:pPr>
            <a:r>
              <a:rPr sz="1150" b="0">
                <a:solidFill>
                  <a:srgbClr val="0F172A"/>
                </a:solidFill>
                <a:latin typeface="Calibri"/>
              </a:rPr>
              <a:t>Six combinations land on exactly 2.0 alarmism. A tie on the headline metric is a real result: the moderator is doing its job regardless of who wrote the draft.</a:t>
            </a:r>
          </a:p>
        </p:txBody>
      </p:sp>
      <p:sp>
        <p:nvSpPr>
          <p:cNvPr id="17" name="Rectangle 16"/>
          <p:cNvSpPr/>
          <p:nvPr/>
        </p:nvSpPr>
        <p:spPr>
          <a:xfrm>
            <a:off x="6208776"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4069080"/>
            <a:ext cx="44450" cy="169164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04</a:t>
            </a:r>
          </a:p>
        </p:txBody>
      </p:sp>
      <p:sp>
        <p:nvSpPr>
          <p:cNvPr id="20" name="TextBox 19"/>
          <p:cNvSpPr txBox="1"/>
          <p:nvPr/>
        </p:nvSpPr>
        <p:spPr>
          <a:xfrm>
            <a:off x="7260336" y="4270248"/>
            <a:ext cx="4023360" cy="1371600"/>
          </a:xfrm>
          <a:prstGeom prst="rect">
            <a:avLst/>
          </a:prstGeom>
          <a:noFill/>
        </p:spPr>
        <p:txBody>
          <a:bodyPr wrap="square" anchor="t" lIns="0" rIns="0" tIns="0" bIns="0">
            <a:spAutoFit/>
          </a:bodyPr>
          <a:lstStyle/>
          <a:p>
            <a:pPr algn="l">
              <a:lnSpc>
                <a:spcPct val="115000"/>
              </a:lnSpc>
            </a:pPr>
            <a:r>
              <a:rPr sz="1350" b="1">
                <a:solidFill>
                  <a:srgbClr val="0D1B5C"/>
                </a:solidFill>
                <a:latin typeface="Calibri"/>
              </a:rPr>
              <a:t>Break the tie on faithfulness, then repeat it</a:t>
            </a:r>
          </a:p>
          <a:p>
            <a:pPr algn="l">
              <a:lnSpc>
                <a:spcPct val="115000"/>
              </a:lnSpc>
              <a:spcBef>
                <a:spcPts val="500"/>
              </a:spcBef>
            </a:pPr>
            <a:r>
              <a:rPr sz="1150" b="0">
                <a:solidFill>
                  <a:srgbClr val="0F172A"/>
                </a:solidFill>
                <a:latin typeface="Calibri"/>
              </a:rPr>
              <a:t>Rank the tied cells on how many of the raw story's figures survive. Then run the top two five times each at distinct seeds, because a single run cannot separate a model from a draft.</a:t>
            </a:r>
          </a:p>
        </p:txBody>
      </p:sp>
      <p:sp>
        <p:nvSpPr>
          <p:cNvPr id="21" name="TextBox 20"/>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100" b="1">
                <a:solidFill>
                  <a:srgbClr val="B45409"/>
                </a:solidFill>
                <a:latin typeface="Calibri"/>
              </a:rPr>
              <a:t>Step 4 is the one we nearly skipped, and it is the step that changed the answer.</a:t>
            </a:r>
          </a:p>
        </p:txBody>
      </p:sp>
      <p:sp>
        <p:nvSpPr>
          <p:cNvPr id="22" name="TextBox 21"/>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3" name="TextBox 22"/>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4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result, the agent, and the system</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Ramadan</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HOW THE MODEL PICKS THE CHARTS</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A tool surface, so the decision is the model's and the rules are not</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86000"/>
            <a:ext cx="2926080" cy="914400"/>
          </a:xfrm>
          <a:prstGeom prst="rect">
            <a:avLst/>
          </a:prstGeom>
          <a:noFill/>
        </p:spPr>
        <p:txBody>
          <a:bodyPr wrap="square" anchor="t" lIns="0" rIns="0" tIns="0" bIns="0">
            <a:spAutoFit/>
          </a:bodyPr>
          <a:lstStyle/>
          <a:p>
            <a:pPr algn="l">
              <a:lnSpc>
                <a:spcPct val="114000"/>
              </a:lnSpc>
            </a:pPr>
            <a:r>
              <a:rPr sz="1100" b="1">
                <a:solidFill>
                  <a:srgbClr val="1E66B8"/>
                </a:solidFill>
                <a:latin typeface="Arial"/>
              </a:rPr>
              <a:t>applicability.py   ·   computed</a:t>
            </a:r>
          </a:p>
          <a:p>
            <a:pPr algn="l">
              <a:lnSpc>
                <a:spcPct val="114000"/>
              </a:lnSpc>
              <a:spcBef>
                <a:spcPts val="400"/>
              </a:spcBef>
            </a:pPr>
            <a:r>
              <a:rPr sz="1200" b="0">
                <a:solidFill>
                  <a:srgbClr val="0F172A"/>
                </a:solidFill>
                <a:latin typeface="Calibri"/>
              </a:rPr>
              <a:t>which forms this table can carry</a:t>
            </a:r>
          </a:p>
        </p:txBody>
      </p:sp>
      <p:sp>
        <p:nvSpPr>
          <p:cNvPr id="8" name="TextBox 7"/>
          <p:cNvSpPr txBox="1"/>
          <p:nvPr/>
        </p:nvSpPr>
        <p:spPr>
          <a:xfrm>
            <a:off x="4123944" y="2542032"/>
            <a:ext cx="274320" cy="365760"/>
          </a:xfrm>
          <a:prstGeom prst="rect">
            <a:avLst/>
          </a:prstGeom>
          <a:noFill/>
        </p:spPr>
        <p:txBody>
          <a:bodyPr wrap="square" anchor="t" lIns="0" rIns="0" tIns="0" bIns="0">
            <a:spAutoFit/>
          </a:bodyPr>
          <a:lstStyle/>
          <a:p>
            <a:pPr algn="l">
              <a:lnSpc>
                <a:spcPct val="100000"/>
              </a:lnSpc>
            </a:pPr>
            <a:r>
              <a:rPr sz="2000" b="1">
                <a:solidFill>
                  <a:srgbClr val="D9DFE7"/>
                </a:solidFill>
                <a:latin typeface="Arial"/>
              </a:rPr>
              <a:t>›</a:t>
            </a:r>
          </a:p>
        </p:txBody>
      </p:sp>
      <p:sp>
        <p:nvSpPr>
          <p:cNvPr id="9" name="Rectangle 8"/>
          <p:cNvSpPr/>
          <p:nvPr/>
        </p:nvSpPr>
        <p:spPr>
          <a:xfrm>
            <a:off x="4398264" y="2103120"/>
            <a:ext cx="3401568"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7" y="2286000"/>
            <a:ext cx="2926080" cy="914400"/>
          </a:xfrm>
          <a:prstGeom prst="rect">
            <a:avLst/>
          </a:prstGeom>
          <a:noFill/>
        </p:spPr>
        <p:txBody>
          <a:bodyPr wrap="square" anchor="t" lIns="0" rIns="0" tIns="0" bIns="0">
            <a:spAutoFit/>
          </a:bodyPr>
          <a:lstStyle/>
          <a:p>
            <a:pPr algn="l">
              <a:lnSpc>
                <a:spcPct val="114000"/>
              </a:lnSpc>
            </a:pPr>
            <a:r>
              <a:rPr sz="1100" b="1">
                <a:solidFill>
                  <a:srgbClr val="20C4B0"/>
                </a:solidFill>
                <a:latin typeface="Arial"/>
              </a:rPr>
              <a:t>the model   ·   decided</a:t>
            </a:r>
          </a:p>
          <a:p>
            <a:pPr algn="l">
              <a:lnSpc>
                <a:spcPct val="114000"/>
              </a:lnSpc>
              <a:spcBef>
                <a:spcPts val="400"/>
              </a:spcBef>
            </a:pPr>
            <a:r>
              <a:rPr sz="1200" b="0">
                <a:solidFill>
                  <a:srgbClr val="0F172A"/>
                </a:solidFill>
                <a:latin typeface="Calibri"/>
              </a:rPr>
              <a:t>which of those are worth showing, and why</a:t>
            </a:r>
          </a:p>
        </p:txBody>
      </p:sp>
      <p:sp>
        <p:nvSpPr>
          <p:cNvPr id="12" name="TextBox 11"/>
          <p:cNvSpPr txBox="1"/>
          <p:nvPr/>
        </p:nvSpPr>
        <p:spPr>
          <a:xfrm>
            <a:off x="7836408" y="2542032"/>
            <a:ext cx="274320" cy="365760"/>
          </a:xfrm>
          <a:prstGeom prst="rect">
            <a:avLst/>
          </a:prstGeom>
          <a:noFill/>
        </p:spPr>
        <p:txBody>
          <a:bodyPr wrap="square" anchor="t" lIns="0" rIns="0" tIns="0" bIns="0">
            <a:spAutoFit/>
          </a:bodyPr>
          <a:lstStyle/>
          <a:p>
            <a:pPr algn="l">
              <a:lnSpc>
                <a:spcPct val="100000"/>
              </a:lnSpc>
            </a:pPr>
            <a:r>
              <a:rPr sz="2000" b="1">
                <a:solidFill>
                  <a:srgbClr val="D9DFE7"/>
                </a:solidFill>
                <a:latin typeface="Arial"/>
              </a:rPr>
              <a:t>›</a:t>
            </a:r>
          </a:p>
        </p:txBody>
      </p:sp>
      <p:sp>
        <p:nvSpPr>
          <p:cNvPr id="13" name="Rectangle 12"/>
          <p:cNvSpPr/>
          <p:nvPr/>
        </p:nvSpPr>
        <p:spPr>
          <a:xfrm>
            <a:off x="8110727" y="2103120"/>
            <a:ext cx="3401568"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1" y="2286000"/>
            <a:ext cx="2926080" cy="914400"/>
          </a:xfrm>
          <a:prstGeom prst="rect">
            <a:avLst/>
          </a:prstGeom>
          <a:noFill/>
        </p:spPr>
        <p:txBody>
          <a:bodyPr wrap="square" anchor="t" lIns="0" rIns="0" tIns="0" bIns="0">
            <a:spAutoFit/>
          </a:bodyPr>
          <a:lstStyle/>
          <a:p>
            <a:pPr algn="l">
              <a:lnSpc>
                <a:spcPct val="114000"/>
              </a:lnSpc>
            </a:pPr>
            <a:r>
              <a:rPr sz="1100" b="1">
                <a:solidFill>
                  <a:srgbClr val="0D1B5C"/>
                </a:solidFill>
                <a:latin typeface="Arial"/>
              </a:rPr>
              <a:t>validate.py   ·   computed</a:t>
            </a:r>
          </a:p>
          <a:p>
            <a:pPr algn="l">
              <a:lnSpc>
                <a:spcPct val="114000"/>
              </a:lnSpc>
              <a:spcBef>
                <a:spcPts val="400"/>
              </a:spcBef>
            </a:pPr>
            <a:r>
              <a:rPr sz="1200" b="0">
                <a:solidFill>
                  <a:srgbClr val="0F172A"/>
                </a:solidFill>
                <a:latin typeface="Calibri"/>
              </a:rPr>
              <a:t>whether the spec is honest</a:t>
            </a:r>
          </a:p>
        </p:txBody>
      </p:sp>
      <p:sp>
        <p:nvSpPr>
          <p:cNvPr id="16" name="TextBox 15"/>
          <p:cNvSpPr txBox="1"/>
          <p:nvPr/>
        </p:nvSpPr>
        <p:spPr>
          <a:xfrm>
            <a:off x="685800" y="3401568"/>
            <a:ext cx="10789920" cy="274320"/>
          </a:xfrm>
          <a:prstGeom prst="rect">
            <a:avLst/>
          </a:prstGeom>
          <a:noFill/>
        </p:spPr>
        <p:txBody>
          <a:bodyPr wrap="square" anchor="t" lIns="0" rIns="0" tIns="0" bIns="0">
            <a:spAutoFit/>
          </a:bodyPr>
          <a:lstStyle/>
          <a:p>
            <a:pPr algn="l">
              <a:lnSpc>
                <a:spcPct val="100000"/>
              </a:lnSpc>
            </a:pPr>
            <a:r>
              <a:rPr sz="1150" b="0">
                <a:solidFill>
                  <a:srgbClr val="526173"/>
                </a:solidFill>
                <a:latin typeface="Calibri"/>
              </a:rPr>
              <a:t>Computing what is possible before asking what is best is what makes this work on a local model: the prompt shrinks from seventeen forms with their rules to a handful of pre-validated candidates.</a:t>
            </a:r>
          </a:p>
        </p:txBody>
      </p:sp>
      <p:sp>
        <p:nvSpPr>
          <p:cNvPr id="17" name="Rectangle 16"/>
          <p:cNvSpPr/>
          <p:nvPr/>
        </p:nvSpPr>
        <p:spPr>
          <a:xfrm>
            <a:off x="685800" y="3840480"/>
            <a:ext cx="6949440" cy="21945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 y="3840480"/>
            <a:ext cx="6949440" cy="5080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4041648"/>
            <a:ext cx="6492240" cy="36576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THE MCP-SHAPED TOOL SURFACE</a:t>
            </a:r>
          </a:p>
        </p:txBody>
      </p:sp>
      <p:sp>
        <p:nvSpPr>
          <p:cNvPr id="20" name="TextBox 19"/>
          <p:cNvSpPr txBox="1"/>
          <p:nvPr/>
        </p:nvSpPr>
        <p:spPr>
          <a:xfrm>
            <a:off x="932688" y="4370832"/>
            <a:ext cx="1828800" cy="274320"/>
          </a:xfrm>
          <a:prstGeom prst="rect">
            <a:avLst/>
          </a:prstGeom>
          <a:noFill/>
        </p:spPr>
        <p:txBody>
          <a:bodyPr wrap="square" anchor="t" lIns="0" rIns="0" tIns="0" bIns="0">
            <a:spAutoFit/>
          </a:bodyPr>
          <a:lstStyle/>
          <a:p>
            <a:pPr algn="l">
              <a:lnSpc>
                <a:spcPct val="100000"/>
              </a:lnSpc>
            </a:pPr>
            <a:r>
              <a:rPr sz="1150" b="1">
                <a:solidFill>
                  <a:srgbClr val="0E8F86"/>
                </a:solidFill>
                <a:latin typeface="Calibri"/>
              </a:rPr>
              <a:t>7 chart tools</a:t>
            </a:r>
          </a:p>
        </p:txBody>
      </p:sp>
      <p:sp>
        <p:nvSpPr>
          <p:cNvPr id="21" name="TextBox 20"/>
          <p:cNvSpPr txBox="1"/>
          <p:nvPr/>
        </p:nvSpPr>
        <p:spPr>
          <a:xfrm>
            <a:off x="2651760" y="4370832"/>
            <a:ext cx="4754880" cy="502920"/>
          </a:xfrm>
          <a:prstGeom prst="rect">
            <a:avLst/>
          </a:prstGeom>
          <a:noFill/>
        </p:spPr>
        <p:txBody>
          <a:bodyPr wrap="square" anchor="t" lIns="0" rIns="0" tIns="0" bIns="0">
            <a:spAutoFit/>
          </a:bodyPr>
          <a:lstStyle/>
          <a:p>
            <a:pPr algn="l">
              <a:lnSpc>
                <a:spcPct val="112000"/>
              </a:lnSpc>
            </a:pPr>
            <a:r>
              <a:rPr sz="1100" b="0">
                <a:solidFill>
                  <a:srgbClr val="0F172A"/>
                </a:solidFill>
                <a:latin typeface="Calibri"/>
              </a:rPr>
              <a:t>plot_trend_over_time, plot_magnitude, plot_change, plot_relationship, plot_geographic, plot_distribution, show_headline</a:t>
            </a:r>
          </a:p>
        </p:txBody>
      </p:sp>
      <p:sp>
        <p:nvSpPr>
          <p:cNvPr id="22" name="TextBox 21"/>
          <p:cNvSpPr txBox="1"/>
          <p:nvPr/>
        </p:nvSpPr>
        <p:spPr>
          <a:xfrm>
            <a:off x="932688" y="4901184"/>
            <a:ext cx="1828800" cy="274320"/>
          </a:xfrm>
          <a:prstGeom prst="rect">
            <a:avLst/>
          </a:prstGeom>
          <a:noFill/>
        </p:spPr>
        <p:txBody>
          <a:bodyPr wrap="square" anchor="t" lIns="0" rIns="0" tIns="0" bIns="0">
            <a:spAutoFit/>
          </a:bodyPr>
          <a:lstStyle/>
          <a:p>
            <a:pPr algn="l">
              <a:lnSpc>
                <a:spcPct val="100000"/>
              </a:lnSpc>
            </a:pPr>
            <a:r>
              <a:rPr sz="1150" b="1">
                <a:solidFill>
                  <a:srgbClr val="0E8F86"/>
                </a:solidFill>
                <a:latin typeface="Calibri"/>
              </a:rPr>
              <a:t>3 read tools</a:t>
            </a:r>
          </a:p>
        </p:txBody>
      </p:sp>
      <p:sp>
        <p:nvSpPr>
          <p:cNvPr id="23" name="TextBox 22"/>
          <p:cNvSpPr txBox="1"/>
          <p:nvPr/>
        </p:nvSpPr>
        <p:spPr>
          <a:xfrm>
            <a:off x="2651760" y="4901184"/>
            <a:ext cx="4754880" cy="502920"/>
          </a:xfrm>
          <a:prstGeom prst="rect">
            <a:avLst/>
          </a:prstGeom>
          <a:noFill/>
        </p:spPr>
        <p:txBody>
          <a:bodyPr wrap="square" anchor="t" lIns="0" rIns="0" tIns="0" bIns="0">
            <a:spAutoFit/>
          </a:bodyPr>
          <a:lstStyle/>
          <a:p>
            <a:pPr algn="l">
              <a:lnSpc>
                <a:spcPct val="112000"/>
              </a:lnSpc>
            </a:pPr>
            <a:r>
              <a:rPr sz="1100" b="0">
                <a:solidFill>
                  <a:srgbClr val="0F172A"/>
                </a:solidFill>
                <a:latin typeface="Calibri"/>
              </a:rPr>
              <a:t>what makes it an agent rather than a classifier: it can look at the table before it commits to a figure</a:t>
            </a:r>
          </a:p>
        </p:txBody>
      </p:sp>
      <p:sp>
        <p:nvSpPr>
          <p:cNvPr id="24" name="TextBox 23"/>
          <p:cNvSpPr txBox="1"/>
          <p:nvPr/>
        </p:nvSpPr>
        <p:spPr>
          <a:xfrm>
            <a:off x="932688" y="5431536"/>
            <a:ext cx="1828800" cy="274320"/>
          </a:xfrm>
          <a:prstGeom prst="rect">
            <a:avLst/>
          </a:prstGeom>
          <a:noFill/>
        </p:spPr>
        <p:txBody>
          <a:bodyPr wrap="square" anchor="t" lIns="0" rIns="0" tIns="0" bIns="0">
            <a:spAutoFit/>
          </a:bodyPr>
          <a:lstStyle/>
          <a:p>
            <a:pPr algn="l">
              <a:lnSpc>
                <a:spcPct val="100000"/>
              </a:lnSpc>
            </a:pPr>
            <a:r>
              <a:rPr sz="1150" b="1">
                <a:solidFill>
                  <a:srgbClr val="0E8F86"/>
                </a:solidFill>
                <a:latin typeface="Calibri"/>
              </a:rPr>
              <a:t>A two-level decision</a:t>
            </a:r>
          </a:p>
        </p:txBody>
      </p:sp>
      <p:sp>
        <p:nvSpPr>
          <p:cNvPr id="25" name="TextBox 24"/>
          <p:cNvSpPr txBox="1"/>
          <p:nvPr/>
        </p:nvSpPr>
        <p:spPr>
          <a:xfrm>
            <a:off x="2651760" y="5431536"/>
            <a:ext cx="4754880" cy="502920"/>
          </a:xfrm>
          <a:prstGeom prst="rect">
            <a:avLst/>
          </a:prstGeom>
          <a:noFill/>
        </p:spPr>
        <p:txBody>
          <a:bodyPr wrap="square" anchor="t" lIns="0" rIns="0" tIns="0" bIns="0">
            <a:spAutoFit/>
          </a:bodyPr>
          <a:lstStyle/>
          <a:p>
            <a:pPr algn="l">
              <a:lnSpc>
                <a:spcPct val="112000"/>
              </a:lnSpc>
            </a:pPr>
            <a:r>
              <a:rPr sz="1100" b="0">
                <a:solidFill>
                  <a:srgbClr val="0F172A"/>
                </a:solidFill>
                <a:latin typeface="Calibri"/>
              </a:rPr>
              <a:t>the tool is the reader's job; the form enum inside it is the geometry. Seventeen flat forms is past what a local model picks reliably — seven tools with enums is not.</a:t>
            </a:r>
          </a:p>
        </p:txBody>
      </p:sp>
      <p:sp>
        <p:nvSpPr>
          <p:cNvPr id="26" name="Rectangle 25"/>
          <p:cNvSpPr/>
          <p:nvPr/>
        </p:nvSpPr>
        <p:spPr>
          <a:xfrm>
            <a:off x="7955279" y="3840480"/>
            <a:ext cx="3547872" cy="21945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55279" y="3840480"/>
            <a:ext cx="3547872" cy="5080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02168" y="4041648"/>
            <a:ext cx="3063240" cy="1828800"/>
          </a:xfrm>
          <a:prstGeom prst="rect">
            <a:avLst/>
          </a:prstGeom>
          <a:noFill/>
        </p:spPr>
        <p:txBody>
          <a:bodyPr wrap="square" anchor="t" lIns="0" rIns="0" tIns="0" bIns="0">
            <a:spAutoFit/>
          </a:bodyPr>
          <a:lstStyle/>
          <a:p>
            <a:pPr algn="l">
              <a:lnSpc>
                <a:spcPct val="114000"/>
              </a:lnSpc>
            </a:pPr>
            <a:r>
              <a:rPr sz="1250" b="1">
                <a:solidFill>
                  <a:srgbClr val="B45409"/>
                </a:solidFill>
                <a:latin typeface="Calibri"/>
              </a:rPr>
              <a:t>Specified, not wired</a:t>
            </a:r>
          </a:p>
          <a:p>
            <a:pPr algn="l">
              <a:lnSpc>
                <a:spcPct val="114000"/>
              </a:lnSpc>
              <a:spcBef>
                <a:spcPts val="500"/>
              </a:spcBef>
            </a:pPr>
            <a:r>
              <a:rPr sz="1100" b="0">
                <a:solidFill>
                  <a:srgbClr val="0F172A"/>
                </a:solidFill>
                <a:latin typeface="Calibri"/>
              </a:rPr>
              <a:t>The contract defines these tools and the build emits a JSON schema shaped to drop straight in as an MCP inputSchema — the same file the validator reads, so tool docs and rules cannot drift apart.</a:t>
            </a:r>
          </a:p>
          <a:p>
            <a:pPr algn="l">
              <a:lnSpc>
                <a:spcPct val="114000"/>
              </a:lnSpc>
              <a:spcBef>
                <a:spcPts val="500"/>
              </a:spcBef>
            </a:pPr>
            <a:r>
              <a:rPr sz="1100" b="1">
                <a:solidFill>
                  <a:srgbClr val="0D1B5C"/>
                </a:solidFill>
                <a:latin typeface="Calibri"/>
              </a:rPr>
              <a:t>Today the selector makes one structured call instead. The surface is a written design, not a running server.</a:t>
            </a:r>
          </a:p>
        </p:txBody>
      </p:sp>
      <p:sp>
        <p:nvSpPr>
          <p:cNvPr id="29" name="TextBox 2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0" name="TextBox 2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same model</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same model</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three stages that run on the moderator model</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241280" cy="2194560"/>
          </a:xfrm>
          <a:prstGeom prst="rect">
            <a:avLst/>
          </a:prstGeom>
          <a:noFill/>
        </p:spPr>
        <p:txBody>
          <a:bodyPr wrap="square" anchor="t" lIns="0" rIns="0" tIns="0" bIns="0">
            <a:spAutoFit/>
          </a:bodyPr>
          <a:lstStyle/>
          <a:p>
            <a:pPr algn="l">
              <a:lnSpc>
                <a:spcPct val="120000"/>
              </a:lnSpc>
            </a:pPr>
            <a:r>
              <a:rPr sz="1300" b="1">
                <a:solidFill>
                  <a:srgbClr val="0E8F86"/>
                </a:solidFill>
                <a:latin typeface="Arial"/>
              </a:rPr>
              <a:t>What we can defend</a:t>
            </a:r>
          </a:p>
          <a:p>
            <a:pPr algn="l">
              <a:lnSpc>
                <a:spcPct val="120000"/>
              </a:lnSpc>
              <a:spcBef>
                <a:spcPts val="1000"/>
              </a:spcBef>
            </a:pPr>
            <a:r>
              <a:rPr sz="2600" b="1">
                <a:solidFill>
                  <a:srgbClr val="0D1B5C"/>
                </a:solidFill>
                <a:latin typeface="Arial"/>
              </a:rPr>
              <a:t>A second agent can move a generated data story onto the tone level of a person writing from the same table —</a:t>
            </a:r>
          </a:p>
          <a:p>
            <a:pPr algn="l">
              <a:lnSpc>
                <a:spcPct val="120000"/>
              </a:lnSpc>
              <a:spcBef>
                <a:spcPts val="200"/>
              </a:spcBef>
            </a:pPr>
            <a:r>
              <a:rPr sz="2600" b="1">
                <a:solidFill>
                  <a:srgbClr val="0D1B5C"/>
                </a:solidFill>
                <a:latin typeface="Arial"/>
              </a:rPr>
              <a:t>without losing the numbers, and at a cost in readability we can state.</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against a human median of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so every number above has an error bar</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pairs where the raw story still read better</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00" b="0">
                <a:solidFill>
                  <a:srgbClr val="526173"/>
                </a:solidFill>
                <a:latin typeface="Calibri"/>
              </a:rPr>
              <a:t>What we are not claiming: one judge family agreeing with itself, not a panel. No user study. Twenty-five human stories from five writer slots, not a controlled writer design.</a:t>
            </a:r>
          </a:p>
          <a:p>
            <a:pPr algn="l">
              <a:lnSpc>
                <a:spcPct val="116000"/>
              </a:lnSpc>
              <a:spcBef>
                <a:spcPts val="600"/>
              </a:spcBef>
            </a:pPr>
            <a:r>
              <a:rPr sz="1200" b="0">
                <a:solidFill>
                  <a:srgbClr val="526173"/>
                </a:solidFill>
                <a:latin typeface="Calibri"/>
              </a:rPr>
              <a:t>Everything in this deck is generated from the experiment files in the repository, so the numbers and the slides cannot drift apart.</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65960"/>
            <a:ext cx="10058400" cy="1371600"/>
          </a:xfrm>
          <a:prstGeom prst="rect">
            <a:avLst/>
          </a:prstGeom>
          <a:noFill/>
        </p:spPr>
        <p:txBody>
          <a:bodyPr wrap="square" anchor="t" lIns="0" rIns="0" tIns="0" bIns="0">
            <a:spAutoFit/>
          </a:bodyPr>
          <a:lstStyle/>
          <a:p>
            <a:pPr algn="l">
              <a:lnSpc>
                <a:spcPct val="100000"/>
              </a:lnSpc>
            </a:pPr>
            <a:r>
              <a:rPr sz="6000" b="1">
                <a:solidFill>
                  <a:srgbClr val="FFFFFF"/>
                </a:solidFill>
                <a:latin typeface="Arial"/>
              </a:rPr>
              <a:t>Thank you</a:t>
            </a:r>
          </a:p>
        </p:txBody>
      </p:sp>
      <p:sp>
        <p:nvSpPr>
          <p:cNvPr id="5" name="Rectangle 4"/>
          <p:cNvSpPr/>
          <p:nvPr/>
        </p:nvSpPr>
        <p:spPr>
          <a:xfrm>
            <a:off x="1005840" y="342900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749039"/>
            <a:ext cx="10058400" cy="548640"/>
          </a:xfrm>
          <a:prstGeom prst="rect">
            <a:avLst/>
          </a:prstGeom>
          <a:noFill/>
        </p:spPr>
        <p:txBody>
          <a:bodyPr wrap="square" anchor="t" lIns="0" rIns="0" tIns="0" bIns="0">
            <a:spAutoFit/>
          </a:bodyPr>
          <a:lstStyle/>
          <a:p>
            <a:pPr algn="l">
              <a:lnSpc>
                <a:spcPct val="100000"/>
              </a:lnSpc>
            </a:pPr>
            <a:r>
              <a:rPr sz="2600" b="1">
                <a:solidFill>
                  <a:srgbClr val="20C4B0"/>
                </a:solidFill>
                <a:latin typeface="Arial"/>
              </a:rPr>
              <a:t>Questions?</a:t>
            </a:r>
          </a:p>
        </p:txBody>
      </p:sp>
      <p:sp>
        <p:nvSpPr>
          <p:cNvPr id="7" name="TextBox 6"/>
          <p:cNvSpPr txBox="1"/>
          <p:nvPr/>
        </p:nvSpPr>
        <p:spPr>
          <a:xfrm>
            <a:off x="1005840" y="4617720"/>
            <a:ext cx="10058400" cy="1188720"/>
          </a:xfrm>
          <a:prstGeom prst="rect">
            <a:avLst/>
          </a:prstGeom>
          <a:noFill/>
        </p:spPr>
        <p:txBody>
          <a:bodyPr wrap="square" anchor="t" lIns="0" rIns="0" tIns="0" bIns="0">
            <a:spAutoFit/>
          </a:bodyPr>
          <a:lstStyle/>
          <a:p>
            <a:pPr algn="l">
              <a:lnSpc>
                <a:spcPct val="118000"/>
              </a:lnSpc>
            </a:pPr>
            <a:r>
              <a:rPr sz="1400" b="1">
                <a:solidFill>
                  <a:srgbClr val="FFFFFF"/>
                </a:solidFill>
                <a:latin typeface="Calibri"/>
              </a:rPr>
              <a:t>Mahmoud Elsamadony  ·  Ahmed Okasha  ·  Ahmed Elsaadani  ·  Ahmed Ramadan</a:t>
            </a:r>
          </a:p>
          <a:p>
            <a:pPr algn="l">
              <a:lnSpc>
                <a:spcPct val="118000"/>
              </a:lnSpc>
              <a:spcBef>
                <a:spcPts val="600"/>
              </a:spcBef>
            </a:pPr>
            <a:r>
              <a:rPr sz="1150" b="0">
                <a:solidFill>
                  <a:srgbClr val="8A9CB8"/>
                </a:solidFill>
                <a:latin typeface="Calibri"/>
              </a:rPr>
              <a:t>Supervisors: Susmita Khadse, Julián Méndez  ·  Chair: Prof. Dr. Raimund Dachselt (IMLD)</a:t>
            </a:r>
          </a:p>
          <a:p>
            <a:pPr algn="l">
              <a:lnSpc>
                <a:spcPct val="118000"/>
              </a:lnSpc>
              <a:spcBef>
                <a:spcPts val="800"/>
              </a:spcBef>
            </a:pPr>
            <a:r>
              <a:rPr sz="1200" b="1">
                <a:solidFill>
                  <a:srgbClr val="20C4B0"/>
                </a:solidFill>
                <a:latin typeface="Calibri"/>
              </a:rPr>
              <a:t>github.com/memoelsamadony/ai-powered-data-storytelling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