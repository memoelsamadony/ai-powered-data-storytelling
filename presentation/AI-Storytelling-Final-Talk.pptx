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sections,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[0:50]   running total 1:05   ~125 words</a:t>
            </a:r>
          </a:p>
          <a:p/>
          <a:p>
            <a:r>
              <a:t>We surveyed seven systems. On the left: the non-LLM baselines, then the ones</a:t>
            </a:r>
          </a:p>
          <a:p>
            <a:r>
              <a:t>closest to us - DataNarrative, Data Director, MDSF - all of which pair a</a:t>
            </a:r>
          </a:p>
          <a:p>
            <a:r>
              <a:t>generator with a critic agent.</a:t>
            </a:r>
          </a:p>
          <a:p/>
          <a:p>
            <a:r>
              <a:t>On the right, the three we reproduced ourselves rather than cited. Kasner and</a:t>
            </a:r>
          </a:p>
          <a:p>
            <a:r>
              <a:t>Dušek's faithfulness method: a modern 12B model left about 18 percent of</a:t>
            </a:r>
          </a:p>
          <a:p>
            <a:r>
              <a:t>outputs with a semantic error where the paper reported over 80. DataTales: the</a:t>
            </a:r>
          </a:p>
          <a:p>
            <a:r>
              <a:t>reading operations climb steeply with model size. And we rebuilt DataNarrative's</a:t>
            </a:r>
          </a:p>
          <a:p>
            <a:r>
              <a:t>generate-and-verify architecture, which is the shape ours adapts.</a:t>
            </a:r>
          </a:p>
          <a:p/>
          <a:p>
            <a:r>
              <a:t>That gave us the sentence at the bottom. Open models are already fairly faithful</a:t>
            </a:r>
          </a:p>
          <a:p>
            <a:r>
              <a:t>at stating data, and every critic in the literature checks facts. So another</a:t>
            </a:r>
          </a:p>
          <a:p>
            <a:r>
              <a:t>fact-checker is not where the gap is.</a:t>
            </a:r>
          </a:p>
          <a:p/>
          <a:p>
            <a:r>
              <a:t>DELIVERY: do not read the paper list. Say "seven systems, three we re-ran</a:t>
            </a:r>
          </a:p>
          <a:p>
            <a:r>
              <a:t>ourselves" and go to the bottom bar. That sentence is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[0:40]   running total 1:45   ~100 words   &gt;&gt;&gt; HAND TO OKASHA</a:t>
            </a:r>
          </a:p>
          <a:p/>
          <a:p>
            <a:r>
              <a:t>So here is the problem we noticed.</a:t>
            </a:r>
          </a:p>
          <a:p/>
          <a:p>
            <a:r>
              <a:t>The critic is always a fact-checker. But Hullman and Diakopoulos showed that</a:t>
            </a:r>
          </a:p>
          <a:p>
            <a:r>
              <a:t>framing alone significantly changes how people read the same chart. Tone is not</a:t>
            </a:r>
          </a:p>
          <a:p>
            <a:r>
              <a:t>decoration - it is part of the claim.</a:t>
            </a:r>
          </a:p>
          <a:p/>
          <a:p>
            <a:r>
              <a:t>[POINT] Both of these sentences are true to the table. A fact-checker passes</a:t>
            </a:r>
          </a:p>
          <a:p>
            <a:r>
              <a:t>both. The first catastrophises, the second is calibrated, and nothing in the</a:t>
            </a:r>
          </a:p>
          <a:p>
            <a:r>
              <a:t>literature can tell them apart.</a:t>
            </a:r>
          </a:p>
          <a:p/>
          <a:p>
            <a:r>
              <a:t>Okasha will show you what we built for that.</a:t>
            </a:r>
          </a:p>
          <a:p/>
          <a:p>
            <a:r>
              <a:t>DELIVERY: read both quotes out loud, slowly. This is the motivation and it</a:t>
            </a:r>
          </a:p>
          <a:p>
            <a:r>
              <a:t>lands 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[0:35]   running total 2:20   ~88 words</a:t>
            </a:r>
          </a:p>
          <a:p/>
          <a:p>
            <a:r>
              <a:t>Four agents. A local model generates the story from an evidence pack. A second</a:t>
            </a:r>
          </a:p>
          <a:p>
            <a:r>
              <a:t>rewrites it for tone only. A third checks the numbers back against the table.</a:t>
            </a:r>
          </a:p>
          <a:p>
            <a:r>
              <a:t>A fourth picks the charts.</a:t>
            </a:r>
          </a:p>
          <a:p/>
          <a:p>
            <a:r>
              <a:t>Only the second one is new. Everything else exists to make it measurable.</a:t>
            </a:r>
          </a:p>
          <a:p/>
          <a:p>
            <a:r>
              <a:t>And note the fourth is deliberately not the moderator. If tone moderation also</a:t>
            </a:r>
          </a:p>
          <a:p>
            <a:r>
              <a:t>chose the charts, every tone number afterwards would be measuring two changes at</a:t>
            </a:r>
          </a:p>
          <a:p>
            <a:r>
              <a:t>once, and the one claim we are making would be confounded.</a:t>
            </a:r>
          </a:p>
          <a:p/>
          <a:p>
            <a:r>
              <a:t>DELIVERY: signpost slide, keep moving. The separation point is worth five</a:t>
            </a:r>
          </a:p>
          <a:p>
            <a:r>
              <a:t>seconds because it pre-empts an obvious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[0:40]   running total 3:00   ~100 words</a:t>
            </a:r>
          </a:p>
          <a:p/>
          <a:p>
            <a:r>
              <a:t>To measure tone you need a scale. Every story gets two: alarmism and optimism,</a:t>
            </a:r>
          </a:p>
          <a:p>
            <a:r>
              <a:t>one to five each.</a:t>
            </a:r>
          </a:p>
          <a:p/>
          <a:p>
            <a:r>
              <a:t>Both ends of each are failures. Five catastrophises, one is flat and hides real</a:t>
            </a:r>
          </a:p>
          <a:p>
            <a:r>
              <a:t>stakes. So an agent cannot win by draining the feeling out of a story.</a:t>
            </a:r>
          </a:p>
          <a:p/>
          <a:p>
            <a:r>
              <a:t>Two honest notes. The rubric calls three calibrated, but our human writers sit</a:t>
            </a:r>
          </a:p>
          <a:p>
            <a:r>
              <a:t>at 2.0 and 2.5 - so</a:t>
            </a:r>
          </a:p>
          <a:p>
            <a:r>
              <a:t>the human band is what we report against, not the midpoint.</a:t>
            </a:r>
          </a:p>
          <a:p/>
          <a:p>
            <a:r>
              <a:t>And blinding cost us. Scoring each story alone doubles the calls and gives up</a:t>
            </a:r>
          </a:p>
          <a:p>
            <a:r>
              <a:t>the direct comparison. We paid that to stop telling the judge which story was</a:t>
            </a:r>
          </a:p>
          <a:p>
            <a:r>
              <a:t>the treatment.</a:t>
            </a:r>
          </a:p>
          <a:p/>
          <a:p>
            <a:r>
              <a:t>DELIVERY: "both ends are failures" is the sentence that must land. Pause after</a:t>
            </a:r>
          </a:p>
          <a:p>
            <a:r>
              <a:t>it. Point at the blue human marks when you say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[0:30]   running total 3:30   ~80 words   &gt;&gt;&gt; HAND TO ELSAADANI</a:t>
            </a:r>
          </a:p>
          <a:p/>
          <a:p>
            <a:r>
              <a:t>Four families of metric, and only the first one needs a model.</a:t>
            </a:r>
          </a:p>
          <a:p/>
          <a:p>
            <a:r>
              <a:t>Tone is the contribution and it is judged. Faithfulness is computed in code, for</a:t>
            </a:r>
          </a:p>
          <a:p>
            <a:r>
              <a:t>free, on every run - including a cherry-picking check that asks whether the</a:t>
            </a:r>
          </a:p>
          <a:p>
            <a:r>
              <a:t>window the story chose points the same way as the whole series. Similarity is</a:t>
            </a:r>
          </a:p>
          <a:p>
            <a:r>
              <a:t>against the human stories. And the operation accuracies come from our DataTales</a:t>
            </a:r>
          </a:p>
          <a:p>
            <a:r>
              <a:t>re-run.</a:t>
            </a:r>
          </a:p>
          <a:p/>
          <a:p>
            <a:r>
              <a:t>One warning: two different things here are called trend. The footnote says which</a:t>
            </a:r>
          </a:p>
          <a:p>
            <a:r>
              <a:t>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[0:25]   running total 3:55   ~63 words</a:t>
            </a:r>
          </a:p>
          <a:p/>
          <a:p>
            <a:r>
              <a:t>Not every metric is for us. These are for the reader.</a:t>
            </a:r>
          </a:p>
          <a:p/>
          <a:p>
            <a:r>
              <a:t>The app shows the tone rating, the human band, and every emotive span the</a:t>
            </a:r>
          </a:p>
          <a:p>
            <a:r>
              <a:t>moderator removed, classified by what kind of edit it was. That is why the</a:t>
            </a:r>
          </a:p>
          <a:p>
            <a:r>
              <a:t>interface shows a diff rather than just a cleaner paragraph - so a reader can</a:t>
            </a:r>
          </a:p>
          <a:p>
            <a:r>
              <a:t>audit the rewrite instead of trusting it.</a:t>
            </a:r>
          </a:p>
          <a:p/>
          <a:p>
            <a:r>
              <a:t>The user-study axes on the right are designed and not run.</a:t>
            </a:r>
          </a:p>
          <a:p/>
          <a:p>
            <a:r>
              <a:t>DELIVERY: this slide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[0:25]   running total 4:20   ~63 words</a:t>
            </a:r>
          </a:p>
          <a:p/>
          <a:p>
            <a:r>
              <a:t>Now, how we picked the pair.</a:t>
            </a:r>
          </a:p>
          <a:p/>
          <a:p>
            <a:r>
              <a:t>Fourteen generator-and-moderator combinations. Six of them tie on tone - all hit</a:t>
            </a:r>
          </a:p>
          <a:p>
            <a:r>
              <a:t>exactly 2.0 - so tone alone cannot choose. We broke the tie on faithfulness: how</a:t>
            </a:r>
          </a:p>
          <a:p>
            <a:r>
              <a:t>many of the raw story's figures survive the rewrite.</a:t>
            </a:r>
          </a:p>
          <a:p/>
          <a:p>
            <a:r>
              <a:t>On one run each, qwen 4b looked best at 71 percent against llama 8b's 50.</a:t>
            </a:r>
          </a:p>
          <a:p/>
          <a:p>
            <a:r>
              <a:t>DELIVERY: do not read the table. Point at the green block of ties, then at the</a:t>
            </a:r>
          </a:p>
          <a:p>
            <a:r>
              <a:t>"figures kept" column. Twenty-five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[0:55]   running total 5:15   ~138 words   &gt;&gt;&gt; HAND TO RAMADAN</a:t>
            </a:r>
          </a:p>
          <a:p/>
          <a:p>
            <a:r>
              <a:t>Then we ran both five times, at different seeds. It reverses.</a:t>
            </a:r>
          </a:p>
          <a:p/>
          <a:p>
            <a:r>
              <a:t>Qwen averages 61%, llama averages</a:t>
            </a:r>
          </a:p>
          <a:p>
            <a:r>
              <a:t>90%. Welch t of minus 2.70, p of 0.029,</a:t>
            </a:r>
          </a:p>
          <a:p>
            <a:r>
              <a:t>Cohen's d of 1.71. Our recommendation had been backwards, and one run per cell</a:t>
            </a:r>
          </a:p>
          <a:p>
            <a:r>
              <a:t>was never going to show us that.</a:t>
            </a:r>
          </a:p>
          <a:p/>
          <a:p>
            <a:r>
              <a:t>Seeds have to differ, by the way. Two of our tiers were the same configuration</a:t>
            </a:r>
          </a:p>
          <a:p>
            <a:r>
              <a:t>at the same seed and produced byte-identical text - that is determinism, not a</a:t>
            </a:r>
          </a:p>
          <a:p>
            <a:r>
              <a:t>repeat.</a:t>
            </a:r>
          </a:p>
          <a:p/>
          <a:p>
            <a:r>
              <a:t>So the pipeline we ship is llama3.1:8b generating, gemma4:31b moderating.</a:t>
            </a:r>
          </a:p>
          <a:p/>
          <a:p>
            <a:r>
              <a:t>And the lower half is the more interesting finding: the moderator lands on 2.10</a:t>
            </a:r>
          </a:p>
          <a:p>
            <a:r>
              <a:t>either way. It converges on the same tone regardless of who wrote the draft.</a:t>
            </a:r>
          </a:p>
          <a:p/>
          <a:p>
            <a:r>
              <a:t>Ahmed Ramadan will show you where that sits next to a person.</a:t>
            </a:r>
          </a:p>
          <a:p/>
          <a:p>
            <a:r>
              <a:t>DELIVERY: the strongest slide in the deck. Own the mistake. "Our recommendation</a:t>
            </a:r>
          </a:p>
          <a:p>
            <a:r>
              <a:t>had been backwards" is the line - say it plainly and do not soften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[0:45]   running total 6:00   ~112 words</a:t>
            </a:r>
          </a:p>
          <a:p/>
          <a:p>
            <a:r>
              <a:t>This is the result. The four of us wrote 25 stories by hand from the</a:t>
            </a:r>
          </a:p>
          <a:p>
            <a:r>
              <a:t>same evidence packs, five per series, before seeing any machine output. The</a:t>
            </a:r>
          </a:p>
          <a:p>
            <a:r>
              <a:t>green band is where those human writers sit.</a:t>
            </a:r>
          </a:p>
          <a:p/>
          <a:p>
            <a:r>
              <a:t>Red is the raw story, blue is after moderation. On every one of the five series</a:t>
            </a:r>
          </a:p>
          <a:p>
            <a:r>
              <a:t>the arrow lands on or inside the human band.</a:t>
            </a:r>
          </a:p>
          <a:p/>
          <a:p>
            <a:r>
              <a:t>Overall 3.74 to 2.09,</a:t>
            </a:r>
          </a:p>
          <a:p>
            <a:r>
              <a:t>against a human median of 2.00, over</a:t>
            </a:r>
          </a:p>
          <a:p>
            <a:r>
              <a:t>32 runs that have a human counterpart.</a:t>
            </a:r>
          </a:p>
          <a:p/>
          <a:p>
            <a:r>
              <a:t>And the honest caveat, on the slide rather than hidden: our human stories carry</a:t>
            </a:r>
          </a:p>
          <a:p>
            <a:r>
              <a:t>no headline and the machine stories do. Headlines concentrate alarmism, so every</a:t>
            </a:r>
          </a:p>
          <a:p>
            <a:r>
              <a:t>gap you see is a lower bound.</a:t>
            </a:r>
          </a:p>
          <a:p/>
          <a:p>
            <a:r>
              <a:t>DELIVERY: say the three numbers slowly and then stop talking. That trio is the</a:t>
            </a:r>
          </a:p>
          <a:p>
            <a:r>
              <a:t>thesis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[0:40]   running total 6:40   ~100 words</a:t>
            </a:r>
          </a:p>
          <a:p/>
          <a:p>
            <a:r>
              <a:t>The fourth agent, briefly, because it is the part people ask about.</a:t>
            </a:r>
          </a:p>
          <a:p/>
          <a:p>
            <a:r>
              <a:t>Choosing a chart splits into three questions. Which forms can this table carry -</a:t>
            </a:r>
          </a:p>
          <a:p>
            <a:r>
              <a:t>that is closed, decided from column types in code, so it cannot hallucinate a</a:t>
            </a:r>
          </a:p>
          <a:p>
            <a:r>
              <a:t>map for a table with no geography. Which of those are worth showing - that is</a:t>
            </a:r>
          </a:p>
          <a:p>
            <a:r>
              <a:t>editorial, and that is the model. And is the result honest - closed again, and a</a:t>
            </a:r>
          </a:p>
          <a:p>
            <a:r>
              <a:t>rejected spec goes back for one retry.</a:t>
            </a:r>
          </a:p>
          <a:p/>
          <a:p>
            <a:r>
              <a:t>That split is why an 8B local model can do this reliably.</a:t>
            </a:r>
          </a:p>
          <a:p/>
          <a:p>
            <a:r>
              <a:t>One honest note: the tool surface is specified and MCP-shaped. It is a design,</a:t>
            </a:r>
          </a:p>
          <a:p>
            <a:r>
              <a:t>not something running today.</a:t>
            </a:r>
          </a:p>
          <a:p/>
          <a:p>
            <a:r>
              <a:t>DELIVERY: say "specified, not wired" out loud. Do not imply we have an MCP</a:t>
            </a:r>
          </a:p>
          <a:p>
            <a:r>
              <a:t>server; someone will ask to see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[0:20]   running total 7:00   ~50 words   &gt;&gt;&gt; DEMO</a:t>
            </a:r>
          </a:p>
          <a:p/>
          <a:p>
            <a:r>
              <a:t>That is the whole system. A table becomes an evidence pack, a local model writes</a:t>
            </a:r>
          </a:p>
          <a:p>
            <a:r>
              <a:t>the story, the tone agent rewrites it, a verifier checks the numbers, the</a:t>
            </a:r>
          </a:p>
          <a:p>
            <a:r>
              <a:t>selector picks the figures, and Opus judges the result blind.</a:t>
            </a:r>
          </a:p>
          <a:p/>
          <a:p>
            <a:r>
              <a:t>Everything except the judge runs on this laptop.</a:t>
            </a:r>
          </a:p>
          <a:p/>
          <a:p>
            <a:r>
              <a:t>Let me show you.</a:t>
            </a:r>
          </a:p>
          <a:p/>
          <a:p>
            <a:r>
              <a:t>DELIVERY: 20 seconds, then switch. The browser should ALREADY be open on the</a:t>
            </a:r>
          </a:p>
          <a:p>
            <a:r>
              <a:t>dataset page. Full click path and the fallback are in SPEAKER-SCRIPT.md - the</a:t>
            </a:r>
          </a:p>
          <a:p>
            <a:r>
              <a:t>one rule is that you never click Generate and wait.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Thank you. Happy to take questions.</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Ramadan</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 systems surveyed, three reproduced</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539496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WHAT THE FIELD BUILDS</a:t>
            </a:r>
          </a:p>
        </p:txBody>
      </p:sp>
      <p:sp>
        <p:nvSpPr>
          <p:cNvPr id="6" name="TextBox 5"/>
          <p:cNvSpPr txBox="1"/>
          <p:nvPr/>
        </p:nvSpPr>
        <p:spPr>
          <a:xfrm>
            <a:off x="685800" y="2395728"/>
            <a:ext cx="5394960" cy="29260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Template and algorithmic</a:t>
            </a:r>
          </a:p>
          <a:p>
            <a:pPr algn="l">
              <a:lnSpc>
                <a:spcPct val="114000"/>
              </a:lnSpc>
              <a:spcBef>
                <a:spcPts val="200"/>
              </a:spcBef>
            </a:pPr>
            <a:r>
              <a:rPr sz="1150" b="0">
                <a:solidFill>
                  <a:srgbClr val="0F172A"/>
                </a:solidFill>
                <a:latin typeface="Calibri"/>
              </a:rPr>
              <a:t>Voder (InfoVis 2018), Calliope (TVCG 2021) — the non-LLM baselines.</a:t>
            </a:r>
          </a:p>
          <a:p>
            <a:pPr algn="l">
              <a:lnSpc>
                <a:spcPct val="114000"/>
              </a:lnSpc>
              <a:spcBef>
                <a:spcPts val="900"/>
              </a:spcBef>
            </a:pPr>
            <a:r>
              <a:rPr sz="1200" b="1">
                <a:solidFill>
                  <a:srgbClr val="0D1B5C"/>
                </a:solidFill>
                <a:latin typeface="Calibri"/>
              </a:rPr>
              <a:t>Generator plus critic</a:t>
            </a:r>
          </a:p>
          <a:p>
            <a:pPr algn="l">
              <a:lnSpc>
                <a:spcPct val="114000"/>
              </a:lnSpc>
              <a:spcBef>
                <a:spcPts val="200"/>
              </a:spcBef>
            </a:pPr>
            <a:r>
              <a:rPr sz="1150" b="0">
                <a:solidFill>
                  <a:srgbClr val="0F172A"/>
                </a:solidFill>
                <a:latin typeface="Calibri"/>
              </a:rPr>
              <a:t>DataNarrative (EMNLP 2024), Data Director (IEEE VIS 2024), MDSF (2025). The closest precedents to what we built.</a:t>
            </a:r>
          </a:p>
          <a:p>
            <a:pPr algn="l">
              <a:lnSpc>
                <a:spcPct val="114000"/>
              </a:lnSpc>
              <a:spcBef>
                <a:spcPts val="900"/>
              </a:spcBef>
            </a:pPr>
            <a:r>
              <a:rPr sz="1200" b="1">
                <a:solidFill>
                  <a:srgbClr val="0D1B5C"/>
                </a:solidFill>
                <a:latin typeface="Calibri"/>
              </a:rPr>
              <a:t>Interactive and agentic</a:t>
            </a:r>
          </a:p>
          <a:p>
            <a:pPr algn="l">
              <a:lnSpc>
                <a:spcPct val="114000"/>
              </a:lnSpc>
              <a:spcBef>
                <a:spcPts val="200"/>
              </a:spcBef>
            </a:pPr>
            <a:r>
              <a:rPr sz="1150" b="0">
                <a:solidFill>
                  <a:srgbClr val="0F172A"/>
                </a:solidFill>
                <a:latin typeface="Calibri"/>
              </a:rPr>
              <a:t>InReAcTable (UIST 2025) — a ReAct loop over tables.</a:t>
            </a:r>
          </a:p>
          <a:p>
            <a:pPr algn="l">
              <a:lnSpc>
                <a:spcPct val="114000"/>
              </a:lnSpc>
              <a:spcBef>
                <a:spcPts val="900"/>
              </a:spcBef>
            </a:pPr>
            <a:r>
              <a:rPr sz="1200" b="1">
                <a:solidFill>
                  <a:srgbClr val="0D1B5C"/>
                </a:solidFill>
                <a:latin typeface="Calibri"/>
              </a:rPr>
              <a:t>Benchmarks</a:t>
            </a:r>
          </a:p>
          <a:p>
            <a:pPr algn="l">
              <a:lnSpc>
                <a:spcPct val="114000"/>
              </a:lnSpc>
              <a:spcBef>
                <a:spcPts val="200"/>
              </a:spcBef>
            </a:pPr>
            <a:r>
              <a:rPr sz="1150" b="0">
                <a:solidFill>
                  <a:srgbClr val="0F172A"/>
                </a:solidFill>
                <a:latin typeface="Calibri"/>
              </a:rPr>
              <a:t>Kasner and Dušek (ACL 2024) on faithfulness; DataTales (2025) on data narration. Framing theory from Hullman and Diakopoulos (2011).</a:t>
            </a:r>
          </a:p>
        </p:txBody>
      </p:sp>
      <p:sp>
        <p:nvSpPr>
          <p:cNvPr id="7" name="TextBox 6"/>
          <p:cNvSpPr txBox="1"/>
          <p:nvPr/>
        </p:nvSpPr>
        <p:spPr>
          <a:xfrm>
            <a:off x="6537960" y="2103120"/>
            <a:ext cx="496519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WHAT WE RE-RAN OURSELVES</a:t>
            </a:r>
          </a:p>
        </p:txBody>
      </p:sp>
      <p:sp>
        <p:nvSpPr>
          <p:cNvPr id="8" name="Rectangle 7"/>
          <p:cNvSpPr/>
          <p:nvPr/>
        </p:nvSpPr>
        <p:spPr>
          <a:xfrm>
            <a:off x="6537960" y="2395728"/>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84848" y="2395728"/>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Kasner and Dušek — faithfulness</a:t>
            </a:r>
          </a:p>
          <a:p>
            <a:pPr algn="l">
              <a:lnSpc>
                <a:spcPct val="114000"/>
              </a:lnSpc>
              <a:spcBef>
                <a:spcPts val="200"/>
              </a:spcBef>
            </a:pPr>
            <a:r>
              <a:rPr sz="1150" b="0">
                <a:solidFill>
                  <a:srgbClr val="0F172A"/>
                </a:solidFill>
                <a:latin typeface="Calibri"/>
              </a:rPr>
              <a:t>gemma4:12b left ~18% of outputs with a semantic error, against the paper's &gt;80%. A 4B model regressed to 52%.</a:t>
            </a:r>
          </a:p>
        </p:txBody>
      </p:sp>
      <p:sp>
        <p:nvSpPr>
          <p:cNvPr id="10" name="Rectangle 9"/>
          <p:cNvSpPr/>
          <p:nvPr/>
        </p:nvSpPr>
        <p:spPr>
          <a:xfrm>
            <a:off x="6537960" y="3419856"/>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3419856"/>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DataTales — data narration</a:t>
            </a:r>
          </a:p>
          <a:p>
            <a:pPr algn="l">
              <a:lnSpc>
                <a:spcPct val="114000"/>
              </a:lnSpc>
              <a:spcBef>
                <a:spcPts val="200"/>
              </a:spcBef>
            </a:pPr>
            <a:r>
              <a:rPr sz="1150" b="0">
                <a:solidFill>
                  <a:srgbClr val="0F172A"/>
                </a:solidFill>
                <a:latin typeface="Calibri"/>
              </a:rPr>
              <a:t>Reading operations climb with scale (rate-of-change 43% → 89%, 4B to 12B). The causal operation scored 0% for both.</a:t>
            </a:r>
          </a:p>
        </p:txBody>
      </p:sp>
      <p:sp>
        <p:nvSpPr>
          <p:cNvPr id="12" name="Rectangle 11"/>
          <p:cNvSpPr/>
          <p:nvPr/>
        </p:nvSpPr>
        <p:spPr>
          <a:xfrm>
            <a:off x="6537960" y="4443984"/>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4848" y="4443984"/>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DataNarrative — architecture</a:t>
            </a:r>
          </a:p>
          <a:p>
            <a:pPr algn="l">
              <a:lnSpc>
                <a:spcPct val="114000"/>
              </a:lnSpc>
              <a:spcBef>
                <a:spcPts val="200"/>
              </a:spcBef>
            </a:pPr>
            <a:r>
              <a:rPr sz="1150" b="0">
                <a:solidFill>
                  <a:srgbClr val="0F172A"/>
                </a:solidFill>
                <a:latin typeface="Calibri"/>
              </a:rPr>
              <a:t>Reproduced the generate-and-verify pattern. It is the shape our own pipeline adapts.</a:t>
            </a:r>
          </a:p>
        </p:txBody>
      </p:sp>
      <p:sp>
        <p:nvSpPr>
          <p:cNvPr id="14" name="Rectangle 13"/>
          <p:cNvSpPr/>
          <p:nvPr/>
        </p:nvSpPr>
        <p:spPr>
          <a:xfrm>
            <a:off x="685800" y="5532120"/>
            <a:ext cx="10817352" cy="5669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32120"/>
            <a:ext cx="44450" cy="566928"/>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60136"/>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The conclusion that set our topic: open models are already fairly faithful at stating data, and every critic agent in the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agents. Only the second one is new.</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487168"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4871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103120" cy="14630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story from an evidence
pack built out of the table.</a:t>
            </a:r>
          </a:p>
        </p:txBody>
      </p:sp>
      <p:sp>
        <p:nvSpPr>
          <p:cNvPr id="8" name="TextBox 7"/>
          <p:cNvSpPr txBox="1"/>
          <p:nvPr/>
        </p:nvSpPr>
        <p:spPr>
          <a:xfrm>
            <a:off x="3209544" y="28346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9" name="Rectangle 8"/>
          <p:cNvSpPr/>
          <p:nvPr/>
        </p:nvSpPr>
        <p:spPr>
          <a:xfrm>
            <a:off x="3474720" y="2194560"/>
            <a:ext cx="2487168"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2194560"/>
            <a:ext cx="24871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7" y="2395728"/>
            <a:ext cx="2103120" cy="14630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MODERATE</a:t>
            </a:r>
          </a:p>
          <a:p>
            <a:pPr algn="l">
              <a:lnSpc>
                <a:spcPct val="114000"/>
              </a:lnSpc>
              <a:spcBef>
                <a:spcPts val="400"/>
              </a:spcBef>
            </a:pPr>
            <a:r>
              <a:rPr sz="1500" b="1">
                <a:solidFill>
                  <a:srgbClr val="20C4B0"/>
                </a:solidFill>
                <a:latin typeface="Arial"/>
              </a:rPr>
              <a:t>gemma4:31b</a:t>
            </a:r>
          </a:p>
          <a:p>
            <a:pPr algn="l">
              <a:lnSpc>
                <a:spcPct val="114000"/>
              </a:lnSpc>
              <a:spcBef>
                <a:spcPts val="400"/>
              </a:spcBef>
            </a:pPr>
            <a:r>
              <a:rPr sz="1100" b="0">
                <a:solidFill>
                  <a:srgbClr val="0F172A"/>
                </a:solidFill>
                <a:latin typeface="Calibri"/>
              </a:rPr>
              <a:t>Rewrites for tone only. Keeps the
numbers, drops the catastrophising.</a:t>
            </a:r>
          </a:p>
        </p:txBody>
      </p:sp>
      <p:sp>
        <p:nvSpPr>
          <p:cNvPr id="12" name="TextBox 11"/>
          <p:cNvSpPr txBox="1"/>
          <p:nvPr/>
        </p:nvSpPr>
        <p:spPr>
          <a:xfrm>
            <a:off x="5998464" y="28346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13" name="Rectangle 12"/>
          <p:cNvSpPr/>
          <p:nvPr/>
        </p:nvSpPr>
        <p:spPr>
          <a:xfrm>
            <a:off x="6263640" y="2194560"/>
            <a:ext cx="2487168"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194560"/>
            <a:ext cx="24871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395728"/>
            <a:ext cx="2103120" cy="14630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FACT-CHECK</a:t>
            </a:r>
          </a:p>
          <a:p>
            <a:pPr algn="l">
              <a:lnSpc>
                <a:spcPct val="114000"/>
              </a:lnSpc>
              <a:spcBef>
                <a:spcPts val="400"/>
              </a:spcBef>
            </a:pPr>
            <a:r>
              <a:rPr sz="1500" b="1">
                <a:solidFill>
                  <a:srgbClr val="0D1B5C"/>
                </a:solidFill>
                <a:latin typeface="Arial"/>
              </a:rPr>
              <a:t>local verifier</a:t>
            </a:r>
          </a:p>
          <a:p>
            <a:pPr algn="l">
              <a:lnSpc>
                <a:spcPct val="114000"/>
              </a:lnSpc>
              <a:spcBef>
                <a:spcPts val="400"/>
              </a:spcBef>
            </a:pPr>
            <a:r>
              <a:rPr sz="1100" b="0">
                <a:solidFill>
                  <a:srgbClr val="0F172A"/>
                </a:solidFill>
                <a:latin typeface="Calibri"/>
              </a:rPr>
              <a:t>Checks the stated numbers back
against the table.</a:t>
            </a:r>
          </a:p>
        </p:txBody>
      </p:sp>
      <p:sp>
        <p:nvSpPr>
          <p:cNvPr id="16" name="TextBox 15"/>
          <p:cNvSpPr txBox="1"/>
          <p:nvPr/>
        </p:nvSpPr>
        <p:spPr>
          <a:xfrm>
            <a:off x="8787384" y="28346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17" name="Rectangle 16"/>
          <p:cNvSpPr/>
          <p:nvPr/>
        </p:nvSpPr>
        <p:spPr>
          <a:xfrm>
            <a:off x="9052559" y="2194560"/>
            <a:ext cx="2487168"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52559" y="2194560"/>
            <a:ext cx="2487168" cy="5080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2395728"/>
            <a:ext cx="2103120" cy="14630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4   SELECT CHARTS</a:t>
            </a:r>
          </a:p>
          <a:p>
            <a:pPr algn="l">
              <a:lnSpc>
                <a:spcPct val="114000"/>
              </a:lnSpc>
              <a:spcBef>
                <a:spcPts val="400"/>
              </a:spcBef>
            </a:pPr>
            <a:r>
              <a:rPr sz="1500" b="1">
                <a:solidFill>
                  <a:srgbClr val="0E8F86"/>
                </a:solidFill>
                <a:latin typeface="Arial"/>
              </a:rPr>
              <a:t>local model</a:t>
            </a:r>
          </a:p>
          <a:p>
            <a:pPr algn="l">
              <a:lnSpc>
                <a:spcPct val="114000"/>
              </a:lnSpc>
              <a:spcBef>
                <a:spcPts val="400"/>
              </a:spcBef>
            </a:pPr>
            <a:r>
              <a:rPr sz="1100" b="0">
                <a:solidFill>
                  <a:srgbClr val="0F172A"/>
                </a:solidFill>
                <a:latin typeface="Calibri"/>
              </a:rPr>
              <a:t>Ranks pre-validated figures the
table can honestly carry.</a:t>
            </a:r>
          </a:p>
        </p:txBody>
      </p:sp>
      <p:sp>
        <p:nvSpPr>
          <p:cNvPr id="20" name="Rectangle 19"/>
          <p:cNvSpPr/>
          <p:nvPr/>
        </p:nvSpPr>
        <p:spPr>
          <a:xfrm>
            <a:off x="3474720" y="4041648"/>
            <a:ext cx="2487168" cy="31089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4087368"/>
            <a:ext cx="2487168" cy="274320"/>
          </a:xfrm>
          <a:prstGeom prst="rect">
            <a:avLst/>
          </a:prstGeom>
          <a:noFill/>
        </p:spPr>
        <p:txBody>
          <a:bodyPr wrap="square" anchor="t" lIns="0" rIns="0" tIns="0" bIns="0">
            <a:spAutoFit/>
          </a:bodyPr>
          <a:lstStyle/>
          <a:p>
            <a:pPr algn="ctr">
              <a:lnSpc>
                <a:spcPct val="100000"/>
              </a:lnSpc>
            </a:pPr>
            <a:r>
              <a:rPr sz="1000" b="1">
                <a:solidFill>
                  <a:srgbClr val="FFFFFF"/>
                </a:solidFill>
                <a:latin typeface="Arial"/>
              </a:rPr>
              <a:t>THE CONTRIBUTION</a:t>
            </a:r>
          </a:p>
        </p:txBody>
      </p:sp>
      <p:sp>
        <p:nvSpPr>
          <p:cNvPr id="22" name="TextBox 21"/>
          <p:cNvSpPr txBox="1"/>
          <p:nvPr/>
        </p:nvSpPr>
        <p:spPr>
          <a:xfrm>
            <a:off x="685800" y="4663440"/>
            <a:ext cx="5394960" cy="1280160"/>
          </a:xfrm>
          <a:prstGeom prst="rect">
            <a:avLst/>
          </a:prstGeom>
          <a:noFill/>
        </p:spPr>
        <p:txBody>
          <a:bodyPr wrap="square" anchor="t" lIns="0" rIns="0" tIns="0" bIns="0">
            <a:spAutoFit/>
          </a:bodyPr>
          <a:lstStyle/>
          <a:p>
            <a:pPr algn="l">
              <a:lnSpc>
                <a:spcPct val="116000"/>
              </a:lnSpc>
            </a:pPr>
            <a:r>
              <a:rPr sz="1350" b="1">
                <a:solidFill>
                  <a:srgbClr val="0D1B5C"/>
                </a:solidFill>
                <a:latin typeface="Calibri"/>
              </a:rPr>
              <a:t>Two datasets, because tone fails both ways.</a:t>
            </a:r>
          </a:p>
          <a:p>
            <a:pPr algn="l">
              <a:lnSpc>
                <a:spcPct val="116000"/>
              </a:lnSpc>
              <a:spcBef>
                <a:spcPts val="400"/>
              </a:spcBef>
            </a:pPr>
            <a:r>
              <a:rPr sz="120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3" name="Rectangle 22"/>
          <p:cNvSpPr/>
          <p:nvPr/>
        </p:nvSpPr>
        <p:spPr>
          <a:xfrm>
            <a:off x="6537960" y="4590288"/>
            <a:ext cx="496519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37960" y="4590288"/>
            <a:ext cx="44450" cy="13716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4754880"/>
            <a:ext cx="4526280" cy="109728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Why chart selection is a separate agent</a:t>
            </a:r>
          </a:p>
          <a:p>
            <a:pPr algn="l">
              <a:lnSpc>
                <a:spcPct val="114000"/>
              </a:lnSpc>
              <a:spcBef>
                <a:spcPts val="400"/>
              </a:spcBef>
            </a:pPr>
            <a:r>
              <a:rPr sz="1150" b="0">
                <a:solidFill>
                  <a:srgbClr val="0F172A"/>
                </a:solidFill>
                <a:latin typeface="Calibri"/>
              </a:rPr>
              <a:t>Hanging it off the moderator would entangle our one novel claim with an unrelated feature: every tone number afterwards would be measuring two changes at once.</a:t>
            </a:r>
          </a:p>
        </p:txBody>
      </p:sp>
      <p:sp>
        <p:nvSpPr>
          <p:cNvPr id="26" name="TextBox 25"/>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7" name="TextBox 26"/>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69080"/>
            <a:ext cx="5193792" cy="19202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69080"/>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70248"/>
            <a:ext cx="4754879" cy="15544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Accuracy per kind of claim, which is how we learned the causal case is hard.</a:t>
            </a:r>
          </a:p>
          <a:p>
            <a:pPr algn="l">
              <a:lnSpc>
                <a:spcPct val="112000"/>
              </a:lnSpc>
              <a:spcBef>
                <a:spcPts val="500"/>
              </a:spcBef>
            </a:pPr>
            <a:r>
              <a:rPr sz="1050" b="0">
                <a:solidFill>
                  <a:srgbClr val="0F172A"/>
                </a:solidFill>
                <a:latin typeface="Calibri"/>
              </a:rPr>
              <a:t>lookup, comparison   reading a value, ranking two</a:t>
            </a:r>
          </a:p>
          <a:p>
            <a:pPr algn="l">
              <a:lnSpc>
                <a:spcPct val="112000"/>
              </a:lnSpc>
              <a:spcBef>
                <a:spcPts val="500"/>
              </a:spcBef>
            </a:pPr>
            <a:r>
              <a:rPr sz="1050" b="0">
                <a:solidFill>
                  <a:srgbClr val="0F172A"/>
                </a:solidFill>
                <a:latin typeface="Calibri"/>
              </a:rPr>
              <a:t>trend, rate of change   direction and slope over a window</a:t>
            </a:r>
          </a:p>
          <a:p>
            <a:pPr algn="l">
              <a:lnSpc>
                <a:spcPct val="112000"/>
              </a:lnSpc>
              <a:spcBef>
                <a:spcPts val="500"/>
              </a:spcBef>
            </a:pPr>
            <a:r>
              <a:rPr sz="1050" b="0">
                <a:solidFill>
                  <a:srgbClr val="0F172A"/>
                </a:solidFill>
                <a:latin typeface="Calibri"/>
              </a:rPr>
              <a:t>causal   why it happened — scored 0%, and that is a groundedness measure against a masked reference, not a verdict on reasoning</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Two different things are called “trend”: trend selection above is a cherry-picking check on one story; trend below is an accuracy category from the benchmark re-run.</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INSIDE THE FOURTH AGENT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How a local model picks charts without hallucinating 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WHICH FORMS THE DATA CAN CARRY</a:t>
            </a:r>
          </a:p>
          <a:p>
            <a:pPr algn="l">
              <a:lnSpc>
                <a:spcPct val="114000"/>
              </a:lnSpc>
              <a:spcBef>
                <a:spcPts val="400"/>
              </a:spcBef>
            </a:pPr>
            <a:r>
              <a:rPr sz="1500" b="1">
                <a:solidFill>
                  <a:srgbClr val="1E66B8"/>
                </a:solidFill>
                <a:latin typeface="Arial"/>
              </a:rPr>
              <a:t>applicability.py</a:t>
            </a:r>
          </a:p>
          <a:p>
            <a:pPr algn="l">
              <a:lnSpc>
                <a:spcPct val="114000"/>
              </a:lnSpc>
              <a:spcBef>
                <a:spcPts val="500"/>
              </a:spcBef>
            </a:pPr>
            <a:r>
              <a:rPr sz="1150" b="0">
                <a:solidFill>
                  <a:srgbClr val="0F172A"/>
                </a:solidFill>
                <a:latin typeface="Calibri"/>
              </a:rPr>
              <a:t>Computed from column types. Exhaustive, instant, no tokens, and it cannot propose a map for a table with no geography.</a:t>
            </a:r>
          </a:p>
          <a:p>
            <a:pPr algn="l">
              <a:lnSpc>
                <a:spcPct val="114000"/>
              </a:lnSpc>
              <a:spcBef>
                <a:spcPts val="600"/>
              </a:spcBef>
            </a:pPr>
            <a:r>
              <a:rPr sz="1050" b="1">
                <a:solidFill>
                  <a:srgbClr val="1E66B8"/>
                </a:solidFill>
                <a:latin typeface="Calibri"/>
              </a:rPr>
              <a:t>closed  ·  free</a:t>
            </a:r>
          </a:p>
        </p:txBody>
      </p:sp>
      <p:sp>
        <p:nvSpPr>
          <p:cNvPr id="8" name="TextBox 7"/>
          <p:cNvSpPr txBox="1"/>
          <p:nvPr/>
        </p:nvSpPr>
        <p:spPr>
          <a:xfrm>
            <a:off x="4123944" y="30632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9" name="Rectangle 8"/>
          <p:cNvSpPr/>
          <p:nvPr/>
        </p:nvSpPr>
        <p:spPr>
          <a:xfrm>
            <a:off x="4398264"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8264" y="214884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7"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WHICH ARE WORTH SHOWING, AND WHY</a:t>
            </a:r>
          </a:p>
          <a:p>
            <a:pPr algn="l">
              <a:lnSpc>
                <a:spcPct val="114000"/>
              </a:lnSpc>
              <a:spcBef>
                <a:spcPts val="400"/>
              </a:spcBef>
            </a:pPr>
            <a:r>
              <a:rPr sz="1500" b="1">
                <a:solidFill>
                  <a:srgbClr val="20C4B0"/>
                </a:solidFill>
                <a:latin typeface="Arial"/>
              </a:rPr>
              <a:t>select.py</a:t>
            </a:r>
          </a:p>
          <a:p>
            <a:pPr algn="l">
              <a:lnSpc>
                <a:spcPct val="114000"/>
              </a:lnSpc>
              <a:spcBef>
                <a:spcPts val="500"/>
              </a:spcBef>
            </a:pPr>
            <a:r>
              <a:rPr sz="1150" b="0">
                <a:solidFill>
                  <a:srgbClr val="0F172A"/>
                </a:solidFill>
                <a:latin typeface="Calibri"/>
              </a:rPr>
              <a:t>The model picks an index out of candidates that are already drawable and already encoded against real columns. Its job is ranking and prose.</a:t>
            </a:r>
          </a:p>
          <a:p>
            <a:pPr algn="l">
              <a:lnSpc>
                <a:spcPct val="114000"/>
              </a:lnSpc>
              <a:spcBef>
                <a:spcPts val="600"/>
              </a:spcBef>
            </a:pPr>
            <a:r>
              <a:rPr sz="1050" b="1">
                <a:solidFill>
                  <a:srgbClr val="20C4B0"/>
                </a:solidFill>
                <a:latin typeface="Calibri"/>
              </a:rPr>
              <a:t>open  ·  a model</a:t>
            </a:r>
          </a:p>
        </p:txBody>
      </p:sp>
      <p:sp>
        <p:nvSpPr>
          <p:cNvPr id="12" name="TextBox 11"/>
          <p:cNvSpPr txBox="1"/>
          <p:nvPr/>
        </p:nvSpPr>
        <p:spPr>
          <a:xfrm>
            <a:off x="7836408" y="30632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13" name="Rectangle 12"/>
          <p:cNvSpPr/>
          <p:nvPr/>
        </p:nvSpPr>
        <p:spPr>
          <a:xfrm>
            <a:off x="8110727"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0727" y="214884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1"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WHETHER THE RESULT IS HONEST</a:t>
            </a:r>
          </a:p>
          <a:p>
            <a:pPr algn="l">
              <a:lnSpc>
                <a:spcPct val="114000"/>
              </a:lnSpc>
              <a:spcBef>
                <a:spcPts val="400"/>
              </a:spcBef>
            </a:pPr>
            <a:r>
              <a:rPr sz="1500" b="1">
                <a:solidFill>
                  <a:srgbClr val="0D1B5C"/>
                </a:solidFill>
                <a:latin typeface="Arial"/>
              </a:rPr>
              <a:t>validate.py</a:t>
            </a:r>
          </a:p>
          <a:p>
            <a:pPr algn="l">
              <a:lnSpc>
                <a:spcPct val="114000"/>
              </a:lnSpc>
              <a:spcBef>
                <a:spcPts val="500"/>
              </a:spcBef>
            </a:pPr>
            <a:r>
              <a:rPr sz="1150" b="0">
                <a:solidFill>
                  <a:srgbClr val="0F172A"/>
                </a:solidFill>
                <a:latin typeface="Calibri"/>
              </a:rPr>
              <a:t>A rejected spec is not dropped silently: the validator's own errors go back to the model for one retry.</a:t>
            </a:r>
          </a:p>
          <a:p>
            <a:pPr algn="l">
              <a:lnSpc>
                <a:spcPct val="114000"/>
              </a:lnSpc>
              <a:spcBef>
                <a:spcPts val="600"/>
              </a:spcBef>
            </a:pPr>
            <a:r>
              <a:rPr sz="1050" b="1">
                <a:solidFill>
                  <a:srgbClr val="0D1B5C"/>
                </a:solidFill>
                <a:latin typeface="Calibri"/>
              </a:rPr>
              <a:t>closed  ·  free</a:t>
            </a:r>
          </a:p>
        </p:txBody>
      </p:sp>
      <p:sp>
        <p:nvSpPr>
          <p:cNvPr id="16" name="TextBox 15"/>
          <p:cNvSpPr txBox="1"/>
          <p:nvPr/>
        </p:nvSpPr>
        <p:spPr>
          <a:xfrm>
            <a:off x="685800" y="4480560"/>
            <a:ext cx="5394960" cy="1371600"/>
          </a:xfrm>
          <a:prstGeom prst="rect">
            <a:avLst/>
          </a:prstGeom>
          <a:noFill/>
        </p:spPr>
        <p:txBody>
          <a:bodyPr wrap="square" anchor="t" lIns="0" rIns="0" tIns="0" bIns="0">
            <a:spAutoFit/>
          </a:bodyPr>
          <a:lstStyle/>
          <a:p>
            <a:pPr algn="l">
              <a:lnSpc>
                <a:spcPct val="115000"/>
              </a:lnSpc>
            </a:pPr>
            <a:r>
              <a:rPr sz="1300" b="1">
                <a:solidFill>
                  <a:srgbClr val="0D1B5C"/>
                </a:solidFill>
                <a:latin typeface="Calibri"/>
              </a:rPr>
              <a:t>Why split it at all</a:t>
            </a:r>
          </a:p>
          <a:p>
            <a:pPr algn="l">
              <a:lnSpc>
                <a:spcPct val="115000"/>
              </a:lnSpc>
              <a:spcBef>
                <a:spcPts val="400"/>
              </a:spcBef>
            </a:pPr>
            <a:r>
              <a:rPr sz="1150" b="0">
                <a:solidFill>
                  <a:srgbClr val="0F172A"/>
                </a:solidFill>
                <a:latin typeface="Calibri"/>
              </a:rPr>
              <a:t>Applicability is a closed question over column types, so computing it beats asking. That shrinks the prompt from seventeen forms with their rules to a handful of pre-validated candidates — which is what makes this reliable on an 8B local model rather than only on a frontier one.</a:t>
            </a:r>
          </a:p>
        </p:txBody>
      </p:sp>
      <p:sp>
        <p:nvSpPr>
          <p:cNvPr id="17" name="Rectangle 16"/>
          <p:cNvSpPr/>
          <p:nvPr/>
        </p:nvSpPr>
        <p:spPr>
          <a:xfrm>
            <a:off x="6537960" y="4407408"/>
            <a:ext cx="4965192" cy="14813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37960" y="4407408"/>
            <a:ext cx="44450" cy="1481328"/>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4572000"/>
            <a:ext cx="4526280" cy="1188720"/>
          </a:xfrm>
          <a:prstGeom prst="rect">
            <a:avLst/>
          </a:prstGeom>
          <a:noFill/>
        </p:spPr>
        <p:txBody>
          <a:bodyPr wrap="square" anchor="t" lIns="0" rIns="0" tIns="0" bIns="0">
            <a:spAutoFit/>
          </a:bodyPr>
          <a:lstStyle/>
          <a:p>
            <a:pPr algn="l">
              <a:lnSpc>
                <a:spcPct val="114000"/>
              </a:lnSpc>
            </a:pPr>
            <a:r>
              <a:rPr sz="1250" b="1">
                <a:solidFill>
                  <a:srgbClr val="B45409"/>
                </a:solidFill>
                <a:latin typeface="Calibri"/>
              </a:rPr>
              <a:t>Tool surface: specified, not wired</a:t>
            </a:r>
          </a:p>
          <a:p>
            <a:pPr algn="l">
              <a:lnSpc>
                <a:spcPct val="114000"/>
              </a:lnSpc>
              <a:spcBef>
                <a:spcPts val="400"/>
              </a:spcBef>
            </a:pPr>
            <a:r>
              <a:rPr sz="1150" b="0">
                <a:solidFill>
                  <a:srgbClr val="0F172A"/>
                </a:solidFill>
                <a:latin typeface="Calibri"/>
              </a:rPr>
              <a:t>The contract defines seven chart tools plus three read tools, and the build emits a JSON schema shaped to drop straight in as an MCP inputSchema. That is a written design, not something running today — the selector currently takes one structured call.</a:t>
            </a:r>
          </a:p>
        </p:txBody>
      </p:sp>
      <p:sp>
        <p:nvSpPr>
          <p:cNvPr id="20" name="TextBox 1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1" name="TextBox 2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verifier</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selector agent</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two agents a reader sees the output of</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6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600" b="1">
                <a:solidFill>
                  <a:srgbClr val="0D1B5C"/>
                </a:solidFill>
                <a:latin typeface="Arial"/>
              </a:rPr>
              <a:t>without losing the numbers, and at a cost in readability we can state.</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00" b="0">
                <a:solidFill>
                  <a:srgbClr val="526173"/>
                </a:solidFill>
                <a:latin typeface="Calibri"/>
              </a:rPr>
              <a:t>What we are not claiming: one judge family agreeing with itself, not a panel. No user study. Twenty-five human stories from five writer slots, not a controlled writer design.</a:t>
            </a:r>
          </a:p>
          <a:p>
            <a:pPr algn="l">
              <a:lnSpc>
                <a:spcPct val="116000"/>
              </a:lnSpc>
              <a:spcBef>
                <a:spcPts val="800"/>
              </a:spcBef>
            </a:pPr>
            <a:r>
              <a:rPr sz="1250" b="1">
                <a:solidFill>
                  <a:srgbClr val="0D1B5C"/>
                </a:solidFill>
                <a:latin typeface="Calibri"/>
              </a:rPr>
              <a:t>github.com/memoelsamadony/ai-powered-data-storytelling  ·  Thank you — questions welcome</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