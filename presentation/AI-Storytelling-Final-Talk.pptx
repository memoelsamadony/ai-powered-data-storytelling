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1 - Mahmoud   [0:15]   running total 0:15   ~43 words</a:t>
            </a:r>
          </a:p>
          <a:p/>
          <a:p>
            <a:r>
              <a:t>Good afternoon. We turn a public-health table into a written story. The part we</a:t>
            </a:r>
          </a:p>
          <a:p>
            <a:r>
              <a:t>want to defend today is the second agent: it reads that story and pulls the</a:t>
            </a:r>
          </a:p>
          <a:p>
            <a:r>
              <a:t>emotional tone back to what the evidence supports.</a:t>
            </a:r>
          </a:p>
          <a:p/>
          <a:p>
            <a:r>
              <a:t>Four sections, then a live demo.</a:t>
            </a:r>
          </a:p>
          <a:p/>
          <a:p>
            <a:r>
              <a:t>DELIVERY: do not read the names off the slide, they can see them. Go straight</a:t>
            </a:r>
          </a:p>
          <a:p>
            <a:r>
              <a:t>to the sentence about the second agent.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1 - Mahmoud   [0:45]   running total 1:00</a:t>
            </a:r>
          </a:p>
          <a:p/>
          <a:p>
            <a:r>
              <a:t>Agentic data storytelling already has a critic agent. DataNarrative, MDSF,</a:t>
            </a:r>
          </a:p>
          <a:p>
            <a:r>
              <a:t>Data Director - they all pair a generator with a second agent that checks the</a:t>
            </a:r>
          </a:p>
          <a:p>
            <a:r>
              <a:t>work. In every one of them, that second agent checks facts.</a:t>
            </a:r>
          </a:p>
          <a:p/>
          <a:p>
            <a:r>
              <a:t>But Hullman and Diakopoulos showed years ago that framing alone significantly</a:t>
            </a:r>
          </a:p>
          <a:p>
            <a:r>
              <a:t>changes how people read the same chart. So the interesting failure is not the</a:t>
            </a:r>
          </a:p>
          <a:p>
            <a:r>
              <a:t>false number. It is the true number delivered in a way that misleads.</a:t>
            </a:r>
          </a:p>
          <a:p/>
          <a:p>
            <a:r>
              <a:t>[POINT AT THE PANEL] Both of these are accurate. A fact-checker passes both.</a:t>
            </a:r>
          </a:p>
          <a:p>
            <a:r>
              <a:t>The first one is catastrophising and the second one is calibrated, and no</a:t>
            </a:r>
          </a:p>
          <a:p>
            <a:r>
              <a:t>system in the literature can tell them apart.</a:t>
            </a:r>
          </a:p>
          <a:p/>
          <a:p>
            <a:r>
              <a:t>DELIVERY: read both quotes out loud, slowly. This is the whole motivation and</a:t>
            </a:r>
          </a:p>
          <a:p>
            <a:r>
              <a:t>it lands in ten seconds if you actually perform the contrast.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1 - Mahmoud   [0:40]   running total 1:40   &gt;&gt;&gt; HAND TO OKASHA</a:t>
            </a:r>
          </a:p>
          <a:p/>
          <a:p>
            <a:r>
              <a:t>Three stages. A local model generates the story from an evidence pack we build</a:t>
            </a:r>
          </a:p>
          <a:p>
            <a:r>
              <a:t>out of the table. A second local model rewrites it for tone only. Claude Opus</a:t>
            </a:r>
          </a:p>
          <a:p>
            <a:r>
              <a:t>rates both versions blind.</a:t>
            </a:r>
          </a:p>
          <a:p/>
          <a:p>
            <a:r>
              <a:t>Only the middle stage is new. Everything else exists to make it measurable.</a:t>
            </a:r>
          </a:p>
          <a:p/>
          <a:p>
            <a:r>
              <a:t>And we use two datasets on purpose, because tone fails in two directions. The</a:t>
            </a:r>
          </a:p>
          <a:p>
            <a:r>
              <a:t>measles data invites alarmism. The WHO child-mortality data invites the</a:t>
            </a:r>
          </a:p>
          <a:p>
            <a:r>
              <a:t>opposite failure - false reassurance - and there the agent has to keep the</a:t>
            </a:r>
          </a:p>
          <a:p>
            <a:r>
              <a:t>inequality and the COVID reversal visible rather than flatten them.</a:t>
            </a:r>
          </a:p>
          <a:p/>
          <a:p>
            <a:r>
              <a:t>Ahmed will show you how we turned that into a number.</a:t>
            </a:r>
          </a:p>
          <a:p/>
          <a:p>
            <a:r>
              <a:t>DELIVERY: this is a signpost slide, keep moving. Do not name model versions</a:t>
            </a:r>
          </a:p>
          <a:p>
            <a:r>
              <a:t>twice, they are on the slide.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2 - Okasha   [0:50]   running total 2:30</a:t>
            </a:r>
          </a:p>
          <a:p/>
          <a:p>
            <a:r>
              <a:t>To measure tone we need a scale, so the judge rates every story twice: once for</a:t>
            </a:r>
          </a:p>
          <a:p>
            <a:r>
              <a:t>alarmism, once for optimism, one to five each.</a:t>
            </a:r>
          </a:p>
          <a:p/>
          <a:p>
            <a:r>
              <a:t>The important part is that both ends are failures. Five catastrophises. One is</a:t>
            </a:r>
          </a:p>
          <a:p>
            <a:r>
              <a:t>flat and hides the stakes. Only the middle is calibrated. So this is not a</a:t>
            </a:r>
          </a:p>
          <a:p>
            <a:r>
              <a:t>lower-is-better metric - an agent that just drains the feeling out of a story</a:t>
            </a:r>
          </a:p>
          <a:p>
            <a:r>
              <a:t>does badly on it too.</a:t>
            </a:r>
          </a:p>
          <a:p/>
          <a:p>
            <a:r>
              <a:t>One thing we had to fix. The first version showed the judge both stories in a</a:t>
            </a:r>
          </a:p>
          <a:p>
            <a:r>
              <a:t>single call, labelled before and after, always in that order. That tells the</a:t>
            </a:r>
          </a:p>
          <a:p>
            <a:r>
              <a:t>rater which one is the treatment. Now every story is scored alone, in its own</a:t>
            </a:r>
          </a:p>
          <a:p>
            <a:r>
              <a:t>call, with nothing to compare it to.</a:t>
            </a:r>
          </a:p>
          <a:p/>
          <a:p>
            <a:r>
              <a:t>DELIVERY: "both ends are failures" is the sentence that has to land. Pause</a:t>
            </a:r>
          </a:p>
          <a:p>
            <a:r>
              <a:t>after it.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2 - Okasha   [0:45]   running total 3:15   ~112 words   &gt;&gt;&gt; HAND TO ELSAADANI</a:t>
            </a:r>
          </a:p>
          <a:p/>
          <a:p>
            <a:r>
              <a:t>Every run we did, all thirty-five, on both axes. Red is the raw story, blue is</a:t>
            </a:r>
          </a:p>
          <a:p>
            <a:r>
              <a:t>after moderation, the arrow is what the agent did.</a:t>
            </a:r>
          </a:p>
          <a:p/>
          <a:p>
            <a:r>
              <a:t>The big diagonal cloud is the alarmist dataset behaving as expected.</a:t>
            </a:r>
          </a:p>
          <a:p/>
          <a:p>
            <a:r>
              <a:t>But look at the top. That is the child-mortality data. The raw story scored a</a:t>
            </a:r>
          </a:p>
          <a:p>
            <a:r>
              <a:t>perfectly calm two on alarmism and a four-and-a-half on optimism. "Nothing short</a:t>
            </a:r>
          </a:p>
          <a:p>
            <a:r>
              <a:t>of miraculous." A single-axis alarmism metric sees nothing wrong with that story</a:t>
            </a:r>
          </a:p>
          <a:p>
            <a:r>
              <a:t>at all. Ours moved it to two-point-five.</a:t>
            </a:r>
          </a:p>
          <a:p/>
          <a:p>
            <a:r>
              <a:t>Alarmism falls 3.74 to 2.09, optimism rises 2.15 to 2.60. Both toward the middle.</a:t>
            </a:r>
          </a:p>
          <a:p/>
          <a:p>
            <a:r>
              <a:t>Ahmed will tell you where that lands next to a person.</a:t>
            </a:r>
          </a:p>
          <a:p/>
          <a:p>
            <a:r>
              <a:t>DELIVERY: physically point at the top cluster. That one group of points is the</a:t>
            </a:r>
          </a:p>
          <a:p>
            <a:r>
              <a:t>entire justification for the second axis.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3 - Elsaadani   [0:50]   running total 4:05</a:t>
            </a:r>
          </a:p>
          <a:p/>
          <a:p>
            <a:r>
              <a:t>This is the main result. The four of us wrote 25 stories by hand from</a:t>
            </a:r>
          </a:p>
          <a:p>
            <a:r>
              <a:t>the same evidence packs, five per series, before seeing any machine output. The</a:t>
            </a:r>
          </a:p>
          <a:p>
            <a:r>
              <a:t>green band is where those human writers sit.</a:t>
            </a:r>
          </a:p>
          <a:p/>
          <a:p>
            <a:r>
              <a:t>Red is the machine's raw story. Blue is after moderation. On every one of the</a:t>
            </a:r>
          </a:p>
          <a:p>
            <a:r>
              <a:t>five series the arrow moves onto or into the human band.</a:t>
            </a:r>
          </a:p>
          <a:p/>
          <a:p>
            <a:r>
              <a:t>Overall, alarmism goes from 3.74 to</a:t>
            </a:r>
          </a:p>
          <a:p>
            <a:r>
              <a:t>2.09, and the human median is</a:t>
            </a:r>
          </a:p>
          <a:p>
            <a:r>
              <a:t>2.00. That is 32 runs that have a</a:t>
            </a:r>
          </a:p>
          <a:p>
            <a:r>
              <a:t>human counterpart to compare against.</a:t>
            </a:r>
          </a:p>
          <a:p/>
          <a:p>
            <a:r>
              <a:t>One caveat we put on the slide rather than hide: our human stories have no</a:t>
            </a:r>
          </a:p>
          <a:p>
            <a:r>
              <a:t>headline and the machine stories do. Headlines concentrate alarmism, so the</a:t>
            </a:r>
          </a:p>
          <a:p>
            <a:r>
              <a:t>human line is flattered, and every gap you see is a lower bound.</a:t>
            </a:r>
          </a:p>
          <a:p/>
          <a:p>
            <a:r>
              <a:t>DELIVERY: say the three numbers slowly - 3.74, 2.09, human 2.00 - and stop</a:t>
            </a:r>
          </a:p>
          <a:p>
            <a:r>
              <a:t>talking. That trio is the thesis of the whole project.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3 - Elsaadani   [0:40]   running total 4:45   ~100 words</a:t>
            </a:r>
          </a:p>
          <a:p/>
          <a:p>
            <a:r>
              <a:t>Fair question at this point: the judge is a language model too, so why believe</a:t>
            </a:r>
          </a:p>
          <a:p>
            <a:r>
              <a:t>it.</a:t>
            </a:r>
          </a:p>
          <a:p/>
          <a:p>
            <a:r>
              <a:t>So we rated every story three times, in independent calls. 64</a:t>
            </a:r>
          </a:p>
          <a:p>
            <a:r>
              <a:t>stories, 192 calls.</a:t>
            </a:r>
          </a:p>
          <a:p/>
          <a:p>
            <a:r>
              <a:t>ICC 0.991. Krippendorff alpha</a:t>
            </a:r>
          </a:p>
          <a:p>
            <a:r>
              <a:t>0.991. Identical on all three passes for</a:t>
            </a:r>
          </a:p>
          <a:p>
            <a:r>
              <a:t>41 of 64 stories, never</a:t>
            </a:r>
          </a:p>
          <a:p>
            <a:r>
              <a:t>off by more than half a point.</a:t>
            </a:r>
          </a:p>
          <a:p/>
          <a:p>
            <a:r>
              <a:t>The number that matters: the judge disagrees with itself by</a:t>
            </a:r>
          </a:p>
          <a:p>
            <a:r>
              <a:t>0.08 points. The same configuration at five</a:t>
            </a:r>
          </a:p>
          <a:p>
            <a:r>
              <a:t>seeds disagrees with itself by 0.42. So the spread in our results is the</a:t>
            </a:r>
          </a:p>
          <a:p>
            <a:r>
              <a:t>generator, not the instrument.</a:t>
            </a:r>
          </a:p>
          <a:p/>
          <a:p>
            <a:r>
              <a:t>Same model, same prompt, so this is self-consistency, not inter-rater</a:t>
            </a:r>
          </a:p>
          <a:p>
            <a:r>
              <a:t>reliability.</a:t>
            </a:r>
          </a:p>
          <a:p/>
          <a:p>
            <a:r>
              <a:t>DELIVERY: expect this exact question from the supervisors. Getting in front of</a:t>
            </a:r>
          </a:p>
          <a:p>
            <a:r>
              <a:t>it is worth the forty seconds.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3 - Elsaadani   [0:45]   running total 5:30   &gt;&gt;&gt; HAND TO RAMADAN</a:t>
            </a:r>
          </a:p>
          <a:p/>
          <a:p>
            <a:r>
              <a:t>We also asked the judge to compare the two versions directly, 20 pairs, blind,</a:t>
            </a:r>
          </a:p>
          <a:p>
            <a:r>
              <a:t>with the positions shuffled so it cannot learn that the second one is always</a:t>
            </a:r>
          </a:p>
          <a:p>
            <a:r>
              <a:t>the treatment.</a:t>
            </a:r>
          </a:p>
          <a:p/>
          <a:p>
            <a:r>
              <a:t>The moderated story won the overall verdict 20</a:t>
            </a:r>
          </a:p>
          <a:p>
            <a:r>
              <a:t>times out of 20, and won factual correctness 20</a:t>
            </a:r>
          </a:p>
          <a:p>
            <a:r>
              <a:t>out of 20 - the moderator is quietly re-grounding numbers the generator made up.</a:t>
            </a:r>
          </a:p>
          <a:p/>
          <a:p>
            <a:r>
              <a:t>But here is the honest part. On narrative quality the raw story was judged</a:t>
            </a:r>
          </a:p>
          <a:p>
            <a:r>
              <a:t>better in 12 of 20 pairs.</a:t>
            </a:r>
          </a:p>
          <a:p/>
          <a:p>
            <a:r>
              <a:t>Alarmism is not decoration. It is part of what made the story readable, and</a:t>
            </a:r>
          </a:p>
          <a:p>
            <a:r>
              <a:t>taking it out costs something. We would rather report that than bury it.</a:t>
            </a:r>
          </a:p>
          <a:p/>
          <a:p>
            <a:r>
              <a:t>DELIVERY: do not rush the last row. Volunteering the cost is what makes the</a:t>
            </a:r>
          </a:p>
          <a:p>
            <a:r>
              <a:t>rest of the deck credible.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4 - Ramadan   [0:55]   running total 6:25</a:t>
            </a:r>
          </a:p>
          <a:p/>
          <a:p>
            <a:r>
              <a:t>I want to show you the mistake we nearly published.</a:t>
            </a:r>
          </a:p>
          <a:p/>
          <a:p>
            <a:r>
              <a:t>Six generator-moderator combinations tied on moderated alarmism - all of them</a:t>
            </a:r>
          </a:p>
          <a:p>
            <a:r>
              <a:t>hit 2.0 - so we broke the tie on how many of the raw story's numbers survive</a:t>
            </a:r>
          </a:p>
          <a:p>
            <a:r>
              <a:t>moderation, and on one run each, qwen 4b beat llama 8b, 71% against 50%.</a:t>
            </a:r>
          </a:p>
          <a:p/>
          <a:p>
            <a:r>
              <a:t>Then we ran both five times at different seeds. It reverses. Qwen averages</a:t>
            </a:r>
          </a:p>
          <a:p>
            <a:r>
              <a:t>61% and llama averages</a:t>
            </a:r>
          </a:p>
          <a:p>
            <a:r>
              <a:t>90%. Welch t of minus 2.70, p of 0.029,</a:t>
            </a:r>
          </a:p>
          <a:p>
            <a:r>
              <a:t>Cohen's d of 1.71.</a:t>
            </a:r>
          </a:p>
          <a:p/>
          <a:p>
            <a:r>
              <a:t>Our recommendation had been backwards, and one run per cell was never going to</a:t>
            </a:r>
          </a:p>
          <a:p>
            <a:r>
              <a:t>show us that.</a:t>
            </a:r>
          </a:p>
          <a:p/>
          <a:p>
            <a:r>
              <a:t>Two things follow. The pipeline we are shipping is llama3.1:8b generating and</a:t>
            </a:r>
          </a:p>
          <a:p>
            <a:r>
              <a:t>gemma4:31b moderating. And the moderator lands on 2.10 either way, which is the</a:t>
            </a:r>
          </a:p>
          <a:p>
            <a:r>
              <a:t>more interesting finding: it converges on the same tone no matter who wrote the</a:t>
            </a:r>
          </a:p>
          <a:p>
            <a:r>
              <a:t>draft.</a:t>
            </a:r>
          </a:p>
          <a:p/>
          <a:p>
            <a:r>
              <a:t>DELIVERY: the strongest slide in the deck. Own the mistake, do not soften it.</a:t>
            </a:r>
          </a:p>
          <a:p>
            <a:r>
              <a:t>"Our recommendation had been backwards" is the line.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4 - Ramadan   [0:35]   running total 7:00   ~90 words   &gt;&gt;&gt; HAND TO THE DEMO</a:t>
            </a:r>
          </a:p>
          <a:p/>
          <a:p>
            <a:r>
              <a:t>What we are not claiming.</a:t>
            </a:r>
          </a:p>
          <a:p/>
          <a:p>
            <a:r>
              <a:t>The reliability figure is one judge agreeing with itself; a second judge family</a:t>
            </a:r>
          </a:p>
          <a:p>
            <a:r>
              <a:t>is the next run. There is no user study, so every preference you saw is a</a:t>
            </a:r>
          </a:p>
          <a:p>
            <a:r>
              <a:t>model's, not a reader's.</a:t>
            </a:r>
          </a:p>
          <a:p/>
          <a:p>
            <a:r>
              <a:t>And two corrections to our own interim report. We called the DataTales causal</a:t>
            </a:r>
          </a:p>
          <a:p>
            <a:r>
              <a:t>zero percent a capability wall; it is a groundedness measure and cannot carry</a:t>
            </a:r>
          </a:p>
          <a:p>
            <a:r>
              <a:t>that claim. And scale is not the lever: a 27b generator reached the same</a:t>
            </a:r>
          </a:p>
          <a:p>
            <a:r>
              <a:t>moderated 2.0 as the 4b, at</a:t>
            </a:r>
          </a:p>
          <a:p>
            <a:r>
              <a:t>5 minutes a run, n equals one.</a:t>
            </a:r>
          </a:p>
          <a:p/>
          <a:p>
            <a:r>
              <a:t>Let me show you the system.</a:t>
            </a:r>
          </a:p>
          <a:p/>
          <a:p>
            <a:r>
              <a:t>DELIVERY: this is 35 seconds, not a minute. Then switch to the browser, which</a:t>
            </a:r>
          </a:p>
          <a:p>
            <a:r>
              <a:t>should ALREADY be open on the dataset page.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 Ramadan drives, Okasha on standby with the screenshot folder   [3:30]</a:t>
            </a:r>
          </a:p>
          <a:p/>
          <a:p>
            <a:r>
              <a:t>DO NOT PRESENT THIS SLIDE. It is a holding slide for the switch to the browser.</a:t>
            </a:r>
          </a:p>
          <a:p>
            <a:r>
              <a:t>Full click path, timings and the fallback are in presentation/SPEAKER-SCRIPT.md.</a:t>
            </a:r>
          </a:p>
          <a:p/>
          <a:p>
            <a:r>
              <a:t>The one rule: a cold generation takes three to nine minutes. You cannot click</a:t>
            </a:r>
          </a:p>
          <a:p>
            <a:r>
              <a:t>Generate now and wait. Either the run was started at the beginning of the talk</a:t>
            </a:r>
          </a:p>
          <a:p>
            <a:r>
              <a:t>and is already finished, or you open a completed run. Both are covered in the</a:t>
            </a:r>
          </a:p>
          <a:p>
            <a:r>
              <a:t>script.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CLOSING - whoever finishes the demo   [0:15]</a:t>
            </a:r>
          </a:p>
          <a:p/>
          <a:p>
            <a:r>
              <a:t>One sentence: a second agent can move a generated data story onto the tone</a:t>
            </a:r>
          </a:p>
          <a:p>
            <a:r>
              <a:t>level of a person writing from the same table, without losing the numbers, and</a:t>
            </a:r>
          </a:p>
          <a:p>
            <a:r>
              <a:t>at a cost in readability we can put a number on.</a:t>
            </a:r>
          </a:p>
          <a:p/>
          <a:p>
            <a:r>
              <a:t>Thank you. Happy to take questions.</a:t>
            </a:r>
          </a:p>
          <a:p/>
          <a:p>
            <a:r>
              <a:t>Q&amp;A prep is at the end of presentation/SPEAKER-SCRIPT.md - read it on the way</a:t>
            </a:r>
          </a:p>
          <a:p>
            <a:r>
              <a:t>in. The three likely questions are the single judge, the missing user study,</a:t>
            </a:r>
          </a:p>
          <a:p>
            <a:r>
              <a:t>and why not just prompt the generator to be calm in the first place.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A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417320"/>
            <a:ext cx="10058400" cy="365760"/>
          </a:xfrm>
          <a:prstGeom prst="rect">
            <a:avLst/>
          </a:prstGeom>
          <a:noFill/>
        </p:spPr>
        <p:txBody>
          <a:bodyPr wrap="square" anchor="t" lIns="0" rIns="0" tIns="0" bIns="0">
            <a:spAutoFit/>
          </a:bodyPr>
          <a:lstStyle/>
          <a:p>
            <a:pPr algn="l">
              <a:lnSpc>
                <a:spcPct val="100000"/>
              </a:lnSpc>
            </a:pPr>
            <a:r>
              <a:rPr sz="1200" b="1">
                <a:solidFill>
                  <a:srgbClr val="20C4B0"/>
                </a:solidFill>
                <a:latin typeface="Arial"/>
              </a:rPr>
              <a:t>FINAL PRESENTATION  ·  10 AUGUST 2026  ·  ROOM 2042</a:t>
            </a:r>
          </a:p>
        </p:txBody>
      </p:sp>
      <p:sp>
        <p:nvSpPr>
          <p:cNvPr id="5" name="TextBox 4"/>
          <p:cNvSpPr txBox="1"/>
          <p:nvPr/>
        </p:nvSpPr>
        <p:spPr>
          <a:xfrm>
            <a:off x="1005840" y="1920240"/>
            <a:ext cx="10058400" cy="1463040"/>
          </a:xfrm>
          <a:prstGeom prst="rect">
            <a:avLst/>
          </a:prstGeom>
          <a:noFill/>
        </p:spPr>
        <p:txBody>
          <a:bodyPr wrap="square" anchor="t" lIns="0" rIns="0" tIns="0" bIns="0">
            <a:spAutoFit/>
          </a:bodyPr>
          <a:lstStyle/>
          <a:p>
            <a:pPr algn="l">
              <a:lnSpc>
                <a:spcPct val="105000"/>
              </a:lnSpc>
            </a:pPr>
            <a:r>
              <a:rPr sz="4200" b="1">
                <a:solidFill>
                  <a:srgbClr val="FFFFFF"/>
                </a:solidFill>
                <a:latin typeface="Arial"/>
              </a:rPr>
              <a:t>Moderating the Emotional Tone</a:t>
            </a:r>
          </a:p>
          <a:p>
            <a:pPr algn="l">
              <a:lnSpc>
                <a:spcPct val="105000"/>
              </a:lnSpc>
            </a:pPr>
            <a:r>
              <a:rPr sz="4200" b="1">
                <a:solidFill>
                  <a:srgbClr val="FFFFFF"/>
                </a:solidFill>
                <a:latin typeface="Arial"/>
              </a:rPr>
              <a:t>of a Generated Data Story</a:t>
            </a:r>
          </a:p>
        </p:txBody>
      </p:sp>
      <p:sp>
        <p:nvSpPr>
          <p:cNvPr id="6" name="Rectangle 5"/>
          <p:cNvSpPr/>
          <p:nvPr/>
        </p:nvSpPr>
        <p:spPr>
          <a:xfrm>
            <a:off x="1005840" y="3611880"/>
            <a:ext cx="1463040" cy="508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3931920"/>
            <a:ext cx="10058400" cy="822960"/>
          </a:xfrm>
          <a:prstGeom prst="rect">
            <a:avLst/>
          </a:prstGeom>
          <a:noFill/>
        </p:spPr>
        <p:txBody>
          <a:bodyPr wrap="square" anchor="t" lIns="0" rIns="0" tIns="0" bIns="0">
            <a:spAutoFit/>
          </a:bodyPr>
          <a:lstStyle/>
          <a:p>
            <a:pPr algn="l">
              <a:lnSpc>
                <a:spcPct val="120000"/>
              </a:lnSpc>
            </a:pPr>
            <a:r>
              <a:rPr sz="1500" b="0">
                <a:solidFill>
                  <a:srgbClr val="C7D4E6"/>
                </a:solidFill>
                <a:latin typeface="Calibri"/>
              </a:rPr>
              <a:t>An agent that reads a data story and pulls its tone back to what the evidence supports —</a:t>
            </a:r>
          </a:p>
          <a:p>
            <a:pPr algn="l">
              <a:lnSpc>
                <a:spcPct val="120000"/>
              </a:lnSpc>
              <a:spcBef>
                <a:spcPts val="200"/>
              </a:spcBef>
            </a:pPr>
            <a:r>
              <a:rPr sz="1500" b="0">
                <a:solidFill>
                  <a:srgbClr val="C7D4E6"/>
                </a:solidFill>
                <a:latin typeface="Calibri"/>
              </a:rPr>
              <a:t>measured against 25 stories our own team wrote from the same tables.</a:t>
            </a:r>
          </a:p>
        </p:txBody>
      </p:sp>
      <p:sp>
        <p:nvSpPr>
          <p:cNvPr id="8" name="TextBox 7"/>
          <p:cNvSpPr txBox="1"/>
          <p:nvPr/>
        </p:nvSpPr>
        <p:spPr>
          <a:xfrm>
            <a:off x="1005840" y="5120640"/>
            <a:ext cx="10058400" cy="822960"/>
          </a:xfrm>
          <a:prstGeom prst="rect">
            <a:avLst/>
          </a:prstGeom>
          <a:noFill/>
        </p:spPr>
        <p:txBody>
          <a:bodyPr wrap="square" anchor="t" lIns="0" rIns="0" tIns="0" bIns="0">
            <a:spAutoFit/>
          </a:bodyPr>
          <a:lstStyle/>
          <a:p>
            <a:pPr algn="l">
              <a:lnSpc>
                <a:spcPct val="100000"/>
              </a:lnSpc>
            </a:pPr>
            <a:r>
              <a:rPr sz="1400" b="1">
                <a:solidFill>
                  <a:srgbClr val="FFFFFF"/>
                </a:solidFill>
                <a:latin typeface="Calibri"/>
              </a:rPr>
              <a:t>Mahmoud Elsamadony  ·  Ahmed Okasha  ·  Ahmed Elsaadani  ·  Ahmed Ramadan</a:t>
            </a:r>
          </a:p>
          <a:p>
            <a:pPr algn="l">
              <a:lnSpc>
                <a:spcPct val="100000"/>
              </a:lnSpc>
              <a:spcBef>
                <a:spcPts val="500"/>
              </a:spcBef>
            </a:pPr>
            <a:r>
              <a:rPr sz="1150" b="0">
                <a:solidFill>
                  <a:srgbClr val="8A9CB8"/>
                </a:solidFill>
                <a:latin typeface="Calibri"/>
              </a:rPr>
              <a:t>Supervisors: Susmita Khadse, Julián Méndez  ·  Chair: Prof. Dr. Raimund Dachselt (IMLD)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02920"/>
            <a:ext cx="10789920" cy="274320"/>
          </a:xfrm>
          <a:prstGeom prst="rect">
            <a:avLst/>
          </a:prstGeom>
          <a:noFill/>
        </p:spPr>
        <p:txBody>
          <a:bodyPr wrap="square" anchor="t" lIns="0" rIns="0" tIns="0" bIns="0">
            <a:spAutoFit/>
          </a:bodyPr>
          <a:lstStyle/>
          <a:p>
            <a:pPr algn="l">
              <a:lnSpc>
                <a:spcPct val="100000"/>
              </a:lnSpc>
            </a:pPr>
            <a:r>
              <a:rPr sz="1100" b="1">
                <a:solidFill>
                  <a:srgbClr val="0E8F86"/>
                </a:solidFill>
                <a:latin typeface="Arial"/>
              </a:rPr>
              <a:t>THE GAP</a:t>
            </a:r>
          </a:p>
        </p:txBody>
      </p:sp>
      <p:sp>
        <p:nvSpPr>
          <p:cNvPr id="3" name="TextBox 2"/>
          <p:cNvSpPr txBox="1"/>
          <p:nvPr/>
        </p:nvSpPr>
        <p:spPr>
          <a:xfrm>
            <a:off x="685800" y="868680"/>
            <a:ext cx="10789920" cy="822960"/>
          </a:xfrm>
          <a:prstGeom prst="rect">
            <a:avLst/>
          </a:prstGeom>
          <a:noFill/>
        </p:spPr>
        <p:txBody>
          <a:bodyPr wrap="square" anchor="t" lIns="0" rIns="0" tIns="0" bIns="0">
            <a:spAutoFit/>
          </a:bodyPr>
          <a:lstStyle/>
          <a:p>
            <a:pPr algn="l">
              <a:lnSpc>
                <a:spcPct val="100000"/>
              </a:lnSpc>
            </a:pPr>
            <a:r>
              <a:rPr sz="3000" b="1">
                <a:solidFill>
                  <a:srgbClr val="0D1B5C"/>
                </a:solidFill>
                <a:latin typeface="Arial"/>
              </a:rPr>
              <a:t>Everyone checks the facts. Nobody checks the tone.</a:t>
            </a:r>
          </a:p>
        </p:txBody>
      </p:sp>
      <p:sp>
        <p:nvSpPr>
          <p:cNvPr id="4" name="Rectangle 3"/>
          <p:cNvSpPr/>
          <p:nvPr/>
        </p:nvSpPr>
        <p:spPr>
          <a:xfrm>
            <a:off x="685800" y="1664208"/>
            <a:ext cx="1005840" cy="4445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240280"/>
            <a:ext cx="5806440" cy="3657600"/>
          </a:xfrm>
          <a:prstGeom prst="rect">
            <a:avLst/>
          </a:prstGeom>
          <a:noFill/>
        </p:spPr>
        <p:txBody>
          <a:bodyPr wrap="square" anchor="t" lIns="0" rIns="0" tIns="0" bIns="0">
            <a:spAutoFit/>
          </a:bodyPr>
          <a:lstStyle/>
          <a:p>
            <a:pPr algn="l">
              <a:lnSpc>
                <a:spcPct val="115000"/>
              </a:lnSpc>
            </a:pPr>
            <a:r>
              <a:rPr sz="1600" b="1">
                <a:solidFill>
                  <a:srgbClr val="0D1B5C"/>
                </a:solidFill>
                <a:latin typeface="Calibri"/>
              </a:rPr>
              <a:t>▪  Agentic data storytelling already has a critic.</a:t>
            </a:r>
          </a:p>
          <a:p>
            <a:pPr algn="l">
              <a:lnSpc>
                <a:spcPct val="115000"/>
              </a:lnSpc>
              <a:spcBef>
                <a:spcPts val="200"/>
              </a:spcBef>
            </a:pPr>
            <a:r>
              <a:rPr sz="1500" b="0">
                <a:solidFill>
                  <a:srgbClr val="0F172A"/>
                </a:solidFill>
                <a:latin typeface="Calibri"/>
              </a:rPr>
              <a:t>     DataNarrative, MDSF and Data Director all pair a generator with a second agent. In every one of them that agent verifies facts.</a:t>
            </a:r>
          </a:p>
          <a:p>
            <a:pPr algn="l">
              <a:lnSpc>
                <a:spcPct val="115000"/>
              </a:lnSpc>
              <a:spcBef>
                <a:spcPts val="1300"/>
              </a:spcBef>
            </a:pPr>
            <a:r>
              <a:rPr sz="1600" b="1">
                <a:solidFill>
                  <a:srgbClr val="0D1B5C"/>
                </a:solidFill>
                <a:latin typeface="Calibri"/>
              </a:rPr>
              <a:t>▪  But framing moves the reader on its own.</a:t>
            </a:r>
          </a:p>
          <a:p>
            <a:pPr algn="l">
              <a:lnSpc>
                <a:spcPct val="115000"/>
              </a:lnSpc>
              <a:spcBef>
                <a:spcPts val="200"/>
              </a:spcBef>
            </a:pPr>
            <a:r>
              <a:rPr sz="1500" b="0">
                <a:solidFill>
                  <a:srgbClr val="0F172A"/>
                </a:solidFill>
                <a:latin typeface="Calibri"/>
              </a:rPr>
              <a:t>     Hullman and Diakopoulos show editorial framing significantly changes how the same chart is interpreted. That is the theoretical basis for treating tone as a thing worth checking.</a:t>
            </a:r>
          </a:p>
          <a:p>
            <a:pPr algn="l">
              <a:lnSpc>
                <a:spcPct val="115000"/>
              </a:lnSpc>
              <a:spcBef>
                <a:spcPts val="1300"/>
              </a:spcBef>
            </a:pPr>
            <a:r>
              <a:rPr sz="1600" b="1">
                <a:solidFill>
                  <a:srgbClr val="0D1B5C"/>
                </a:solidFill>
                <a:latin typeface="Calibri"/>
              </a:rPr>
              <a:t>▪  So a story can be fully correct and still mislead.</a:t>
            </a:r>
          </a:p>
          <a:p>
            <a:pPr algn="l">
              <a:lnSpc>
                <a:spcPct val="115000"/>
              </a:lnSpc>
              <a:spcBef>
                <a:spcPts val="200"/>
              </a:spcBef>
            </a:pPr>
            <a:r>
              <a:rPr sz="1500" b="0">
                <a:solidFill>
                  <a:srgbClr val="0F172A"/>
                </a:solidFill>
                <a:latin typeface="Calibri"/>
              </a:rPr>
              <a:t>     No published system moderates the affective tone of a data narrative. That gap is our contribution.</a:t>
            </a:r>
          </a:p>
        </p:txBody>
      </p:sp>
      <p:sp>
        <p:nvSpPr>
          <p:cNvPr id="6" name="Rectangle 5"/>
          <p:cNvSpPr/>
          <p:nvPr/>
        </p:nvSpPr>
        <p:spPr>
          <a:xfrm>
            <a:off x="6858000" y="2148840"/>
            <a:ext cx="4645152" cy="320040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0" y="2148840"/>
            <a:ext cx="4645152" cy="50800"/>
          </a:xfrm>
          <a:prstGeom prst="rect">
            <a:avLst/>
          </a:prstGeom>
          <a:solidFill>
            <a:srgbClr val="1E66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78040" y="2423160"/>
            <a:ext cx="4023360" cy="2743200"/>
          </a:xfrm>
          <a:prstGeom prst="rect">
            <a:avLst/>
          </a:prstGeom>
          <a:noFill/>
        </p:spPr>
        <p:txBody>
          <a:bodyPr wrap="square" anchor="t" lIns="0" rIns="0" tIns="0" bIns="0">
            <a:spAutoFit/>
          </a:bodyPr>
          <a:lstStyle/>
          <a:p>
            <a:pPr algn="l">
              <a:lnSpc>
                <a:spcPct val="115000"/>
              </a:lnSpc>
            </a:pPr>
            <a:r>
              <a:rPr sz="1000" b="1">
                <a:solidFill>
                  <a:srgbClr val="526173"/>
                </a:solidFill>
                <a:latin typeface="Arial"/>
              </a:rPr>
              <a:t>EVERY NUMBER BELOW IS CORRECT</a:t>
            </a:r>
          </a:p>
          <a:p>
            <a:pPr algn="l">
              <a:lnSpc>
                <a:spcPct val="115000"/>
              </a:lnSpc>
              <a:spcBef>
                <a:spcPts val="1400"/>
              </a:spcBef>
            </a:pPr>
            <a:r>
              <a:rPr sz="1600" b="1">
                <a:solidFill>
                  <a:srgbClr val="B45409"/>
                </a:solidFill>
                <a:latin typeface="Calibri"/>
              </a:rPr>
              <a:t>“The world faces a catastrophic resurgence as a deadly disease roars back.”</a:t>
            </a:r>
          </a:p>
          <a:p>
            <a:pPr algn="l">
              <a:lnSpc>
                <a:spcPct val="115000"/>
              </a:lnSpc>
              <a:spcBef>
                <a:spcPts val="600"/>
              </a:spcBef>
            </a:pPr>
            <a:r>
              <a:rPr sz="1200" b="0">
                <a:solidFill>
                  <a:srgbClr val="526173"/>
                </a:solidFill>
                <a:latin typeface="Calibri"/>
              </a:rPr>
              <a:t>A fact-checker passes this. It cites nothing false.</a:t>
            </a:r>
          </a:p>
          <a:p>
            <a:pPr algn="l">
              <a:lnSpc>
                <a:spcPct val="115000"/>
              </a:lnSpc>
              <a:spcBef>
                <a:spcPts val="1600"/>
              </a:spcBef>
            </a:pPr>
            <a:r>
              <a:rPr sz="1600" b="1">
                <a:solidFill>
                  <a:srgbClr val="0E8F86"/>
                </a:solidFill>
                <a:latin typeface="Calibri"/>
              </a:rPr>
              <a:t>“Cases rose for a third year while coverage stalled near 84%, below the 95% herd-immunity threshold.”</a:t>
            </a:r>
          </a:p>
          <a:p>
            <a:pPr algn="l">
              <a:lnSpc>
                <a:spcPct val="115000"/>
              </a:lnSpc>
              <a:spcBef>
                <a:spcPts val="600"/>
              </a:spcBef>
            </a:pPr>
            <a:r>
              <a:rPr sz="1200" b="0">
                <a:solidFill>
                  <a:srgbClr val="526173"/>
                </a:solidFill>
                <a:latin typeface="Calibri"/>
              </a:rPr>
              <a:t>Same table. Same facts. A different reader reaction.</a:t>
            </a:r>
          </a:p>
        </p:txBody>
      </p:sp>
      <p:sp>
        <p:nvSpPr>
          <p:cNvPr id="9" name="TextBox 8"/>
          <p:cNvSpPr txBox="1"/>
          <p:nvPr/>
        </p:nvSpPr>
        <p:spPr>
          <a:xfrm>
            <a:off x="685800" y="6355080"/>
            <a:ext cx="8686800" cy="274320"/>
          </a:xfrm>
          <a:prstGeom prst="rect">
            <a:avLst/>
          </a:prstGeom>
          <a:noFill/>
        </p:spPr>
        <p:txBody>
          <a:bodyPr wrap="square" anchor="t" lIns="0" rIns="0" tIns="0" bIns="0">
            <a:spAutoFit/>
          </a:bodyPr>
          <a:lstStyle/>
          <a:p>
            <a:pPr algn="l">
              <a:lnSpc>
                <a:spcPct val="100000"/>
              </a:lnSpc>
            </a:pPr>
            <a:r>
              <a:rPr sz="900" b="0">
                <a:solidFill>
                  <a:srgbClr val="526173"/>
                </a:solidFill>
                <a:latin typeface="Calibri"/>
              </a:rPr>
              <a:t>AI-Powered Data Storytelling  ·  CMS Team Project  ·  TU Dresden  ·  SoSe 2026</a:t>
            </a:r>
          </a:p>
        </p:txBody>
      </p:sp>
      <p:sp>
        <p:nvSpPr>
          <p:cNvPr id="10" name="TextBox 9"/>
          <p:cNvSpPr txBox="1"/>
          <p:nvPr/>
        </p:nvSpPr>
        <p:spPr>
          <a:xfrm>
            <a:off x="10972800" y="6355080"/>
            <a:ext cx="548640" cy="274320"/>
          </a:xfrm>
          <a:prstGeom prst="rect">
            <a:avLst/>
          </a:prstGeom>
          <a:noFill/>
        </p:spPr>
        <p:txBody>
          <a:bodyPr wrap="square" anchor="t" lIns="0" rIns="0" tIns="0" bIns="0">
            <a:spAutoFit/>
          </a:bodyPr>
          <a:lstStyle/>
          <a:p>
            <a:pPr algn="r">
              <a:lnSpc>
                <a:spcPct val="100000"/>
              </a:lnSpc>
            </a:pPr>
            <a:r>
              <a:rPr sz="900" b="0">
                <a:solidFill>
                  <a:srgbClr val="526173"/>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02920"/>
            <a:ext cx="10789920" cy="274320"/>
          </a:xfrm>
          <a:prstGeom prst="rect">
            <a:avLst/>
          </a:prstGeom>
          <a:noFill/>
        </p:spPr>
        <p:txBody>
          <a:bodyPr wrap="square" anchor="t" lIns="0" rIns="0" tIns="0" bIns="0">
            <a:spAutoFit/>
          </a:bodyPr>
          <a:lstStyle/>
          <a:p>
            <a:pPr algn="l">
              <a:lnSpc>
                <a:spcPct val="100000"/>
              </a:lnSpc>
            </a:pPr>
            <a:r>
              <a:rPr sz="1100" b="1">
                <a:solidFill>
                  <a:srgbClr val="0E8F86"/>
                </a:solidFill>
                <a:latin typeface="Arial"/>
              </a:rPr>
              <a:t>THE SYSTEM</a:t>
            </a:r>
          </a:p>
        </p:txBody>
      </p:sp>
      <p:sp>
        <p:nvSpPr>
          <p:cNvPr id="3" name="TextBox 2"/>
          <p:cNvSpPr txBox="1"/>
          <p:nvPr/>
        </p:nvSpPr>
        <p:spPr>
          <a:xfrm>
            <a:off x="685800" y="868680"/>
            <a:ext cx="10789920" cy="822960"/>
          </a:xfrm>
          <a:prstGeom prst="rect">
            <a:avLst/>
          </a:prstGeom>
          <a:noFill/>
        </p:spPr>
        <p:txBody>
          <a:bodyPr wrap="square" anchor="t" lIns="0" rIns="0" tIns="0" bIns="0">
            <a:spAutoFit/>
          </a:bodyPr>
          <a:lstStyle/>
          <a:p>
            <a:pPr algn="l">
              <a:lnSpc>
                <a:spcPct val="100000"/>
              </a:lnSpc>
            </a:pPr>
            <a:r>
              <a:rPr sz="3000" b="1">
                <a:solidFill>
                  <a:srgbClr val="0D1B5C"/>
                </a:solidFill>
                <a:latin typeface="Arial"/>
              </a:rPr>
              <a:t>Generate, moderate, judge — the middle agent is ours</a:t>
            </a:r>
          </a:p>
        </p:txBody>
      </p:sp>
      <p:sp>
        <p:nvSpPr>
          <p:cNvPr id="4" name="Rectangle 3"/>
          <p:cNvSpPr/>
          <p:nvPr/>
        </p:nvSpPr>
        <p:spPr>
          <a:xfrm>
            <a:off x="685800" y="1664208"/>
            <a:ext cx="1005840" cy="4445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2240280"/>
            <a:ext cx="3401568" cy="1874519"/>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2240280"/>
            <a:ext cx="3401568" cy="50800"/>
          </a:xfrm>
          <a:prstGeom prst="rect">
            <a:avLst/>
          </a:prstGeom>
          <a:solidFill>
            <a:srgbClr val="1E66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2450592"/>
            <a:ext cx="2926080" cy="1554480"/>
          </a:xfrm>
          <a:prstGeom prst="rect">
            <a:avLst/>
          </a:prstGeom>
          <a:noFill/>
        </p:spPr>
        <p:txBody>
          <a:bodyPr wrap="square" anchor="t" lIns="0" rIns="0" tIns="0" bIns="0">
            <a:spAutoFit/>
          </a:bodyPr>
          <a:lstStyle/>
          <a:p>
            <a:pPr algn="l">
              <a:lnSpc>
                <a:spcPct val="115000"/>
              </a:lnSpc>
            </a:pPr>
            <a:r>
              <a:rPr sz="1100" b="1">
                <a:solidFill>
                  <a:srgbClr val="526173"/>
                </a:solidFill>
                <a:latin typeface="Arial"/>
              </a:rPr>
              <a:t>1   GENERATE</a:t>
            </a:r>
          </a:p>
          <a:p>
            <a:pPr algn="l">
              <a:lnSpc>
                <a:spcPct val="115000"/>
              </a:lnSpc>
              <a:spcBef>
                <a:spcPts val="600"/>
              </a:spcBef>
            </a:pPr>
            <a:r>
              <a:rPr sz="1900" b="1">
                <a:solidFill>
                  <a:srgbClr val="1E66B8"/>
                </a:solidFill>
                <a:latin typeface="Arial"/>
              </a:rPr>
              <a:t>llama3.1:8b</a:t>
            </a:r>
          </a:p>
          <a:p>
            <a:pPr algn="l">
              <a:lnSpc>
                <a:spcPct val="115000"/>
              </a:lnSpc>
              <a:spcBef>
                <a:spcPts val="600"/>
              </a:spcBef>
            </a:pPr>
            <a:r>
              <a:rPr sz="1200" b="0">
                <a:solidFill>
                  <a:srgbClr val="0F172A"/>
                </a:solidFill>
                <a:latin typeface="Calibri"/>
              </a:rPr>
              <a:t>Writes the story from an evidence pack
built out of the table. Local, via Ollama.</a:t>
            </a:r>
          </a:p>
        </p:txBody>
      </p:sp>
      <p:sp>
        <p:nvSpPr>
          <p:cNvPr id="8" name="TextBox 7"/>
          <p:cNvSpPr txBox="1"/>
          <p:nvPr/>
        </p:nvSpPr>
        <p:spPr>
          <a:xfrm>
            <a:off x="4142232" y="2971800"/>
            <a:ext cx="274320" cy="365760"/>
          </a:xfrm>
          <a:prstGeom prst="rect">
            <a:avLst/>
          </a:prstGeom>
          <a:noFill/>
        </p:spPr>
        <p:txBody>
          <a:bodyPr wrap="square" anchor="t" lIns="0" rIns="0" tIns="0" bIns="0">
            <a:spAutoFit/>
          </a:bodyPr>
          <a:lstStyle/>
          <a:p>
            <a:pPr algn="l">
              <a:lnSpc>
                <a:spcPct val="100000"/>
              </a:lnSpc>
            </a:pPr>
            <a:r>
              <a:rPr sz="2600" b="1">
                <a:solidFill>
                  <a:srgbClr val="D9DFE7"/>
                </a:solidFill>
                <a:latin typeface="Arial"/>
              </a:rPr>
              <a:t>›</a:t>
            </a:r>
          </a:p>
        </p:txBody>
      </p:sp>
      <p:sp>
        <p:nvSpPr>
          <p:cNvPr id="9" name="Rectangle 8"/>
          <p:cNvSpPr/>
          <p:nvPr/>
        </p:nvSpPr>
        <p:spPr>
          <a:xfrm>
            <a:off x="4453128" y="2240280"/>
            <a:ext cx="3401568" cy="1874519"/>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453128" y="2240280"/>
            <a:ext cx="3401568" cy="508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27448" y="2450592"/>
            <a:ext cx="2926080" cy="1554480"/>
          </a:xfrm>
          <a:prstGeom prst="rect">
            <a:avLst/>
          </a:prstGeom>
          <a:noFill/>
        </p:spPr>
        <p:txBody>
          <a:bodyPr wrap="square" anchor="t" lIns="0" rIns="0" tIns="0" bIns="0">
            <a:spAutoFit/>
          </a:bodyPr>
          <a:lstStyle/>
          <a:p>
            <a:pPr algn="l">
              <a:lnSpc>
                <a:spcPct val="115000"/>
              </a:lnSpc>
            </a:pPr>
            <a:r>
              <a:rPr sz="1100" b="1">
                <a:solidFill>
                  <a:srgbClr val="526173"/>
                </a:solidFill>
                <a:latin typeface="Arial"/>
              </a:rPr>
              <a:t>2   MODERATE</a:t>
            </a:r>
          </a:p>
          <a:p>
            <a:pPr algn="l">
              <a:lnSpc>
                <a:spcPct val="115000"/>
              </a:lnSpc>
              <a:spcBef>
                <a:spcPts val="600"/>
              </a:spcBef>
            </a:pPr>
            <a:r>
              <a:rPr sz="1900" b="1">
                <a:solidFill>
                  <a:srgbClr val="0E8F86"/>
                </a:solidFill>
                <a:latin typeface="Arial"/>
              </a:rPr>
              <a:t>gemma4:31b</a:t>
            </a:r>
          </a:p>
          <a:p>
            <a:pPr algn="l">
              <a:lnSpc>
                <a:spcPct val="115000"/>
              </a:lnSpc>
              <a:spcBef>
                <a:spcPts val="600"/>
              </a:spcBef>
            </a:pPr>
            <a:r>
              <a:rPr sz="1200" b="0">
                <a:solidFill>
                  <a:srgbClr val="0F172A"/>
                </a:solidFill>
                <a:latin typeface="Calibri"/>
              </a:rPr>
              <a:t>Rewrites for tone only. Keeps the
numbers, drops the catastrophising.</a:t>
            </a:r>
          </a:p>
        </p:txBody>
      </p:sp>
      <p:sp>
        <p:nvSpPr>
          <p:cNvPr id="12" name="TextBox 11"/>
          <p:cNvSpPr txBox="1"/>
          <p:nvPr/>
        </p:nvSpPr>
        <p:spPr>
          <a:xfrm>
            <a:off x="7909560" y="2971800"/>
            <a:ext cx="274320" cy="365760"/>
          </a:xfrm>
          <a:prstGeom prst="rect">
            <a:avLst/>
          </a:prstGeom>
          <a:noFill/>
        </p:spPr>
        <p:txBody>
          <a:bodyPr wrap="square" anchor="t" lIns="0" rIns="0" tIns="0" bIns="0">
            <a:spAutoFit/>
          </a:bodyPr>
          <a:lstStyle/>
          <a:p>
            <a:pPr algn="l">
              <a:lnSpc>
                <a:spcPct val="100000"/>
              </a:lnSpc>
            </a:pPr>
            <a:r>
              <a:rPr sz="2600" b="1">
                <a:solidFill>
                  <a:srgbClr val="D9DFE7"/>
                </a:solidFill>
                <a:latin typeface="Arial"/>
              </a:rPr>
              <a:t>›</a:t>
            </a:r>
          </a:p>
        </p:txBody>
      </p:sp>
      <p:sp>
        <p:nvSpPr>
          <p:cNvPr id="13" name="Rectangle 12"/>
          <p:cNvSpPr/>
          <p:nvPr/>
        </p:nvSpPr>
        <p:spPr>
          <a:xfrm>
            <a:off x="8220456" y="2240280"/>
            <a:ext cx="3401568" cy="1874519"/>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220456" y="2240280"/>
            <a:ext cx="3401568" cy="50800"/>
          </a:xfrm>
          <a:prstGeom prst="rect">
            <a:avLst/>
          </a:prstGeom>
          <a:solidFill>
            <a:srgbClr val="0D1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94776" y="2450592"/>
            <a:ext cx="2926080" cy="1554480"/>
          </a:xfrm>
          <a:prstGeom prst="rect">
            <a:avLst/>
          </a:prstGeom>
          <a:noFill/>
        </p:spPr>
        <p:txBody>
          <a:bodyPr wrap="square" anchor="t" lIns="0" rIns="0" tIns="0" bIns="0">
            <a:spAutoFit/>
          </a:bodyPr>
          <a:lstStyle/>
          <a:p>
            <a:pPr algn="l">
              <a:lnSpc>
                <a:spcPct val="115000"/>
              </a:lnSpc>
            </a:pPr>
            <a:r>
              <a:rPr sz="1100" b="1">
                <a:solidFill>
                  <a:srgbClr val="526173"/>
                </a:solidFill>
                <a:latin typeface="Arial"/>
              </a:rPr>
              <a:t>3   JUDGE</a:t>
            </a:r>
          </a:p>
          <a:p>
            <a:pPr algn="l">
              <a:lnSpc>
                <a:spcPct val="115000"/>
              </a:lnSpc>
              <a:spcBef>
                <a:spcPts val="600"/>
              </a:spcBef>
            </a:pPr>
            <a:r>
              <a:rPr sz="1900" b="1">
                <a:solidFill>
                  <a:srgbClr val="0D1B5C"/>
                </a:solidFill>
                <a:latin typeface="Arial"/>
              </a:rPr>
              <a:t>Claude Opus</a:t>
            </a:r>
          </a:p>
          <a:p>
            <a:pPr algn="l">
              <a:lnSpc>
                <a:spcPct val="115000"/>
              </a:lnSpc>
              <a:spcBef>
                <a:spcPts val="600"/>
              </a:spcBef>
            </a:pPr>
            <a:r>
              <a:rPr sz="1200" b="0">
                <a:solidFill>
                  <a:srgbClr val="0F172A"/>
                </a:solidFill>
                <a:latin typeface="Calibri"/>
              </a:rPr>
              <a:t>Rates both versions blind, one story per
call, on two axes.</a:t>
            </a:r>
          </a:p>
        </p:txBody>
      </p:sp>
      <p:sp>
        <p:nvSpPr>
          <p:cNvPr id="16" name="TextBox 15"/>
          <p:cNvSpPr txBox="1"/>
          <p:nvPr/>
        </p:nvSpPr>
        <p:spPr>
          <a:xfrm>
            <a:off x="685800" y="4526280"/>
            <a:ext cx="10789920" cy="1371600"/>
          </a:xfrm>
          <a:prstGeom prst="rect">
            <a:avLst/>
          </a:prstGeom>
          <a:noFill/>
        </p:spPr>
        <p:txBody>
          <a:bodyPr wrap="square" anchor="t" lIns="0" rIns="0" tIns="0" bIns="0">
            <a:spAutoFit/>
          </a:bodyPr>
          <a:lstStyle/>
          <a:p>
            <a:pPr algn="l">
              <a:lnSpc>
                <a:spcPct val="120000"/>
              </a:lnSpc>
            </a:pPr>
            <a:r>
              <a:rPr sz="1500" b="1">
                <a:solidFill>
                  <a:srgbClr val="0D1B5C"/>
                </a:solidFill>
                <a:latin typeface="Calibri"/>
              </a:rPr>
              <a:t>Two datasets, because tone fails in both directions.</a:t>
            </a:r>
          </a:p>
          <a:p>
            <a:pPr algn="l">
              <a:lnSpc>
                <a:spcPct val="120000"/>
              </a:lnSpc>
              <a:spcBef>
                <a:spcPts val="600"/>
              </a:spcBef>
            </a:pPr>
            <a:r>
              <a:rPr sz="1350" b="0">
                <a:solidFill>
                  <a:srgbClr val="0F172A"/>
                </a:solidFill>
                <a:latin typeface="Calibri"/>
              </a:rPr>
              <a:t>Measles cases × MCV1 coverage (9,959 rows, 1980–2024) invites alarmism — the moderator has to bring it down without losing the real urgency. WHO child mortality and life expectancy invites the opposite, over-optimism — there it has to keep the inequality and the COVID reversal visible instead of flattening them into good news.</a:t>
            </a:r>
          </a:p>
        </p:txBody>
      </p:sp>
      <p:sp>
        <p:nvSpPr>
          <p:cNvPr id="17" name="TextBox 16"/>
          <p:cNvSpPr txBox="1"/>
          <p:nvPr/>
        </p:nvSpPr>
        <p:spPr>
          <a:xfrm>
            <a:off x="685800" y="6355080"/>
            <a:ext cx="8686800" cy="274320"/>
          </a:xfrm>
          <a:prstGeom prst="rect">
            <a:avLst/>
          </a:prstGeom>
          <a:noFill/>
        </p:spPr>
        <p:txBody>
          <a:bodyPr wrap="square" anchor="t" lIns="0" rIns="0" tIns="0" bIns="0">
            <a:spAutoFit/>
          </a:bodyPr>
          <a:lstStyle/>
          <a:p>
            <a:pPr algn="l">
              <a:lnSpc>
                <a:spcPct val="100000"/>
              </a:lnSpc>
            </a:pPr>
            <a:r>
              <a:rPr sz="900" b="0">
                <a:solidFill>
                  <a:srgbClr val="526173"/>
                </a:solidFill>
                <a:latin typeface="Calibri"/>
              </a:rPr>
              <a:t>AI-Powered Data Storytelling  ·  CMS Team Project  ·  TU Dresden  ·  SoSe 2026</a:t>
            </a:r>
          </a:p>
        </p:txBody>
      </p:sp>
      <p:sp>
        <p:nvSpPr>
          <p:cNvPr id="18" name="TextBox 17"/>
          <p:cNvSpPr txBox="1"/>
          <p:nvPr/>
        </p:nvSpPr>
        <p:spPr>
          <a:xfrm>
            <a:off x="10972800" y="6355080"/>
            <a:ext cx="548640" cy="274320"/>
          </a:xfrm>
          <a:prstGeom prst="rect">
            <a:avLst/>
          </a:prstGeom>
          <a:noFill/>
        </p:spPr>
        <p:txBody>
          <a:bodyPr wrap="square" anchor="t" lIns="0" rIns="0" tIns="0" bIns="0">
            <a:spAutoFit/>
          </a:bodyPr>
          <a:lstStyle/>
          <a:p>
            <a:pPr algn="r">
              <a:lnSpc>
                <a:spcPct val="100000"/>
              </a:lnSpc>
            </a:pPr>
            <a:r>
              <a:rPr sz="900" b="0">
                <a:solidFill>
                  <a:srgbClr val="526173"/>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02920"/>
            <a:ext cx="10789920" cy="274320"/>
          </a:xfrm>
          <a:prstGeom prst="rect">
            <a:avLst/>
          </a:prstGeom>
          <a:noFill/>
        </p:spPr>
        <p:txBody>
          <a:bodyPr wrap="square" anchor="t" lIns="0" rIns="0" tIns="0" bIns="0">
            <a:spAutoFit/>
          </a:bodyPr>
          <a:lstStyle/>
          <a:p>
            <a:pPr algn="l">
              <a:lnSpc>
                <a:spcPct val="100000"/>
              </a:lnSpc>
            </a:pPr>
            <a:r>
              <a:rPr sz="1100" b="1">
                <a:solidFill>
                  <a:srgbClr val="0E8F86"/>
                </a:solidFill>
                <a:latin typeface="Arial"/>
              </a:rPr>
              <a:t>THE INSTRUMENT</a:t>
            </a:r>
          </a:p>
        </p:txBody>
      </p:sp>
      <p:sp>
        <p:nvSpPr>
          <p:cNvPr id="3" name="TextBox 2"/>
          <p:cNvSpPr txBox="1"/>
          <p:nvPr/>
        </p:nvSpPr>
        <p:spPr>
          <a:xfrm>
            <a:off x="685800" y="868680"/>
            <a:ext cx="10789920" cy="822960"/>
          </a:xfrm>
          <a:prstGeom prst="rect">
            <a:avLst/>
          </a:prstGeom>
          <a:noFill/>
        </p:spPr>
        <p:txBody>
          <a:bodyPr wrap="square" anchor="t" lIns="0" rIns="0" tIns="0" bIns="0">
            <a:spAutoFit/>
          </a:bodyPr>
          <a:lstStyle/>
          <a:p>
            <a:pPr algn="l">
              <a:lnSpc>
                <a:spcPct val="100000"/>
              </a:lnSpc>
            </a:pPr>
            <a:r>
              <a:rPr sz="3000" b="1">
                <a:solidFill>
                  <a:srgbClr val="0D1B5C"/>
                </a:solidFill>
                <a:latin typeface="Arial"/>
              </a:rPr>
              <a:t>Two axes, and both ends are failures</a:t>
            </a:r>
          </a:p>
        </p:txBody>
      </p:sp>
      <p:sp>
        <p:nvSpPr>
          <p:cNvPr id="4" name="Rectangle 3"/>
          <p:cNvSpPr/>
          <p:nvPr/>
        </p:nvSpPr>
        <p:spPr>
          <a:xfrm>
            <a:off x="685800" y="1664208"/>
            <a:ext cx="1005840" cy="4445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148840"/>
            <a:ext cx="5486400" cy="2377440"/>
          </a:xfrm>
          <a:prstGeom prst="rect">
            <a:avLst/>
          </a:prstGeom>
          <a:noFill/>
        </p:spPr>
        <p:txBody>
          <a:bodyPr wrap="square" anchor="t" lIns="0" rIns="0" tIns="0" bIns="0">
            <a:spAutoFit/>
          </a:bodyPr>
          <a:lstStyle/>
          <a:p>
            <a:pPr algn="l">
              <a:lnSpc>
                <a:spcPct val="120000"/>
              </a:lnSpc>
            </a:pPr>
            <a:r>
              <a:rPr sz="1500" b="0">
                <a:solidFill>
                  <a:srgbClr val="0F172A"/>
                </a:solidFill>
                <a:latin typeface="Calibri"/>
              </a:rPr>
              <a:t>The judge rates a story 1 to 5 on alarmism and, separately, 1 to 5 on optimism.</a:t>
            </a:r>
          </a:p>
          <a:p>
            <a:pPr algn="l">
              <a:lnSpc>
                <a:spcPct val="120000"/>
              </a:lnSpc>
              <a:spcBef>
                <a:spcPts val="1000"/>
              </a:spcBef>
            </a:pPr>
            <a:r>
              <a:rPr sz="1500" b="0">
                <a:solidFill>
                  <a:srgbClr val="0F172A"/>
                </a:solidFill>
                <a:latin typeface="Calibri"/>
              </a:rPr>
              <a:t>A 5 catastrophises. A 1 is flat and hides the stakes. Only the middle is calibrated — so this is not a “lower is better” scale, and a moderator that simply drains all feeling out of a story scores badly too.</a:t>
            </a:r>
          </a:p>
          <a:p>
            <a:pPr algn="l">
              <a:lnSpc>
                <a:spcPct val="120000"/>
              </a:lnSpc>
              <a:spcBef>
                <a:spcPts val="1400"/>
              </a:spcBef>
            </a:pPr>
            <a:r>
              <a:rPr sz="1500" b="1">
                <a:solidFill>
                  <a:srgbClr val="0D1B5C"/>
                </a:solidFill>
                <a:latin typeface="Calibri"/>
              </a:rPr>
              <a:t>Blinding was not free.</a:t>
            </a:r>
          </a:p>
          <a:p>
            <a:pPr algn="l">
              <a:lnSpc>
                <a:spcPct val="120000"/>
              </a:lnSpc>
              <a:spcBef>
                <a:spcPts val="600"/>
              </a:spcBef>
            </a:pPr>
            <a:r>
              <a:rPr sz="1400" b="0">
                <a:solidFill>
                  <a:srgbClr val="526173"/>
                </a:solidFill>
                <a:latin typeface="Calibri"/>
              </a:rPr>
              <a:t>An earlier version showed the judge both versions in one call, labelled “before” and “after”, always in that order. That names the treatment to the rater. It now scores each story alone, in its own call, with nothing to compare against.</a:t>
            </a:r>
          </a:p>
        </p:txBody>
      </p:sp>
      <p:sp>
        <p:nvSpPr>
          <p:cNvPr id="6" name="TextBox 5"/>
          <p:cNvSpPr txBox="1"/>
          <p:nvPr/>
        </p:nvSpPr>
        <p:spPr>
          <a:xfrm>
            <a:off x="6583680" y="2331720"/>
            <a:ext cx="4937760" cy="274320"/>
          </a:xfrm>
          <a:prstGeom prst="rect">
            <a:avLst/>
          </a:prstGeom>
          <a:noFill/>
        </p:spPr>
        <p:txBody>
          <a:bodyPr wrap="square" anchor="t" lIns="0" rIns="0" tIns="0" bIns="0">
            <a:spAutoFit/>
          </a:bodyPr>
          <a:lstStyle/>
          <a:p>
            <a:pPr algn="l">
              <a:lnSpc>
                <a:spcPct val="100000"/>
              </a:lnSpc>
            </a:pPr>
            <a:r>
              <a:rPr sz="1050" b="1">
                <a:solidFill>
                  <a:srgbClr val="526173"/>
                </a:solidFill>
                <a:latin typeface="Arial"/>
              </a:rPr>
              <a:t>ALARMISM</a:t>
            </a:r>
          </a:p>
        </p:txBody>
      </p:sp>
      <p:sp>
        <p:nvSpPr>
          <p:cNvPr id="7" name="Rectangle 6"/>
          <p:cNvSpPr/>
          <p:nvPr/>
        </p:nvSpPr>
        <p:spPr>
          <a:xfrm>
            <a:off x="6583680" y="2679192"/>
            <a:ext cx="4754880" cy="310896"/>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366760" y="2679192"/>
            <a:ext cx="1188720" cy="310896"/>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0" y="3044952"/>
            <a:ext cx="1645920" cy="274320"/>
          </a:xfrm>
          <a:prstGeom prst="rect">
            <a:avLst/>
          </a:prstGeom>
          <a:noFill/>
        </p:spPr>
        <p:txBody>
          <a:bodyPr wrap="square" anchor="t" lIns="0" rIns="0" tIns="0" bIns="0">
            <a:spAutoFit/>
          </a:bodyPr>
          <a:lstStyle/>
          <a:p>
            <a:pPr algn="l">
              <a:lnSpc>
                <a:spcPct val="100000"/>
              </a:lnSpc>
            </a:pPr>
            <a:r>
              <a:rPr sz="1050" b="0">
                <a:solidFill>
                  <a:srgbClr val="526173"/>
                </a:solidFill>
                <a:latin typeface="Calibri"/>
              </a:rPr>
              <a:t>1  flat</a:t>
            </a:r>
          </a:p>
        </p:txBody>
      </p:sp>
      <p:sp>
        <p:nvSpPr>
          <p:cNvPr id="10" name="TextBox 9"/>
          <p:cNvSpPr txBox="1"/>
          <p:nvPr/>
        </p:nvSpPr>
        <p:spPr>
          <a:xfrm>
            <a:off x="8366760" y="3044952"/>
            <a:ext cx="1188720" cy="274320"/>
          </a:xfrm>
          <a:prstGeom prst="rect">
            <a:avLst/>
          </a:prstGeom>
          <a:noFill/>
        </p:spPr>
        <p:txBody>
          <a:bodyPr wrap="square" anchor="t" lIns="0" rIns="0" tIns="0" bIns="0">
            <a:spAutoFit/>
          </a:bodyPr>
          <a:lstStyle/>
          <a:p>
            <a:pPr algn="ctr">
              <a:lnSpc>
                <a:spcPct val="100000"/>
              </a:lnSpc>
            </a:pPr>
            <a:r>
              <a:rPr sz="1050" b="1">
                <a:solidFill>
                  <a:srgbClr val="0E8F86"/>
                </a:solidFill>
                <a:latin typeface="Calibri"/>
              </a:rPr>
              <a:t>3  calibrated</a:t>
            </a:r>
          </a:p>
        </p:txBody>
      </p:sp>
      <p:sp>
        <p:nvSpPr>
          <p:cNvPr id="11" name="TextBox 10"/>
          <p:cNvSpPr txBox="1"/>
          <p:nvPr/>
        </p:nvSpPr>
        <p:spPr>
          <a:xfrm>
            <a:off x="10058400" y="3044952"/>
            <a:ext cx="1280160" cy="274320"/>
          </a:xfrm>
          <a:prstGeom prst="rect">
            <a:avLst/>
          </a:prstGeom>
          <a:noFill/>
        </p:spPr>
        <p:txBody>
          <a:bodyPr wrap="square" anchor="t" lIns="0" rIns="0" tIns="0" bIns="0">
            <a:spAutoFit/>
          </a:bodyPr>
          <a:lstStyle/>
          <a:p>
            <a:pPr algn="r">
              <a:lnSpc>
                <a:spcPct val="100000"/>
              </a:lnSpc>
            </a:pPr>
            <a:r>
              <a:rPr sz="1050" b="0">
                <a:solidFill>
                  <a:srgbClr val="526173"/>
                </a:solidFill>
                <a:latin typeface="Calibri"/>
              </a:rPr>
              <a:t>5  extreme</a:t>
            </a:r>
          </a:p>
        </p:txBody>
      </p:sp>
      <p:sp>
        <p:nvSpPr>
          <p:cNvPr id="12" name="TextBox 11"/>
          <p:cNvSpPr txBox="1"/>
          <p:nvPr/>
        </p:nvSpPr>
        <p:spPr>
          <a:xfrm>
            <a:off x="6583680" y="3657600"/>
            <a:ext cx="4937760" cy="274320"/>
          </a:xfrm>
          <a:prstGeom prst="rect">
            <a:avLst/>
          </a:prstGeom>
          <a:noFill/>
        </p:spPr>
        <p:txBody>
          <a:bodyPr wrap="square" anchor="t" lIns="0" rIns="0" tIns="0" bIns="0">
            <a:spAutoFit/>
          </a:bodyPr>
          <a:lstStyle/>
          <a:p>
            <a:pPr algn="l">
              <a:lnSpc>
                <a:spcPct val="100000"/>
              </a:lnSpc>
            </a:pPr>
            <a:r>
              <a:rPr sz="1050" b="1">
                <a:solidFill>
                  <a:srgbClr val="526173"/>
                </a:solidFill>
                <a:latin typeface="Arial"/>
              </a:rPr>
              <a:t>OPTIMISM</a:t>
            </a:r>
          </a:p>
        </p:txBody>
      </p:sp>
      <p:sp>
        <p:nvSpPr>
          <p:cNvPr id="13" name="Rectangle 12"/>
          <p:cNvSpPr/>
          <p:nvPr/>
        </p:nvSpPr>
        <p:spPr>
          <a:xfrm>
            <a:off x="6583680" y="4005072"/>
            <a:ext cx="4754880" cy="310896"/>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66760" y="4005072"/>
            <a:ext cx="1188720" cy="310896"/>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83680" y="4370832"/>
            <a:ext cx="1645920" cy="274320"/>
          </a:xfrm>
          <a:prstGeom prst="rect">
            <a:avLst/>
          </a:prstGeom>
          <a:noFill/>
        </p:spPr>
        <p:txBody>
          <a:bodyPr wrap="square" anchor="t" lIns="0" rIns="0" tIns="0" bIns="0">
            <a:spAutoFit/>
          </a:bodyPr>
          <a:lstStyle/>
          <a:p>
            <a:pPr algn="l">
              <a:lnSpc>
                <a:spcPct val="100000"/>
              </a:lnSpc>
            </a:pPr>
            <a:r>
              <a:rPr sz="1050" b="0">
                <a:solidFill>
                  <a:srgbClr val="526173"/>
                </a:solidFill>
                <a:latin typeface="Calibri"/>
              </a:rPr>
              <a:t>1  flat</a:t>
            </a:r>
          </a:p>
        </p:txBody>
      </p:sp>
      <p:sp>
        <p:nvSpPr>
          <p:cNvPr id="16" name="TextBox 15"/>
          <p:cNvSpPr txBox="1"/>
          <p:nvPr/>
        </p:nvSpPr>
        <p:spPr>
          <a:xfrm>
            <a:off x="8366760" y="4370832"/>
            <a:ext cx="1188720" cy="274320"/>
          </a:xfrm>
          <a:prstGeom prst="rect">
            <a:avLst/>
          </a:prstGeom>
          <a:noFill/>
        </p:spPr>
        <p:txBody>
          <a:bodyPr wrap="square" anchor="t" lIns="0" rIns="0" tIns="0" bIns="0">
            <a:spAutoFit/>
          </a:bodyPr>
          <a:lstStyle/>
          <a:p>
            <a:pPr algn="ctr">
              <a:lnSpc>
                <a:spcPct val="100000"/>
              </a:lnSpc>
            </a:pPr>
            <a:r>
              <a:rPr sz="1050" b="1">
                <a:solidFill>
                  <a:srgbClr val="0E8F86"/>
                </a:solidFill>
                <a:latin typeface="Calibri"/>
              </a:rPr>
              <a:t>3  calibrated</a:t>
            </a:r>
          </a:p>
        </p:txBody>
      </p:sp>
      <p:sp>
        <p:nvSpPr>
          <p:cNvPr id="17" name="TextBox 16"/>
          <p:cNvSpPr txBox="1"/>
          <p:nvPr/>
        </p:nvSpPr>
        <p:spPr>
          <a:xfrm>
            <a:off x="10058400" y="4370832"/>
            <a:ext cx="1280160" cy="274320"/>
          </a:xfrm>
          <a:prstGeom prst="rect">
            <a:avLst/>
          </a:prstGeom>
          <a:noFill/>
        </p:spPr>
        <p:txBody>
          <a:bodyPr wrap="square" anchor="t" lIns="0" rIns="0" tIns="0" bIns="0">
            <a:spAutoFit/>
          </a:bodyPr>
          <a:lstStyle/>
          <a:p>
            <a:pPr algn="r">
              <a:lnSpc>
                <a:spcPct val="100000"/>
              </a:lnSpc>
            </a:pPr>
            <a:r>
              <a:rPr sz="1050" b="0">
                <a:solidFill>
                  <a:srgbClr val="526173"/>
                </a:solidFill>
                <a:latin typeface="Calibri"/>
              </a:rPr>
              <a:t>5  extreme</a:t>
            </a:r>
          </a:p>
        </p:txBody>
      </p:sp>
      <p:sp>
        <p:nvSpPr>
          <p:cNvPr id="18" name="TextBox 17"/>
          <p:cNvSpPr txBox="1"/>
          <p:nvPr/>
        </p:nvSpPr>
        <p:spPr>
          <a:xfrm>
            <a:off x="6583680" y="5074920"/>
            <a:ext cx="4754880" cy="822960"/>
          </a:xfrm>
          <a:prstGeom prst="rect">
            <a:avLst/>
          </a:prstGeom>
          <a:noFill/>
        </p:spPr>
        <p:txBody>
          <a:bodyPr wrap="square" anchor="t" lIns="0" rIns="0" tIns="0" bIns="0">
            <a:spAutoFit/>
          </a:bodyPr>
          <a:lstStyle/>
          <a:p>
            <a:pPr algn="l">
              <a:lnSpc>
                <a:spcPct val="115000"/>
              </a:lnSpc>
            </a:pPr>
            <a:r>
              <a:rPr sz="1250" b="0">
                <a:solidFill>
                  <a:srgbClr val="526173"/>
                </a:solidFill>
                <a:latin typeface="Calibri"/>
              </a:rPr>
              <a:t>One axis cannot see a story that is calm and euphoric at the same time. That is exactly how the child-mortality story fails.</a:t>
            </a:r>
          </a:p>
        </p:txBody>
      </p:sp>
      <p:sp>
        <p:nvSpPr>
          <p:cNvPr id="19" name="TextBox 18"/>
          <p:cNvSpPr txBox="1"/>
          <p:nvPr/>
        </p:nvSpPr>
        <p:spPr>
          <a:xfrm>
            <a:off x="685800" y="6355080"/>
            <a:ext cx="8686800" cy="274320"/>
          </a:xfrm>
          <a:prstGeom prst="rect">
            <a:avLst/>
          </a:prstGeom>
          <a:noFill/>
        </p:spPr>
        <p:txBody>
          <a:bodyPr wrap="square" anchor="t" lIns="0" rIns="0" tIns="0" bIns="0">
            <a:spAutoFit/>
          </a:bodyPr>
          <a:lstStyle/>
          <a:p>
            <a:pPr algn="l">
              <a:lnSpc>
                <a:spcPct val="100000"/>
              </a:lnSpc>
            </a:pPr>
            <a:r>
              <a:rPr sz="900" b="0">
                <a:solidFill>
                  <a:srgbClr val="526173"/>
                </a:solidFill>
                <a:latin typeface="Calibri"/>
              </a:rPr>
              <a:t>AI-Powered Data Storytelling  ·  CMS Team Project  ·  TU Dresden  ·  SoSe 2026</a:t>
            </a:r>
          </a:p>
        </p:txBody>
      </p:sp>
      <p:sp>
        <p:nvSpPr>
          <p:cNvPr id="20" name="TextBox 19"/>
          <p:cNvSpPr txBox="1"/>
          <p:nvPr/>
        </p:nvSpPr>
        <p:spPr>
          <a:xfrm>
            <a:off x="10972800" y="6355080"/>
            <a:ext cx="548640" cy="274320"/>
          </a:xfrm>
          <a:prstGeom prst="rect">
            <a:avLst/>
          </a:prstGeom>
          <a:noFill/>
        </p:spPr>
        <p:txBody>
          <a:bodyPr wrap="square" anchor="t" lIns="0" rIns="0" tIns="0" bIns="0">
            <a:spAutoFit/>
          </a:bodyPr>
          <a:lstStyle/>
          <a:p>
            <a:pPr algn="r">
              <a:lnSpc>
                <a:spcPct val="100000"/>
              </a:lnSpc>
            </a:pPr>
            <a:r>
              <a:rPr sz="900" b="0">
                <a:solidFill>
                  <a:srgbClr val="526173"/>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ig11.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ig9.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ig14.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02920"/>
            <a:ext cx="10789920" cy="274320"/>
          </a:xfrm>
          <a:prstGeom prst="rect">
            <a:avLst/>
          </a:prstGeom>
          <a:noFill/>
        </p:spPr>
        <p:txBody>
          <a:bodyPr wrap="square" anchor="t" lIns="0" rIns="0" tIns="0" bIns="0">
            <a:spAutoFit/>
          </a:bodyPr>
          <a:lstStyle/>
          <a:p>
            <a:pPr algn="l">
              <a:lnSpc>
                <a:spcPct val="100000"/>
              </a:lnSpc>
            </a:pPr>
            <a:r>
              <a:rPr sz="1100" b="1">
                <a:solidFill>
                  <a:srgbClr val="0E8F86"/>
                </a:solidFill>
                <a:latin typeface="Arial"/>
              </a:rPr>
              <a:t>THE COST</a:t>
            </a:r>
          </a:p>
        </p:txBody>
      </p:sp>
      <p:sp>
        <p:nvSpPr>
          <p:cNvPr id="3" name="TextBox 2"/>
          <p:cNvSpPr txBox="1"/>
          <p:nvPr/>
        </p:nvSpPr>
        <p:spPr>
          <a:xfrm>
            <a:off x="685800" y="868680"/>
            <a:ext cx="10789920" cy="822960"/>
          </a:xfrm>
          <a:prstGeom prst="rect">
            <a:avLst/>
          </a:prstGeom>
          <a:noFill/>
        </p:spPr>
        <p:txBody>
          <a:bodyPr wrap="square" anchor="t" lIns="0" rIns="0" tIns="0" bIns="0">
            <a:spAutoFit/>
          </a:bodyPr>
          <a:lstStyle/>
          <a:p>
            <a:pPr algn="l">
              <a:lnSpc>
                <a:spcPct val="100000"/>
              </a:lnSpc>
            </a:pPr>
            <a:r>
              <a:rPr sz="3000" b="1">
                <a:solidFill>
                  <a:srgbClr val="0D1B5C"/>
                </a:solidFill>
                <a:latin typeface="Arial"/>
              </a:rPr>
              <a:t>Moderation wins every verdict — and reads worse</a:t>
            </a:r>
          </a:p>
        </p:txBody>
      </p:sp>
      <p:sp>
        <p:nvSpPr>
          <p:cNvPr id="4" name="Rectangle 3"/>
          <p:cNvSpPr/>
          <p:nvPr/>
        </p:nvSpPr>
        <p:spPr>
          <a:xfrm>
            <a:off x="685800" y="1664208"/>
            <a:ext cx="1005840" cy="4445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103120"/>
            <a:ext cx="6949440" cy="274320"/>
          </a:xfrm>
          <a:prstGeom prst="rect">
            <a:avLst/>
          </a:prstGeom>
          <a:noFill/>
        </p:spPr>
        <p:txBody>
          <a:bodyPr wrap="square" anchor="t" lIns="0" rIns="0" tIns="0" bIns="0">
            <a:spAutoFit/>
          </a:bodyPr>
          <a:lstStyle/>
          <a:p>
            <a:pPr algn="l">
              <a:lnSpc>
                <a:spcPct val="100000"/>
              </a:lnSpc>
            </a:pPr>
            <a:r>
              <a:rPr sz="1000" b="1">
                <a:solidFill>
                  <a:srgbClr val="526173"/>
                </a:solidFill>
                <a:latin typeface="Arial"/>
              </a:rPr>
              <a:t>BLIND PAIRWISE, 20 PAIRS, POSITIONS SHUFFLED</a:t>
            </a:r>
          </a:p>
        </p:txBody>
      </p:sp>
      <p:sp>
        <p:nvSpPr>
          <p:cNvPr id="6" name="Rectangle 5"/>
          <p:cNvSpPr/>
          <p:nvPr/>
        </p:nvSpPr>
        <p:spPr>
          <a:xfrm>
            <a:off x="685800" y="2450592"/>
            <a:ext cx="6949440" cy="54864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2450592"/>
            <a:ext cx="38100" cy="548640"/>
          </a:xfrm>
          <a:prstGeom prst="rect">
            <a:avLst/>
          </a:prstGeom>
          <a:solidFill>
            <a:srgbClr val="0E8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2596896"/>
            <a:ext cx="3291840" cy="274320"/>
          </a:xfrm>
          <a:prstGeom prst="rect">
            <a:avLst/>
          </a:prstGeom>
          <a:noFill/>
        </p:spPr>
        <p:txBody>
          <a:bodyPr wrap="square" anchor="t" lIns="0" rIns="0" tIns="0" bIns="0">
            <a:spAutoFit/>
          </a:bodyPr>
          <a:lstStyle/>
          <a:p>
            <a:pPr algn="l">
              <a:lnSpc>
                <a:spcPct val="100000"/>
              </a:lnSpc>
            </a:pPr>
            <a:r>
              <a:rPr sz="1400" b="0">
                <a:solidFill>
                  <a:srgbClr val="0F172A"/>
                </a:solidFill>
                <a:latin typeface="Calibri"/>
              </a:rPr>
              <a:t>Overall preference</a:t>
            </a:r>
          </a:p>
        </p:txBody>
      </p:sp>
      <p:sp>
        <p:nvSpPr>
          <p:cNvPr id="9" name="TextBox 8"/>
          <p:cNvSpPr txBox="1"/>
          <p:nvPr/>
        </p:nvSpPr>
        <p:spPr>
          <a:xfrm>
            <a:off x="4343400" y="2578608"/>
            <a:ext cx="3108960" cy="274320"/>
          </a:xfrm>
          <a:prstGeom prst="rect">
            <a:avLst/>
          </a:prstGeom>
          <a:noFill/>
        </p:spPr>
        <p:txBody>
          <a:bodyPr wrap="square" anchor="t" lIns="0" rIns="0" tIns="0" bIns="0">
            <a:spAutoFit/>
          </a:bodyPr>
          <a:lstStyle/>
          <a:p>
            <a:pPr algn="l">
              <a:lnSpc>
                <a:spcPct val="100000"/>
              </a:lnSpc>
            </a:pPr>
            <a:r>
              <a:rPr sz="1400" b="1">
                <a:solidFill>
                  <a:srgbClr val="0E8F86"/>
                </a:solidFill>
                <a:latin typeface="Calibri"/>
              </a:rPr>
              <a:t>moderated 20/20</a:t>
            </a:r>
          </a:p>
        </p:txBody>
      </p:sp>
      <p:sp>
        <p:nvSpPr>
          <p:cNvPr id="10" name="Rectangle 9"/>
          <p:cNvSpPr/>
          <p:nvPr/>
        </p:nvSpPr>
        <p:spPr>
          <a:xfrm>
            <a:off x="685800" y="3108960"/>
            <a:ext cx="6949440" cy="5486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85800" y="3108960"/>
            <a:ext cx="38100" cy="548640"/>
          </a:xfrm>
          <a:prstGeom prst="rect">
            <a:avLst/>
          </a:prstGeom>
          <a:solidFill>
            <a:srgbClr val="0E8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3255264"/>
            <a:ext cx="3291840" cy="274320"/>
          </a:xfrm>
          <a:prstGeom prst="rect">
            <a:avLst/>
          </a:prstGeom>
          <a:noFill/>
        </p:spPr>
        <p:txBody>
          <a:bodyPr wrap="square" anchor="t" lIns="0" rIns="0" tIns="0" bIns="0">
            <a:spAutoFit/>
          </a:bodyPr>
          <a:lstStyle/>
          <a:p>
            <a:pPr algn="l">
              <a:lnSpc>
                <a:spcPct val="100000"/>
              </a:lnSpc>
            </a:pPr>
            <a:r>
              <a:rPr sz="1400" b="0">
                <a:solidFill>
                  <a:srgbClr val="0F172A"/>
                </a:solidFill>
                <a:latin typeface="Calibri"/>
              </a:rPr>
              <a:t>Factual correctness</a:t>
            </a:r>
          </a:p>
        </p:txBody>
      </p:sp>
      <p:sp>
        <p:nvSpPr>
          <p:cNvPr id="13" name="TextBox 12"/>
          <p:cNvSpPr txBox="1"/>
          <p:nvPr/>
        </p:nvSpPr>
        <p:spPr>
          <a:xfrm>
            <a:off x="4343400" y="3236976"/>
            <a:ext cx="3108960" cy="274320"/>
          </a:xfrm>
          <a:prstGeom prst="rect">
            <a:avLst/>
          </a:prstGeom>
          <a:noFill/>
        </p:spPr>
        <p:txBody>
          <a:bodyPr wrap="square" anchor="t" lIns="0" rIns="0" tIns="0" bIns="0">
            <a:spAutoFit/>
          </a:bodyPr>
          <a:lstStyle/>
          <a:p>
            <a:pPr algn="l">
              <a:lnSpc>
                <a:spcPct val="100000"/>
              </a:lnSpc>
            </a:pPr>
            <a:r>
              <a:rPr sz="1400" b="1">
                <a:solidFill>
                  <a:srgbClr val="0E8F86"/>
                </a:solidFill>
                <a:latin typeface="Calibri"/>
              </a:rPr>
              <a:t>moderated 20/20</a:t>
            </a:r>
          </a:p>
        </p:txBody>
      </p:sp>
      <p:sp>
        <p:nvSpPr>
          <p:cNvPr id="14" name="Rectangle 13"/>
          <p:cNvSpPr/>
          <p:nvPr/>
        </p:nvSpPr>
        <p:spPr>
          <a:xfrm>
            <a:off x="685800" y="3767328"/>
            <a:ext cx="6949440" cy="54864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85800" y="3767328"/>
            <a:ext cx="38100" cy="548640"/>
          </a:xfrm>
          <a:prstGeom prst="rect">
            <a:avLst/>
          </a:prstGeom>
          <a:solidFill>
            <a:srgbClr val="0E8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120" y="3913632"/>
            <a:ext cx="3291840" cy="274320"/>
          </a:xfrm>
          <a:prstGeom prst="rect">
            <a:avLst/>
          </a:prstGeom>
          <a:noFill/>
        </p:spPr>
        <p:txBody>
          <a:bodyPr wrap="square" anchor="t" lIns="0" rIns="0" tIns="0" bIns="0">
            <a:spAutoFit/>
          </a:bodyPr>
          <a:lstStyle/>
          <a:p>
            <a:pPr algn="l">
              <a:lnSpc>
                <a:spcPct val="100000"/>
              </a:lnSpc>
            </a:pPr>
            <a:r>
              <a:rPr sz="1400" b="0">
                <a:solidFill>
                  <a:srgbClr val="0F172A"/>
                </a:solidFill>
                <a:latin typeface="Calibri"/>
              </a:rPr>
              <a:t>Relevance / informativeness</a:t>
            </a:r>
          </a:p>
        </p:txBody>
      </p:sp>
      <p:sp>
        <p:nvSpPr>
          <p:cNvPr id="17" name="TextBox 16"/>
          <p:cNvSpPr txBox="1"/>
          <p:nvPr/>
        </p:nvSpPr>
        <p:spPr>
          <a:xfrm>
            <a:off x="4343400" y="3895344"/>
            <a:ext cx="3108960" cy="274320"/>
          </a:xfrm>
          <a:prstGeom prst="rect">
            <a:avLst/>
          </a:prstGeom>
          <a:noFill/>
        </p:spPr>
        <p:txBody>
          <a:bodyPr wrap="square" anchor="t" lIns="0" rIns="0" tIns="0" bIns="0">
            <a:spAutoFit/>
          </a:bodyPr>
          <a:lstStyle/>
          <a:p>
            <a:pPr algn="l">
              <a:lnSpc>
                <a:spcPct val="100000"/>
              </a:lnSpc>
            </a:pPr>
            <a:r>
              <a:rPr sz="1400" b="1">
                <a:solidFill>
                  <a:srgbClr val="0E8F86"/>
                </a:solidFill>
                <a:latin typeface="Calibri"/>
              </a:rPr>
              <a:t>moderated 14   ·   tie 6</a:t>
            </a:r>
          </a:p>
        </p:txBody>
      </p:sp>
      <p:sp>
        <p:nvSpPr>
          <p:cNvPr id="18" name="Rectangle 17"/>
          <p:cNvSpPr/>
          <p:nvPr/>
        </p:nvSpPr>
        <p:spPr>
          <a:xfrm>
            <a:off x="685800" y="4425696"/>
            <a:ext cx="6949440" cy="5486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 y="4425696"/>
            <a:ext cx="38100" cy="548640"/>
          </a:xfrm>
          <a:prstGeom prst="rect">
            <a:avLst/>
          </a:prstGeom>
          <a:solidFill>
            <a:srgbClr val="5261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4572000"/>
            <a:ext cx="3291840" cy="274320"/>
          </a:xfrm>
          <a:prstGeom prst="rect">
            <a:avLst/>
          </a:prstGeom>
          <a:noFill/>
        </p:spPr>
        <p:txBody>
          <a:bodyPr wrap="square" anchor="t" lIns="0" rIns="0" tIns="0" bIns="0">
            <a:spAutoFit/>
          </a:bodyPr>
          <a:lstStyle/>
          <a:p>
            <a:pPr algn="l">
              <a:lnSpc>
                <a:spcPct val="100000"/>
              </a:lnSpc>
            </a:pPr>
            <a:r>
              <a:rPr sz="1400" b="0">
                <a:solidFill>
                  <a:srgbClr val="0F172A"/>
                </a:solidFill>
                <a:latin typeface="Calibri"/>
              </a:rPr>
              <a:t>Structure / coherence</a:t>
            </a:r>
          </a:p>
        </p:txBody>
      </p:sp>
      <p:sp>
        <p:nvSpPr>
          <p:cNvPr id="21" name="TextBox 20"/>
          <p:cNvSpPr txBox="1"/>
          <p:nvPr/>
        </p:nvSpPr>
        <p:spPr>
          <a:xfrm>
            <a:off x="4343400" y="4553712"/>
            <a:ext cx="3108960" cy="274320"/>
          </a:xfrm>
          <a:prstGeom prst="rect">
            <a:avLst/>
          </a:prstGeom>
          <a:noFill/>
        </p:spPr>
        <p:txBody>
          <a:bodyPr wrap="square" anchor="t" lIns="0" rIns="0" tIns="0" bIns="0">
            <a:spAutoFit/>
          </a:bodyPr>
          <a:lstStyle/>
          <a:p>
            <a:pPr algn="l">
              <a:lnSpc>
                <a:spcPct val="100000"/>
              </a:lnSpc>
            </a:pPr>
            <a:r>
              <a:rPr sz="1400" b="1">
                <a:solidFill>
                  <a:srgbClr val="526173"/>
                </a:solidFill>
                <a:latin typeface="Calibri"/>
              </a:rPr>
              <a:t>moderated 5   ·   tie 15</a:t>
            </a:r>
          </a:p>
        </p:txBody>
      </p:sp>
      <p:sp>
        <p:nvSpPr>
          <p:cNvPr id="22" name="Rectangle 21"/>
          <p:cNvSpPr/>
          <p:nvPr/>
        </p:nvSpPr>
        <p:spPr>
          <a:xfrm>
            <a:off x="685800" y="5084064"/>
            <a:ext cx="6949440" cy="54864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85800" y="5084064"/>
            <a:ext cx="38100" cy="548640"/>
          </a:xfrm>
          <a:prstGeom prst="rect">
            <a:avLst/>
          </a:prstGeom>
          <a:solidFill>
            <a:srgbClr val="B454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0120" y="5230368"/>
            <a:ext cx="3291840" cy="274320"/>
          </a:xfrm>
          <a:prstGeom prst="rect">
            <a:avLst/>
          </a:prstGeom>
          <a:noFill/>
        </p:spPr>
        <p:txBody>
          <a:bodyPr wrap="square" anchor="t" lIns="0" rIns="0" tIns="0" bIns="0">
            <a:spAutoFit/>
          </a:bodyPr>
          <a:lstStyle/>
          <a:p>
            <a:pPr algn="l">
              <a:lnSpc>
                <a:spcPct val="100000"/>
              </a:lnSpc>
            </a:pPr>
            <a:r>
              <a:rPr sz="1400" b="1">
                <a:solidFill>
                  <a:srgbClr val="0F172A"/>
                </a:solidFill>
                <a:latin typeface="Calibri"/>
              </a:rPr>
              <a:t>Narrative quality</a:t>
            </a:r>
          </a:p>
        </p:txBody>
      </p:sp>
      <p:sp>
        <p:nvSpPr>
          <p:cNvPr id="25" name="TextBox 24"/>
          <p:cNvSpPr txBox="1"/>
          <p:nvPr/>
        </p:nvSpPr>
        <p:spPr>
          <a:xfrm>
            <a:off x="4343400" y="5212080"/>
            <a:ext cx="3108960" cy="274320"/>
          </a:xfrm>
          <a:prstGeom prst="rect">
            <a:avLst/>
          </a:prstGeom>
          <a:noFill/>
        </p:spPr>
        <p:txBody>
          <a:bodyPr wrap="square" anchor="t" lIns="0" rIns="0" tIns="0" bIns="0">
            <a:spAutoFit/>
          </a:bodyPr>
          <a:lstStyle/>
          <a:p>
            <a:pPr algn="l">
              <a:lnSpc>
                <a:spcPct val="100000"/>
              </a:lnSpc>
            </a:pPr>
            <a:r>
              <a:rPr sz="1400" b="1">
                <a:solidFill>
                  <a:srgbClr val="B45409"/>
                </a:solidFill>
                <a:latin typeface="Calibri"/>
              </a:rPr>
              <a:t>moderated 4   ·   raw 12   ·   tie 4</a:t>
            </a:r>
          </a:p>
        </p:txBody>
      </p:sp>
      <p:sp>
        <p:nvSpPr>
          <p:cNvPr id="26" name="TextBox 25"/>
          <p:cNvSpPr txBox="1"/>
          <p:nvPr/>
        </p:nvSpPr>
        <p:spPr>
          <a:xfrm>
            <a:off x="8001000" y="2377440"/>
            <a:ext cx="3520440" cy="3108960"/>
          </a:xfrm>
          <a:prstGeom prst="rect">
            <a:avLst/>
          </a:prstGeom>
          <a:noFill/>
        </p:spPr>
        <p:txBody>
          <a:bodyPr wrap="square" anchor="t" lIns="0" rIns="0" tIns="0" bIns="0">
            <a:spAutoFit/>
          </a:bodyPr>
          <a:lstStyle/>
          <a:p>
            <a:pPr algn="l">
              <a:lnSpc>
                <a:spcPct val="118000"/>
              </a:lnSpc>
            </a:pPr>
            <a:r>
              <a:rPr sz="1500" b="1">
                <a:solidFill>
                  <a:srgbClr val="0D1B5C"/>
                </a:solidFill>
                <a:latin typeface="Calibri"/>
              </a:rPr>
              <a:t>The trade, stated plainly</a:t>
            </a:r>
          </a:p>
          <a:p>
            <a:pPr algn="l">
              <a:lnSpc>
                <a:spcPct val="118000"/>
              </a:lnSpc>
              <a:spcBef>
                <a:spcPts val="800"/>
              </a:spcBef>
            </a:pPr>
            <a:r>
              <a:rPr sz="1300" b="0">
                <a:solidFill>
                  <a:srgbClr val="0F172A"/>
                </a:solidFill>
                <a:latin typeface="Calibri"/>
              </a:rPr>
              <a:t>The moderated story won the overall verdict in every single pair, and won factual correctness in every single pair — the moderator quietly re-grounds numbers the generator invented.</a:t>
            </a:r>
          </a:p>
          <a:p>
            <a:pPr algn="l">
              <a:lnSpc>
                <a:spcPct val="118000"/>
              </a:lnSpc>
              <a:spcBef>
                <a:spcPts val="1000"/>
              </a:spcBef>
            </a:pPr>
            <a:r>
              <a:rPr sz="1300" b="1">
                <a:solidFill>
                  <a:srgbClr val="B45409"/>
                </a:solidFill>
                <a:latin typeface="Calibri"/>
              </a:rPr>
              <a:t>But the unmoderated story was judged the better piece of writing in 12 of 20 pairs.</a:t>
            </a:r>
          </a:p>
          <a:p>
            <a:pPr algn="l">
              <a:lnSpc>
                <a:spcPct val="118000"/>
              </a:lnSpc>
              <a:spcBef>
                <a:spcPts val="800"/>
              </a:spcBef>
            </a:pPr>
            <a:r>
              <a:rPr sz="1300" b="0">
                <a:solidFill>
                  <a:srgbClr val="526173"/>
                </a:solidFill>
                <a:latin typeface="Calibri"/>
              </a:rPr>
              <a:t>Alarmism is not decoration. Removing it costs some of the drive that made the story readable. We would rather report that than average it away.</a:t>
            </a:r>
          </a:p>
        </p:txBody>
      </p:sp>
      <p:sp>
        <p:nvSpPr>
          <p:cNvPr id="27" name="TextBox 26"/>
          <p:cNvSpPr txBox="1"/>
          <p:nvPr/>
        </p:nvSpPr>
        <p:spPr>
          <a:xfrm>
            <a:off x="685800" y="6355080"/>
            <a:ext cx="8686800" cy="274320"/>
          </a:xfrm>
          <a:prstGeom prst="rect">
            <a:avLst/>
          </a:prstGeom>
          <a:noFill/>
        </p:spPr>
        <p:txBody>
          <a:bodyPr wrap="square" anchor="t" lIns="0" rIns="0" tIns="0" bIns="0">
            <a:spAutoFit/>
          </a:bodyPr>
          <a:lstStyle/>
          <a:p>
            <a:pPr algn="l">
              <a:lnSpc>
                <a:spcPct val="100000"/>
              </a:lnSpc>
            </a:pPr>
            <a:r>
              <a:rPr sz="900" b="0">
                <a:solidFill>
                  <a:srgbClr val="526173"/>
                </a:solidFill>
                <a:latin typeface="Calibri"/>
              </a:rPr>
              <a:t>AI-Powered Data Storytelling  ·  CMS Team Project  ·  TU Dresden  ·  SoSe 2026</a:t>
            </a:r>
          </a:p>
        </p:txBody>
      </p:sp>
      <p:sp>
        <p:nvSpPr>
          <p:cNvPr id="28" name="TextBox 27"/>
          <p:cNvSpPr txBox="1"/>
          <p:nvPr/>
        </p:nvSpPr>
        <p:spPr>
          <a:xfrm>
            <a:off x="10972800" y="6355080"/>
            <a:ext cx="548640" cy="274320"/>
          </a:xfrm>
          <a:prstGeom prst="rect">
            <a:avLst/>
          </a:prstGeom>
          <a:noFill/>
        </p:spPr>
        <p:txBody>
          <a:bodyPr wrap="square" anchor="t" lIns="0" rIns="0" tIns="0" bIns="0">
            <a:spAutoFit/>
          </a:bodyPr>
          <a:lstStyle/>
          <a:p>
            <a:pPr algn="r">
              <a:lnSpc>
                <a:spcPct val="100000"/>
              </a:lnSpc>
            </a:pPr>
            <a:r>
              <a:rPr sz="900" b="0">
                <a:solidFill>
                  <a:srgbClr val="526173"/>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ig13.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02920"/>
            <a:ext cx="10789920" cy="274320"/>
          </a:xfrm>
          <a:prstGeom prst="rect">
            <a:avLst/>
          </a:prstGeom>
          <a:noFill/>
        </p:spPr>
        <p:txBody>
          <a:bodyPr wrap="square" anchor="t" lIns="0" rIns="0" tIns="0" bIns="0">
            <a:spAutoFit/>
          </a:bodyPr>
          <a:lstStyle/>
          <a:p>
            <a:pPr algn="l">
              <a:lnSpc>
                <a:spcPct val="100000"/>
              </a:lnSpc>
            </a:pPr>
            <a:r>
              <a:rPr sz="1100" b="1">
                <a:solidFill>
                  <a:srgbClr val="0E8F86"/>
                </a:solidFill>
                <a:latin typeface="Arial"/>
              </a:rPr>
              <a:t>HONESTY</a:t>
            </a:r>
          </a:p>
        </p:txBody>
      </p:sp>
      <p:sp>
        <p:nvSpPr>
          <p:cNvPr id="3" name="TextBox 2"/>
          <p:cNvSpPr txBox="1"/>
          <p:nvPr/>
        </p:nvSpPr>
        <p:spPr>
          <a:xfrm>
            <a:off x="685800" y="868680"/>
            <a:ext cx="10789920" cy="822960"/>
          </a:xfrm>
          <a:prstGeom prst="rect">
            <a:avLst/>
          </a:prstGeom>
          <a:noFill/>
        </p:spPr>
        <p:txBody>
          <a:bodyPr wrap="square" anchor="t" lIns="0" rIns="0" tIns="0" bIns="0">
            <a:spAutoFit/>
          </a:bodyPr>
          <a:lstStyle/>
          <a:p>
            <a:pPr algn="l">
              <a:lnSpc>
                <a:spcPct val="100000"/>
              </a:lnSpc>
            </a:pPr>
            <a:r>
              <a:rPr sz="3000" b="1">
                <a:solidFill>
                  <a:srgbClr val="0D1B5C"/>
                </a:solidFill>
                <a:latin typeface="Arial"/>
              </a:rPr>
              <a:t>What these numbers do not support</a:t>
            </a:r>
          </a:p>
        </p:txBody>
      </p:sp>
      <p:sp>
        <p:nvSpPr>
          <p:cNvPr id="4" name="Rectangle 3"/>
          <p:cNvSpPr/>
          <p:nvPr/>
        </p:nvSpPr>
        <p:spPr>
          <a:xfrm>
            <a:off x="685800" y="1664208"/>
            <a:ext cx="1005840" cy="4445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194560"/>
            <a:ext cx="5394960" cy="3657600"/>
          </a:xfrm>
          <a:prstGeom prst="rect">
            <a:avLst/>
          </a:prstGeom>
          <a:noFill/>
        </p:spPr>
        <p:txBody>
          <a:bodyPr wrap="square" anchor="t" lIns="0" rIns="0" tIns="0" bIns="0">
            <a:spAutoFit/>
          </a:bodyPr>
          <a:lstStyle/>
          <a:p>
            <a:pPr algn="l">
              <a:lnSpc>
                <a:spcPct val="115000"/>
              </a:lnSpc>
            </a:pPr>
            <a:r>
              <a:rPr sz="1500" b="1">
                <a:solidFill>
                  <a:srgbClr val="0D1B5C"/>
                </a:solidFill>
                <a:latin typeface="Calibri"/>
              </a:rPr>
              <a:t>▪  One judge family, not a panel.</a:t>
            </a:r>
          </a:p>
          <a:p>
            <a:pPr algn="l">
              <a:lnSpc>
                <a:spcPct val="115000"/>
              </a:lnSpc>
              <a:spcBef>
                <a:spcPts val="200"/>
              </a:spcBef>
            </a:pPr>
            <a:r>
              <a:rPr sz="1400" b="0">
                <a:solidFill>
                  <a:srgbClr val="0F172A"/>
                </a:solidFill>
                <a:latin typeface="Calibri"/>
              </a:rPr>
              <a:t>     ICC 0.991 is self-consistency: the same model agreeing with itself. A second judge from a different family is the obvious next run.</a:t>
            </a:r>
          </a:p>
          <a:p>
            <a:pPr algn="l">
              <a:lnSpc>
                <a:spcPct val="115000"/>
              </a:lnSpc>
              <a:spcBef>
                <a:spcPts val="1300"/>
              </a:spcBef>
            </a:pPr>
            <a:r>
              <a:rPr sz="1500" b="1">
                <a:solidFill>
                  <a:srgbClr val="0D1B5C"/>
                </a:solidFill>
                <a:latin typeface="Calibri"/>
              </a:rPr>
              <a:t>▪  No user study yet.</a:t>
            </a:r>
          </a:p>
          <a:p>
            <a:pPr algn="l">
              <a:lnSpc>
                <a:spcPct val="115000"/>
              </a:lnSpc>
              <a:spcBef>
                <a:spcPts val="200"/>
              </a:spcBef>
            </a:pPr>
            <a:r>
              <a:rPr sz="1400" b="0">
                <a:solidFill>
                  <a:srgbClr val="0F172A"/>
                </a:solidFill>
                <a:latin typeface="Calibri"/>
              </a:rPr>
              <a:t>     The brief allows metrics or a user study, and we chose metrics. Every preference here is a model's, not a reader's.</a:t>
            </a:r>
          </a:p>
          <a:p>
            <a:pPr algn="l">
              <a:lnSpc>
                <a:spcPct val="115000"/>
              </a:lnSpc>
              <a:spcBef>
                <a:spcPts val="1300"/>
              </a:spcBef>
            </a:pPr>
            <a:r>
              <a:rPr sz="1500" b="1">
                <a:solidFill>
                  <a:srgbClr val="0D1B5C"/>
                </a:solidFill>
                <a:latin typeface="Calibri"/>
              </a:rPr>
              <a:t>▪  Five writer slots, not five independent authors.</a:t>
            </a:r>
          </a:p>
          <a:p>
            <a:pPr algn="l">
              <a:lnSpc>
                <a:spcPct val="115000"/>
              </a:lnSpc>
              <a:spcBef>
                <a:spcPts val="200"/>
              </a:spcBef>
            </a:pPr>
            <a:r>
              <a:rPr sz="1400" b="0">
                <a:solidFill>
                  <a:srgbClr val="0F172A"/>
                </a:solidFill>
                <a:latin typeface="Calibri"/>
              </a:rPr>
              <a:t>     The 25 human stories are a genuine hand-written baseline, but they are not the controlled writer design a full study would want.</a:t>
            </a:r>
          </a:p>
        </p:txBody>
      </p:sp>
      <p:sp>
        <p:nvSpPr>
          <p:cNvPr id="6" name="Rectangle 5"/>
          <p:cNvSpPr/>
          <p:nvPr/>
        </p:nvSpPr>
        <p:spPr>
          <a:xfrm>
            <a:off x="6537960" y="2103120"/>
            <a:ext cx="4965192" cy="329184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37960" y="2103120"/>
            <a:ext cx="4965192" cy="50800"/>
          </a:xfrm>
          <a:prstGeom prst="rect">
            <a:avLst/>
          </a:prstGeom>
          <a:solidFill>
            <a:srgbClr val="0D1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0" y="2395728"/>
            <a:ext cx="4389120" cy="2834640"/>
          </a:xfrm>
          <a:prstGeom prst="rect">
            <a:avLst/>
          </a:prstGeom>
          <a:noFill/>
        </p:spPr>
        <p:txBody>
          <a:bodyPr wrap="square" anchor="t" lIns="0" rIns="0" tIns="0" bIns="0">
            <a:spAutoFit/>
          </a:bodyPr>
          <a:lstStyle/>
          <a:p>
            <a:pPr algn="l">
              <a:lnSpc>
                <a:spcPct val="118000"/>
              </a:lnSpc>
            </a:pPr>
            <a:r>
              <a:rPr sz="1450" b="1">
                <a:solidFill>
                  <a:srgbClr val="0D1B5C"/>
                </a:solidFill>
                <a:latin typeface="Calibri"/>
              </a:rPr>
              <a:t>Two corrections we made to our own interim report</a:t>
            </a:r>
          </a:p>
          <a:p>
            <a:pPr algn="l">
              <a:lnSpc>
                <a:spcPct val="118000"/>
              </a:lnSpc>
              <a:spcBef>
                <a:spcPts val="900"/>
              </a:spcBef>
            </a:pPr>
            <a:r>
              <a:rPr sz="1250" b="0">
                <a:solidFill>
                  <a:srgbClr val="0F172A"/>
                </a:solidFill>
                <a:latin typeface="Calibri"/>
              </a:rPr>
              <a:t>We had reported the DataTales causal score of 0% as a capability wall. It is a groundedness measure against a masked reference — it cannot support a claim about causal reasoning. Corrected in the app and the docs.</a:t>
            </a:r>
          </a:p>
          <a:p>
            <a:pPr algn="l">
              <a:lnSpc>
                <a:spcPct val="118000"/>
              </a:lnSpc>
              <a:spcBef>
                <a:spcPts val="900"/>
              </a:spcBef>
            </a:pPr>
            <a:r>
              <a:rPr sz="1250" b="0">
                <a:solidFill>
                  <a:srgbClr val="0F172A"/>
                </a:solidFill>
                <a:latin typeface="Calibri"/>
              </a:rPr>
              <a:t>Scale is not the lever we assumed. A 27b generator reached the same moderated 2.0 as the 4b, at 5 minutes a run (n=1, so: an indication, not a result).</a:t>
            </a:r>
          </a:p>
        </p:txBody>
      </p:sp>
      <p:sp>
        <p:nvSpPr>
          <p:cNvPr id="9" name="TextBox 8"/>
          <p:cNvSpPr txBox="1"/>
          <p:nvPr/>
        </p:nvSpPr>
        <p:spPr>
          <a:xfrm>
            <a:off x="685800" y="6355080"/>
            <a:ext cx="8686800" cy="274320"/>
          </a:xfrm>
          <a:prstGeom prst="rect">
            <a:avLst/>
          </a:prstGeom>
          <a:noFill/>
        </p:spPr>
        <p:txBody>
          <a:bodyPr wrap="square" anchor="t" lIns="0" rIns="0" tIns="0" bIns="0">
            <a:spAutoFit/>
          </a:bodyPr>
          <a:lstStyle/>
          <a:p>
            <a:pPr algn="l">
              <a:lnSpc>
                <a:spcPct val="100000"/>
              </a:lnSpc>
            </a:pPr>
            <a:r>
              <a:rPr sz="900" b="0">
                <a:solidFill>
                  <a:srgbClr val="526173"/>
                </a:solidFill>
                <a:latin typeface="Calibri"/>
              </a:rPr>
              <a:t>AI-Powered Data Storytelling  ·  CMS Team Project  ·  TU Dresden  ·  SoSe 2026</a:t>
            </a:r>
          </a:p>
        </p:txBody>
      </p:sp>
      <p:sp>
        <p:nvSpPr>
          <p:cNvPr id="10" name="TextBox 9"/>
          <p:cNvSpPr txBox="1"/>
          <p:nvPr/>
        </p:nvSpPr>
        <p:spPr>
          <a:xfrm>
            <a:off x="10972800" y="6355080"/>
            <a:ext cx="548640" cy="274320"/>
          </a:xfrm>
          <a:prstGeom prst="rect">
            <a:avLst/>
          </a:prstGeom>
          <a:noFill/>
        </p:spPr>
        <p:txBody>
          <a:bodyPr wrap="square" anchor="t" lIns="0" rIns="0" tIns="0" bIns="0">
            <a:spAutoFit/>
          </a:bodyPr>
          <a:lstStyle/>
          <a:p>
            <a:pPr algn="r">
              <a:lnSpc>
                <a:spcPct val="100000"/>
              </a:lnSpc>
            </a:pPr>
            <a:r>
              <a:rPr sz="900" b="0">
                <a:solidFill>
                  <a:srgbClr val="526173"/>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A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377440"/>
            <a:ext cx="10058400" cy="1280160"/>
          </a:xfrm>
          <a:prstGeom prst="rect">
            <a:avLst/>
          </a:prstGeom>
          <a:noFill/>
        </p:spPr>
        <p:txBody>
          <a:bodyPr wrap="square" anchor="t" lIns="0" rIns="0" tIns="0" bIns="0">
            <a:spAutoFit/>
          </a:bodyPr>
          <a:lstStyle/>
          <a:p>
            <a:pPr algn="l">
              <a:lnSpc>
                <a:spcPct val="100000"/>
              </a:lnSpc>
            </a:pPr>
            <a:r>
              <a:rPr sz="1200" b="1">
                <a:solidFill>
                  <a:srgbClr val="20C4B0"/>
                </a:solidFill>
                <a:latin typeface="Arial"/>
              </a:rPr>
              <a:t>LIVE DEMO  ·  3:30</a:t>
            </a:r>
          </a:p>
          <a:p>
            <a:pPr algn="l">
              <a:lnSpc>
                <a:spcPct val="100000"/>
              </a:lnSpc>
              <a:spcBef>
                <a:spcPts val="800"/>
              </a:spcBef>
            </a:pPr>
            <a:r>
              <a:rPr sz="3800" b="1">
                <a:solidFill>
                  <a:srgbClr val="FFFFFF"/>
                </a:solidFill>
                <a:latin typeface="Arial"/>
              </a:rPr>
              <a:t>The whole loop, running locally</a:t>
            </a:r>
          </a:p>
        </p:txBody>
      </p:sp>
      <p:sp>
        <p:nvSpPr>
          <p:cNvPr id="5" name="TextBox 4"/>
          <p:cNvSpPr txBox="1"/>
          <p:nvPr/>
        </p:nvSpPr>
        <p:spPr>
          <a:xfrm>
            <a:off x="1005840" y="3931920"/>
            <a:ext cx="9601200" cy="1097280"/>
          </a:xfrm>
          <a:prstGeom prst="rect">
            <a:avLst/>
          </a:prstGeom>
          <a:noFill/>
        </p:spPr>
        <p:txBody>
          <a:bodyPr wrap="square" anchor="t" lIns="0" rIns="0" tIns="0" bIns="0">
            <a:spAutoFit/>
          </a:bodyPr>
          <a:lstStyle/>
          <a:p>
            <a:pPr algn="l">
              <a:lnSpc>
                <a:spcPct val="120000"/>
              </a:lnSpc>
            </a:pPr>
            <a:r>
              <a:rPr sz="1600" b="0">
                <a:solidFill>
                  <a:srgbClr val="C7D4E6"/>
                </a:solidFill>
                <a:latin typeface="Calibri"/>
              </a:rPr>
              <a:t>Table → chosen figures → raw story → moderated story → the human story beside it</a:t>
            </a:r>
          </a:p>
          <a:p>
            <a:pPr algn="l">
              <a:lnSpc>
                <a:spcPct val="120000"/>
              </a:lnSpc>
              <a:spcBef>
                <a:spcPts val="800"/>
              </a:spcBef>
            </a:pPr>
            <a:r>
              <a:rPr sz="1300" b="0">
                <a:solidFill>
                  <a:srgbClr val="8A9CB8"/>
                </a:solidFill>
                <a:latin typeface="Calibri"/>
              </a:rPr>
              <a:t>localhost:3000  ·  Django on :8000  ·  llama3.1:8b and gemma4:31b on Ollama, no API call in the loop</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371600"/>
            <a:ext cx="10241280" cy="2194560"/>
          </a:xfrm>
          <a:prstGeom prst="rect">
            <a:avLst/>
          </a:prstGeom>
          <a:noFill/>
        </p:spPr>
        <p:txBody>
          <a:bodyPr wrap="square" anchor="t" lIns="0" rIns="0" tIns="0" bIns="0">
            <a:spAutoFit/>
          </a:bodyPr>
          <a:lstStyle/>
          <a:p>
            <a:pPr algn="l">
              <a:lnSpc>
                <a:spcPct val="120000"/>
              </a:lnSpc>
            </a:pPr>
            <a:r>
              <a:rPr sz="1300" b="1">
                <a:solidFill>
                  <a:srgbClr val="0E8F86"/>
                </a:solidFill>
                <a:latin typeface="Arial"/>
              </a:rPr>
              <a:t>What we can defend</a:t>
            </a:r>
          </a:p>
          <a:p>
            <a:pPr algn="l">
              <a:lnSpc>
                <a:spcPct val="120000"/>
              </a:lnSpc>
              <a:spcBef>
                <a:spcPts val="1000"/>
              </a:spcBef>
            </a:pPr>
            <a:r>
              <a:rPr sz="2700" b="1">
                <a:solidFill>
                  <a:srgbClr val="0D1B5C"/>
                </a:solidFill>
                <a:latin typeface="Arial"/>
              </a:rPr>
              <a:t>A second agent can move a generated data story onto the tone level of a person writing from the same table —</a:t>
            </a:r>
          </a:p>
          <a:p>
            <a:pPr algn="l">
              <a:lnSpc>
                <a:spcPct val="120000"/>
              </a:lnSpc>
              <a:spcBef>
                <a:spcPts val="200"/>
              </a:spcBef>
            </a:pPr>
            <a:r>
              <a:rPr sz="2700" b="1">
                <a:solidFill>
                  <a:srgbClr val="0D1B5C"/>
                </a:solidFill>
                <a:latin typeface="Arial"/>
              </a:rPr>
              <a:t>without losing the numbers, and at a cost in readability we can state.</a:t>
            </a:r>
          </a:p>
        </p:txBody>
      </p:sp>
      <p:sp>
        <p:nvSpPr>
          <p:cNvPr id="5" name="Rectangle 4"/>
          <p:cNvSpPr/>
          <p:nvPr/>
        </p:nvSpPr>
        <p:spPr>
          <a:xfrm>
            <a:off x="1005840" y="3977639"/>
            <a:ext cx="3154680" cy="160020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05840" y="3977639"/>
            <a:ext cx="44450" cy="1600200"/>
          </a:xfrm>
          <a:prstGeom prst="rect">
            <a:avLst/>
          </a:prstGeom>
          <a:solidFill>
            <a:srgbClr val="0E8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61872" y="4178807"/>
            <a:ext cx="2697480" cy="274320"/>
          </a:xfrm>
          <a:prstGeom prst="rect">
            <a:avLst/>
          </a:prstGeom>
          <a:noFill/>
        </p:spPr>
        <p:txBody>
          <a:bodyPr wrap="square" anchor="t" lIns="0" rIns="0" tIns="0" bIns="0">
            <a:spAutoFit/>
          </a:bodyPr>
          <a:lstStyle/>
          <a:p>
            <a:pPr algn="l">
              <a:lnSpc>
                <a:spcPct val="100000"/>
              </a:lnSpc>
            </a:pPr>
            <a:r>
              <a:rPr sz="950" b="1">
                <a:solidFill>
                  <a:srgbClr val="526173"/>
                </a:solidFill>
                <a:latin typeface="Arial"/>
              </a:rPr>
              <a:t>THE RESULT</a:t>
            </a:r>
          </a:p>
        </p:txBody>
      </p:sp>
      <p:sp>
        <p:nvSpPr>
          <p:cNvPr id="8" name="TextBox 7"/>
          <p:cNvSpPr txBox="1"/>
          <p:nvPr/>
        </p:nvSpPr>
        <p:spPr>
          <a:xfrm>
            <a:off x="1261872" y="4453127"/>
            <a:ext cx="2697480" cy="548640"/>
          </a:xfrm>
          <a:prstGeom prst="rect">
            <a:avLst/>
          </a:prstGeom>
          <a:noFill/>
        </p:spPr>
        <p:txBody>
          <a:bodyPr wrap="square" anchor="t" lIns="0" rIns="0" tIns="0" bIns="0">
            <a:spAutoFit/>
          </a:bodyPr>
          <a:lstStyle/>
          <a:p>
            <a:pPr algn="l">
              <a:lnSpc>
                <a:spcPct val="100000"/>
              </a:lnSpc>
            </a:pPr>
            <a:r>
              <a:rPr sz="3000" b="1">
                <a:solidFill>
                  <a:srgbClr val="0E8F86"/>
                </a:solidFill>
                <a:latin typeface="Arial"/>
              </a:rPr>
              <a:t>3.74 → 2.09</a:t>
            </a:r>
          </a:p>
        </p:txBody>
      </p:sp>
      <p:sp>
        <p:nvSpPr>
          <p:cNvPr id="9" name="TextBox 8"/>
          <p:cNvSpPr txBox="1"/>
          <p:nvPr/>
        </p:nvSpPr>
        <p:spPr>
          <a:xfrm>
            <a:off x="1261872" y="5001767"/>
            <a:ext cx="2697480" cy="640080"/>
          </a:xfrm>
          <a:prstGeom prst="rect">
            <a:avLst/>
          </a:prstGeom>
          <a:noFill/>
        </p:spPr>
        <p:txBody>
          <a:bodyPr wrap="square" anchor="t" lIns="0" rIns="0" tIns="0" bIns="0">
            <a:spAutoFit/>
          </a:bodyPr>
          <a:lstStyle/>
          <a:p>
            <a:pPr algn="l">
              <a:lnSpc>
                <a:spcPct val="110000"/>
              </a:lnSpc>
            </a:pPr>
            <a:r>
              <a:rPr sz="1100" b="0">
                <a:solidFill>
                  <a:srgbClr val="526173"/>
                </a:solidFill>
                <a:latin typeface="Calibri"/>
              </a:rPr>
              <a:t>alarmism, against a human median of 2.00</a:t>
            </a:r>
          </a:p>
        </p:txBody>
      </p:sp>
      <p:sp>
        <p:nvSpPr>
          <p:cNvPr id="10" name="Rectangle 9"/>
          <p:cNvSpPr/>
          <p:nvPr/>
        </p:nvSpPr>
        <p:spPr>
          <a:xfrm>
            <a:off x="4434840" y="3977639"/>
            <a:ext cx="3154680" cy="160020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434840" y="3977639"/>
            <a:ext cx="44450" cy="1600200"/>
          </a:xfrm>
          <a:prstGeom prst="rect">
            <a:avLst/>
          </a:prstGeom>
          <a:solidFill>
            <a:srgbClr val="1E66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90872" y="4178807"/>
            <a:ext cx="2697480" cy="274320"/>
          </a:xfrm>
          <a:prstGeom prst="rect">
            <a:avLst/>
          </a:prstGeom>
          <a:noFill/>
        </p:spPr>
        <p:txBody>
          <a:bodyPr wrap="square" anchor="t" lIns="0" rIns="0" tIns="0" bIns="0">
            <a:spAutoFit/>
          </a:bodyPr>
          <a:lstStyle/>
          <a:p>
            <a:pPr algn="l">
              <a:lnSpc>
                <a:spcPct val="100000"/>
              </a:lnSpc>
            </a:pPr>
            <a:r>
              <a:rPr sz="950" b="1">
                <a:solidFill>
                  <a:srgbClr val="526173"/>
                </a:solidFill>
                <a:latin typeface="Arial"/>
              </a:rPr>
              <a:t>THE INSTRUMENT</a:t>
            </a:r>
          </a:p>
        </p:txBody>
      </p:sp>
      <p:sp>
        <p:nvSpPr>
          <p:cNvPr id="13" name="TextBox 12"/>
          <p:cNvSpPr txBox="1"/>
          <p:nvPr/>
        </p:nvSpPr>
        <p:spPr>
          <a:xfrm>
            <a:off x="4690872" y="4453127"/>
            <a:ext cx="2697480" cy="548640"/>
          </a:xfrm>
          <a:prstGeom prst="rect">
            <a:avLst/>
          </a:prstGeom>
          <a:noFill/>
        </p:spPr>
        <p:txBody>
          <a:bodyPr wrap="square" anchor="t" lIns="0" rIns="0" tIns="0" bIns="0">
            <a:spAutoFit/>
          </a:bodyPr>
          <a:lstStyle/>
          <a:p>
            <a:pPr algn="l">
              <a:lnSpc>
                <a:spcPct val="100000"/>
              </a:lnSpc>
            </a:pPr>
            <a:r>
              <a:rPr sz="3000" b="1">
                <a:solidFill>
                  <a:srgbClr val="1E66B8"/>
                </a:solidFill>
                <a:latin typeface="Arial"/>
              </a:rPr>
              <a:t>0.991</a:t>
            </a:r>
          </a:p>
        </p:txBody>
      </p:sp>
      <p:sp>
        <p:nvSpPr>
          <p:cNvPr id="14" name="TextBox 13"/>
          <p:cNvSpPr txBox="1"/>
          <p:nvPr/>
        </p:nvSpPr>
        <p:spPr>
          <a:xfrm>
            <a:off x="4690872" y="5001767"/>
            <a:ext cx="2697480" cy="640080"/>
          </a:xfrm>
          <a:prstGeom prst="rect">
            <a:avLst/>
          </a:prstGeom>
          <a:noFill/>
        </p:spPr>
        <p:txBody>
          <a:bodyPr wrap="square" anchor="t" lIns="0" rIns="0" tIns="0" bIns="0">
            <a:spAutoFit/>
          </a:bodyPr>
          <a:lstStyle/>
          <a:p>
            <a:pPr algn="l">
              <a:lnSpc>
                <a:spcPct val="110000"/>
              </a:lnSpc>
            </a:pPr>
            <a:r>
              <a:rPr sz="1100" b="0">
                <a:solidFill>
                  <a:srgbClr val="526173"/>
                </a:solidFill>
                <a:latin typeface="Calibri"/>
              </a:rPr>
              <a:t>ICC, so every number above has an error bar</a:t>
            </a:r>
          </a:p>
        </p:txBody>
      </p:sp>
      <p:sp>
        <p:nvSpPr>
          <p:cNvPr id="15" name="Rectangle 14"/>
          <p:cNvSpPr/>
          <p:nvPr/>
        </p:nvSpPr>
        <p:spPr>
          <a:xfrm>
            <a:off x="7863840" y="3977639"/>
            <a:ext cx="3154680" cy="160020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863840" y="3977639"/>
            <a:ext cx="44450" cy="1600200"/>
          </a:xfrm>
          <a:prstGeom prst="rect">
            <a:avLst/>
          </a:prstGeom>
          <a:solidFill>
            <a:srgbClr val="B454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19872" y="4178807"/>
            <a:ext cx="2697480" cy="274320"/>
          </a:xfrm>
          <a:prstGeom prst="rect">
            <a:avLst/>
          </a:prstGeom>
          <a:noFill/>
        </p:spPr>
        <p:txBody>
          <a:bodyPr wrap="square" anchor="t" lIns="0" rIns="0" tIns="0" bIns="0">
            <a:spAutoFit/>
          </a:bodyPr>
          <a:lstStyle/>
          <a:p>
            <a:pPr algn="l">
              <a:lnSpc>
                <a:spcPct val="100000"/>
              </a:lnSpc>
            </a:pPr>
            <a:r>
              <a:rPr sz="950" b="1">
                <a:solidFill>
                  <a:srgbClr val="526173"/>
                </a:solidFill>
                <a:latin typeface="Arial"/>
              </a:rPr>
              <a:t>THE COST</a:t>
            </a:r>
          </a:p>
        </p:txBody>
      </p:sp>
      <p:sp>
        <p:nvSpPr>
          <p:cNvPr id="18" name="TextBox 17"/>
          <p:cNvSpPr txBox="1"/>
          <p:nvPr/>
        </p:nvSpPr>
        <p:spPr>
          <a:xfrm>
            <a:off x="8119872" y="4453127"/>
            <a:ext cx="2697480" cy="548640"/>
          </a:xfrm>
          <a:prstGeom prst="rect">
            <a:avLst/>
          </a:prstGeom>
          <a:noFill/>
        </p:spPr>
        <p:txBody>
          <a:bodyPr wrap="square" anchor="t" lIns="0" rIns="0" tIns="0" bIns="0">
            <a:spAutoFit/>
          </a:bodyPr>
          <a:lstStyle/>
          <a:p>
            <a:pPr algn="l">
              <a:lnSpc>
                <a:spcPct val="100000"/>
              </a:lnSpc>
            </a:pPr>
            <a:r>
              <a:rPr sz="3000" b="1">
                <a:solidFill>
                  <a:srgbClr val="B45409"/>
                </a:solidFill>
                <a:latin typeface="Arial"/>
              </a:rPr>
              <a:t>12/20</a:t>
            </a:r>
          </a:p>
        </p:txBody>
      </p:sp>
      <p:sp>
        <p:nvSpPr>
          <p:cNvPr id="19" name="TextBox 18"/>
          <p:cNvSpPr txBox="1"/>
          <p:nvPr/>
        </p:nvSpPr>
        <p:spPr>
          <a:xfrm>
            <a:off x="8119872" y="5001767"/>
            <a:ext cx="2697480" cy="640080"/>
          </a:xfrm>
          <a:prstGeom prst="rect">
            <a:avLst/>
          </a:prstGeom>
          <a:noFill/>
        </p:spPr>
        <p:txBody>
          <a:bodyPr wrap="square" anchor="t" lIns="0" rIns="0" tIns="0" bIns="0">
            <a:spAutoFit/>
          </a:bodyPr>
          <a:lstStyle/>
          <a:p>
            <a:pPr algn="l">
              <a:lnSpc>
                <a:spcPct val="110000"/>
              </a:lnSpc>
            </a:pPr>
            <a:r>
              <a:rPr sz="1100" b="0">
                <a:solidFill>
                  <a:srgbClr val="526173"/>
                </a:solidFill>
                <a:latin typeface="Calibri"/>
              </a:rPr>
              <a:t>pairs where the raw story still read better</a:t>
            </a:r>
          </a:p>
        </p:txBody>
      </p:sp>
      <p:sp>
        <p:nvSpPr>
          <p:cNvPr id="20" name="TextBox 19"/>
          <p:cNvSpPr txBox="1"/>
          <p:nvPr/>
        </p:nvSpPr>
        <p:spPr>
          <a:xfrm>
            <a:off x="1005840" y="5989320"/>
            <a:ext cx="10241280" cy="365760"/>
          </a:xfrm>
          <a:prstGeom prst="rect">
            <a:avLst/>
          </a:prstGeom>
          <a:noFill/>
        </p:spPr>
        <p:txBody>
          <a:bodyPr wrap="square" anchor="t" lIns="0" rIns="0" tIns="0" bIns="0">
            <a:spAutoFit/>
          </a:bodyPr>
          <a:lstStyle/>
          <a:p>
            <a:pPr algn="l">
              <a:lnSpc>
                <a:spcPct val="100000"/>
              </a:lnSpc>
            </a:pPr>
            <a:r>
              <a:rPr sz="1300" b="0">
                <a:solidFill>
                  <a:srgbClr val="526173"/>
                </a:solidFill>
                <a:latin typeface="Calibri"/>
              </a:rPr>
              <a:t>github.com/memoelsamadony/ai-powered-data-storytelling  ·  Thank you — questions welcome</a:t>
            </a:r>
          </a:p>
        </p:txBody>
      </p:sp>
      <p:sp>
        <p:nvSpPr>
          <p:cNvPr id="21" name="TextBox 20"/>
          <p:cNvSpPr txBox="1"/>
          <p:nvPr/>
        </p:nvSpPr>
        <p:spPr>
          <a:xfrm>
            <a:off x="685800" y="6355080"/>
            <a:ext cx="8686800" cy="274320"/>
          </a:xfrm>
          <a:prstGeom prst="rect">
            <a:avLst/>
          </a:prstGeom>
          <a:noFill/>
        </p:spPr>
        <p:txBody>
          <a:bodyPr wrap="square" anchor="t" lIns="0" rIns="0" tIns="0" bIns="0">
            <a:spAutoFit/>
          </a:bodyPr>
          <a:lstStyle/>
          <a:p>
            <a:pPr algn="l">
              <a:lnSpc>
                <a:spcPct val="100000"/>
              </a:lnSpc>
            </a:pPr>
            <a:r>
              <a:rPr sz="900" b="0">
                <a:solidFill>
                  <a:srgbClr val="526173"/>
                </a:solidFill>
                <a:latin typeface="Calibri"/>
              </a:rPr>
              <a:t>AI-Powered Data Storytelling  ·  CMS Team Project  ·  TU Dresden  ·  SoSe 2026</a:t>
            </a:r>
          </a:p>
        </p:txBody>
      </p:sp>
      <p:sp>
        <p:nvSpPr>
          <p:cNvPr id="22" name="TextBox 21"/>
          <p:cNvSpPr txBox="1"/>
          <p:nvPr/>
        </p:nvSpPr>
        <p:spPr>
          <a:xfrm>
            <a:off x="10972800" y="6355080"/>
            <a:ext cx="548640" cy="274320"/>
          </a:xfrm>
          <a:prstGeom prst="rect">
            <a:avLst/>
          </a:prstGeom>
          <a:noFill/>
        </p:spPr>
        <p:txBody>
          <a:bodyPr wrap="square" anchor="t" lIns="0" rIns="0" tIns="0" bIns="0">
            <a:spAutoFit/>
          </a:bodyPr>
          <a:lstStyle/>
          <a:p>
            <a:pPr algn="r">
              <a:lnSpc>
                <a:spcPct val="100000"/>
              </a:lnSpc>
            </a:pPr>
            <a:r>
              <a:rPr sz="900" b="0">
                <a:solidFill>
                  <a:srgbClr val="526173"/>
                </a:solidFill>
                <a:latin typeface="Calibri"/>
              </a:rPr>
              <a:t>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