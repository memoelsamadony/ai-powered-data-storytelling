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[0:40]   running total 6:39   ~105 words</a:t>
            </a:r>
          </a:p>
          <a:p/>
          <a:p>
            <a:r>
              <a:t>How the model picks the figures, because people ask.</a:t>
            </a:r>
          </a:p>
          <a:p/>
          <a:p>
            <a:r>
              <a:t>Three steps. Which forms can this table carry - computed from column types, so</a:t>
            </a:r>
          </a:p>
          <a:p>
            <a:r>
              <a:t>it cannot propose a map for a table with no geography. Which are worth showing -</a:t>
            </a:r>
          </a:p>
          <a:p>
            <a:r>
              <a:t>the model. Is the result honest - computed again.</a:t>
            </a:r>
          </a:p>
          <a:p/>
          <a:p>
            <a:r>
              <a:t>The interesting part is the shape of the decision. Instead of seventeen flat</a:t>
            </a:r>
          </a:p>
          <a:p>
            <a:r>
              <a:t>chart types, the contract groups them into seven tools by the reader's job, with</a:t>
            </a:r>
          </a:p>
          <a:p>
            <a:r>
              <a:t>the geometry as an enum inside each. A two-level choice is what a local model</a:t>
            </a:r>
          </a:p>
          <a:p>
            <a:r>
              <a:t>does reliably.</a:t>
            </a:r>
          </a:p>
          <a:p/>
          <a:p>
            <a:r>
              <a:t>That surface is MCP-shaped and specified - a design, not a running server.</a:t>
            </a:r>
          </a:p>
          <a:p/>
          <a:p>
            <a:r>
              <a:t>DELIVERY: say "specified, not wired" out loud. Someone will ask to see the</a:t>
            </a:r>
          </a:p>
          <a:p>
            <a:r>
              <a:t>server.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Saleh</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Saleh</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Saleh</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HOW THE MODEL PICKS THE CHARTS</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A tool surface, so the decision is the model's and the rules are not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86000"/>
            <a:ext cx="2926080" cy="914400"/>
          </a:xfrm>
          <a:prstGeom prst="rect">
            <a:avLst/>
          </a:prstGeom>
          <a:noFill/>
        </p:spPr>
        <p:txBody>
          <a:bodyPr wrap="square" anchor="t" lIns="0" rIns="0" tIns="0" bIns="0">
            <a:spAutoFit/>
          </a:bodyPr>
          <a:lstStyle/>
          <a:p>
            <a:pPr algn="l">
              <a:lnSpc>
                <a:spcPct val="114000"/>
              </a:lnSpc>
            </a:pPr>
            <a:r>
              <a:rPr sz="1100" b="1">
                <a:solidFill>
                  <a:srgbClr val="1E66B8"/>
                </a:solidFill>
                <a:latin typeface="Arial"/>
              </a:rPr>
              <a:t>applicability.py   ·   computed</a:t>
            </a:r>
          </a:p>
          <a:p>
            <a:pPr algn="l">
              <a:lnSpc>
                <a:spcPct val="114000"/>
              </a:lnSpc>
              <a:spcBef>
                <a:spcPts val="400"/>
              </a:spcBef>
            </a:pPr>
            <a:r>
              <a:rPr sz="1200" b="0">
                <a:solidFill>
                  <a:srgbClr val="0F172A"/>
                </a:solidFill>
                <a:latin typeface="Calibri"/>
              </a:rPr>
              <a:t>which forms this table can carry</a:t>
            </a:r>
          </a:p>
        </p:txBody>
      </p:sp>
      <p:sp>
        <p:nvSpPr>
          <p:cNvPr id="8" name="TextBox 7"/>
          <p:cNvSpPr txBox="1"/>
          <p:nvPr/>
        </p:nvSpPr>
        <p:spPr>
          <a:xfrm>
            <a:off x="4123944" y="2542032"/>
            <a:ext cx="274320" cy="365760"/>
          </a:xfrm>
          <a:prstGeom prst="rect">
            <a:avLst/>
          </a:prstGeom>
          <a:noFill/>
        </p:spPr>
        <p:txBody>
          <a:bodyPr wrap="square" anchor="t" lIns="0" rIns="0" tIns="0" bIns="0">
            <a:spAutoFit/>
          </a:bodyPr>
          <a:lstStyle/>
          <a:p>
            <a:pPr algn="l">
              <a:lnSpc>
                <a:spcPct val="100000"/>
              </a:lnSpc>
            </a:pPr>
            <a:r>
              <a:rPr sz="2000" b="1">
                <a:solidFill>
                  <a:srgbClr val="D9DFE7"/>
                </a:solidFill>
                <a:latin typeface="Arial"/>
              </a:rPr>
              <a:t>›</a:t>
            </a:r>
          </a:p>
        </p:txBody>
      </p:sp>
      <p:sp>
        <p:nvSpPr>
          <p:cNvPr id="9" name="Rectangle 8"/>
          <p:cNvSpPr/>
          <p:nvPr/>
        </p:nvSpPr>
        <p:spPr>
          <a:xfrm>
            <a:off x="4398264"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7" y="2286000"/>
            <a:ext cx="2926080" cy="914400"/>
          </a:xfrm>
          <a:prstGeom prst="rect">
            <a:avLst/>
          </a:prstGeom>
          <a:noFill/>
        </p:spPr>
        <p:txBody>
          <a:bodyPr wrap="square" anchor="t" lIns="0" rIns="0" tIns="0" bIns="0">
            <a:spAutoFit/>
          </a:bodyPr>
          <a:lstStyle/>
          <a:p>
            <a:pPr algn="l">
              <a:lnSpc>
                <a:spcPct val="114000"/>
              </a:lnSpc>
            </a:pPr>
            <a:r>
              <a:rPr sz="1100" b="1">
                <a:solidFill>
                  <a:srgbClr val="20C4B0"/>
                </a:solidFill>
                <a:latin typeface="Arial"/>
              </a:rPr>
              <a:t>the model   ·   decided</a:t>
            </a:r>
          </a:p>
          <a:p>
            <a:pPr algn="l">
              <a:lnSpc>
                <a:spcPct val="114000"/>
              </a:lnSpc>
              <a:spcBef>
                <a:spcPts val="400"/>
              </a:spcBef>
            </a:pPr>
            <a:r>
              <a:rPr sz="1200" b="0">
                <a:solidFill>
                  <a:srgbClr val="0F172A"/>
                </a:solidFill>
                <a:latin typeface="Calibri"/>
              </a:rPr>
              <a:t>which of those are worth showing, and why</a:t>
            </a:r>
          </a:p>
        </p:txBody>
      </p:sp>
      <p:sp>
        <p:nvSpPr>
          <p:cNvPr id="12" name="TextBox 11"/>
          <p:cNvSpPr txBox="1"/>
          <p:nvPr/>
        </p:nvSpPr>
        <p:spPr>
          <a:xfrm>
            <a:off x="7836408" y="2542032"/>
            <a:ext cx="274320" cy="365760"/>
          </a:xfrm>
          <a:prstGeom prst="rect">
            <a:avLst/>
          </a:prstGeom>
          <a:noFill/>
        </p:spPr>
        <p:txBody>
          <a:bodyPr wrap="square" anchor="t" lIns="0" rIns="0" tIns="0" bIns="0">
            <a:spAutoFit/>
          </a:bodyPr>
          <a:lstStyle/>
          <a:p>
            <a:pPr algn="l">
              <a:lnSpc>
                <a:spcPct val="100000"/>
              </a:lnSpc>
            </a:pPr>
            <a:r>
              <a:rPr sz="2000" b="1">
                <a:solidFill>
                  <a:srgbClr val="D9DFE7"/>
                </a:solidFill>
                <a:latin typeface="Arial"/>
              </a:rPr>
              <a:t>›</a:t>
            </a:r>
          </a:p>
        </p:txBody>
      </p:sp>
      <p:sp>
        <p:nvSpPr>
          <p:cNvPr id="13" name="Rectangle 12"/>
          <p:cNvSpPr/>
          <p:nvPr/>
        </p:nvSpPr>
        <p:spPr>
          <a:xfrm>
            <a:off x="8110727"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1" y="2286000"/>
            <a:ext cx="2926080" cy="914400"/>
          </a:xfrm>
          <a:prstGeom prst="rect">
            <a:avLst/>
          </a:prstGeom>
          <a:noFill/>
        </p:spPr>
        <p:txBody>
          <a:bodyPr wrap="square" anchor="t" lIns="0" rIns="0" tIns="0" bIns="0">
            <a:spAutoFit/>
          </a:bodyPr>
          <a:lstStyle/>
          <a:p>
            <a:pPr algn="l">
              <a:lnSpc>
                <a:spcPct val="114000"/>
              </a:lnSpc>
            </a:pPr>
            <a:r>
              <a:rPr sz="1100" b="1">
                <a:solidFill>
                  <a:srgbClr val="0D1B5C"/>
                </a:solidFill>
                <a:latin typeface="Arial"/>
              </a:rPr>
              <a:t>validate.py   ·   computed</a:t>
            </a:r>
          </a:p>
          <a:p>
            <a:pPr algn="l">
              <a:lnSpc>
                <a:spcPct val="114000"/>
              </a:lnSpc>
              <a:spcBef>
                <a:spcPts val="400"/>
              </a:spcBef>
            </a:pPr>
            <a:r>
              <a:rPr sz="1200" b="0">
                <a:solidFill>
                  <a:srgbClr val="0F172A"/>
                </a:solidFill>
                <a:latin typeface="Calibri"/>
              </a:rPr>
              <a:t>whether the spec is honest</a:t>
            </a:r>
          </a:p>
        </p:txBody>
      </p:sp>
      <p:sp>
        <p:nvSpPr>
          <p:cNvPr id="16" name="TextBox 15"/>
          <p:cNvSpPr txBox="1"/>
          <p:nvPr/>
        </p:nvSpPr>
        <p:spPr>
          <a:xfrm>
            <a:off x="685800" y="3401568"/>
            <a:ext cx="10789920" cy="274320"/>
          </a:xfrm>
          <a:prstGeom prst="rect">
            <a:avLst/>
          </a:prstGeom>
          <a:noFill/>
        </p:spPr>
        <p:txBody>
          <a:bodyPr wrap="square" anchor="t" lIns="0" rIns="0" tIns="0" bIns="0">
            <a:spAutoFit/>
          </a:bodyPr>
          <a:lstStyle/>
          <a:p>
            <a:pPr algn="l">
              <a:lnSpc>
                <a:spcPct val="100000"/>
              </a:lnSpc>
            </a:pPr>
            <a:r>
              <a:rPr sz="1150" b="0">
                <a:solidFill>
                  <a:srgbClr val="526173"/>
                </a:solidFill>
                <a:latin typeface="Calibri"/>
              </a:rPr>
              <a:t>Computing what is possible before asking what is best is what makes this work on a local model: the prompt shrinks from seventeen forms with their rules to a handful of pre-validated candidates.</a:t>
            </a:r>
          </a:p>
        </p:txBody>
      </p:sp>
      <p:sp>
        <p:nvSpPr>
          <p:cNvPr id="17" name="Rectangle 16"/>
          <p:cNvSpPr/>
          <p:nvPr/>
        </p:nvSpPr>
        <p:spPr>
          <a:xfrm>
            <a:off x="685800" y="3840480"/>
            <a:ext cx="6949440" cy="21945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840480"/>
            <a:ext cx="6949440" cy="5080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4041648"/>
            <a:ext cx="6492240" cy="36576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THE MCP-SHAPED TOOL SURFACE</a:t>
            </a:r>
          </a:p>
        </p:txBody>
      </p:sp>
      <p:sp>
        <p:nvSpPr>
          <p:cNvPr id="20" name="TextBox 19"/>
          <p:cNvSpPr txBox="1"/>
          <p:nvPr/>
        </p:nvSpPr>
        <p:spPr>
          <a:xfrm>
            <a:off x="932688" y="4370832"/>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7 chart tools</a:t>
            </a:r>
          </a:p>
        </p:txBody>
      </p:sp>
      <p:sp>
        <p:nvSpPr>
          <p:cNvPr id="21" name="TextBox 20"/>
          <p:cNvSpPr txBox="1"/>
          <p:nvPr/>
        </p:nvSpPr>
        <p:spPr>
          <a:xfrm>
            <a:off x="2651760" y="4370832"/>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plot_trend_over_time, plot_magnitude, plot_change, plot_relationship, plot_geographic, plot_distribution, show_headline</a:t>
            </a:r>
          </a:p>
        </p:txBody>
      </p:sp>
      <p:sp>
        <p:nvSpPr>
          <p:cNvPr id="22" name="TextBox 21"/>
          <p:cNvSpPr txBox="1"/>
          <p:nvPr/>
        </p:nvSpPr>
        <p:spPr>
          <a:xfrm>
            <a:off x="932688" y="4901184"/>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3 read tools</a:t>
            </a:r>
          </a:p>
        </p:txBody>
      </p:sp>
      <p:sp>
        <p:nvSpPr>
          <p:cNvPr id="23" name="TextBox 22"/>
          <p:cNvSpPr txBox="1"/>
          <p:nvPr/>
        </p:nvSpPr>
        <p:spPr>
          <a:xfrm>
            <a:off x="2651760" y="4901184"/>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what makes it an agent rather than a classifier: it can look at the table before it commits to a figure</a:t>
            </a:r>
          </a:p>
        </p:txBody>
      </p:sp>
      <p:sp>
        <p:nvSpPr>
          <p:cNvPr id="24" name="TextBox 23"/>
          <p:cNvSpPr txBox="1"/>
          <p:nvPr/>
        </p:nvSpPr>
        <p:spPr>
          <a:xfrm>
            <a:off x="932688" y="5431536"/>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A two-level decision</a:t>
            </a:r>
          </a:p>
        </p:txBody>
      </p:sp>
      <p:sp>
        <p:nvSpPr>
          <p:cNvPr id="25" name="TextBox 24"/>
          <p:cNvSpPr txBox="1"/>
          <p:nvPr/>
        </p:nvSpPr>
        <p:spPr>
          <a:xfrm>
            <a:off x="2651760" y="5431536"/>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the tool is the reader's job; the form enum inside it is the geometry. Seventeen flat forms is past what a local model picks reliably — seven tools with enums is not.</a:t>
            </a:r>
          </a:p>
        </p:txBody>
      </p:sp>
      <p:sp>
        <p:nvSpPr>
          <p:cNvPr id="26" name="Rectangle 25"/>
          <p:cNvSpPr/>
          <p:nvPr/>
        </p:nvSpPr>
        <p:spPr>
          <a:xfrm>
            <a:off x="7955279" y="3840480"/>
            <a:ext cx="3547872" cy="21945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55279" y="3840480"/>
            <a:ext cx="3547872" cy="5080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02168" y="4041648"/>
            <a:ext cx="3063240" cy="1828800"/>
          </a:xfrm>
          <a:prstGeom prst="rect">
            <a:avLst/>
          </a:prstGeom>
          <a:noFill/>
        </p:spPr>
        <p:txBody>
          <a:bodyPr wrap="square" anchor="t" lIns="0" rIns="0" tIns="0" bIns="0">
            <a:spAutoFit/>
          </a:bodyPr>
          <a:lstStyle/>
          <a:p>
            <a:pPr algn="l">
              <a:lnSpc>
                <a:spcPct val="114000"/>
              </a:lnSpc>
            </a:pPr>
            <a:r>
              <a:rPr sz="1250" b="1">
                <a:solidFill>
                  <a:srgbClr val="B45409"/>
                </a:solidFill>
                <a:latin typeface="Calibri"/>
              </a:rPr>
              <a:t>Specified, not wired</a:t>
            </a:r>
          </a:p>
          <a:p>
            <a:pPr algn="l">
              <a:lnSpc>
                <a:spcPct val="114000"/>
              </a:lnSpc>
              <a:spcBef>
                <a:spcPts val="500"/>
              </a:spcBef>
            </a:pPr>
            <a:r>
              <a:rPr sz="1100" b="0">
                <a:solidFill>
                  <a:srgbClr val="0F172A"/>
                </a:solidFill>
                <a:latin typeface="Calibri"/>
              </a:rPr>
              <a:t>The contract defines these tools and the build emits a JSON schema shaped to drop straight in as an MCP inputSchema — the same file the validator reads, so tool docs and rules cannot drift apart.</a:t>
            </a:r>
          </a:p>
          <a:p>
            <a:pPr algn="l">
              <a:lnSpc>
                <a:spcPct val="114000"/>
              </a:lnSpc>
              <a:spcBef>
                <a:spcPts val="500"/>
              </a:spcBef>
            </a:pPr>
            <a:r>
              <a:rPr sz="1100" b="1">
                <a:solidFill>
                  <a:srgbClr val="0D1B5C"/>
                </a:solidFill>
                <a:latin typeface="Calibri"/>
              </a:rPr>
              <a:t>Today the selector makes one structured call instead. The surface is a written design, not a running server.</a:t>
            </a:r>
          </a:p>
        </p:txBody>
      </p:sp>
      <p:sp>
        <p:nvSpPr>
          <p:cNvPr id="29" name="TextBox 2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0" name="TextBox 2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6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600" b="1">
                <a:solidFill>
                  <a:srgbClr val="0D1B5C"/>
                </a:solidFill>
                <a:latin typeface="Arial"/>
              </a:rPr>
              <a:t>without losing the numbers, and at a cost in readability we can state.</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00" b="0">
                <a:solidFill>
                  <a:srgbClr val="526173"/>
                </a:solidFill>
                <a:latin typeface="Calibri"/>
              </a:rPr>
              <a:t>What we are not claiming: one judge family agreeing with itself, not a panel. No user study. Twenty-five human stories from five writer slots, not a controlled writer design.</a:t>
            </a:r>
          </a:p>
          <a:p>
            <a:pPr algn="l">
              <a:lnSpc>
                <a:spcPct val="116000"/>
              </a:lnSpc>
              <a:spcBef>
                <a:spcPts val="600"/>
              </a:spcBef>
            </a:pPr>
            <a:r>
              <a:rPr sz="1200" b="0">
                <a:solidFill>
                  <a:srgbClr val="526173"/>
                </a:solidFill>
                <a:latin typeface="Calibri"/>
              </a:rPr>
              <a:t>Everything in this deck is generated from the experiment files in the repository, so the numbers and the slides cannot drift apart.</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Saleh</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