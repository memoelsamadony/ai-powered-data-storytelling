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[0:40]   running total 6:39   ~100 words</a:t>
            </a:r>
          </a:p>
          <a:p/>
          <a:p>
            <a:r>
              <a:t>How the model actually decides which figures to draw.</a:t>
            </a:r>
          </a:p>
          <a:p/>
          <a:p>
            <a:r>
              <a:t>Seventeen flat chart types is past what a local model picks reliably. So the</a:t>
            </a:r>
          </a:p>
          <a:p>
            <a:r>
              <a:t>contract groups them into seven tools by the reader's job - trend over time,</a:t>
            </a:r>
          </a:p>
          <a:p>
            <a:r>
              <a:t>magnitude, change, relationship, geographic, distribution, headline - and puts</a:t>
            </a:r>
          </a:p>
          <a:p>
            <a:r>
              <a:t>the geometry in an enum inside each. That is a two-level decision, and it is one</a:t>
            </a:r>
          </a:p>
          <a:p>
            <a:r>
              <a:t>a local model makes well.</a:t>
            </a:r>
          </a:p>
          <a:p/>
          <a:p>
            <a:r>
              <a:t>The three read tools on the right are what make this an agent rather than a</a:t>
            </a:r>
          </a:p>
          <a:p>
            <a:r>
              <a:t>classifier. Without them the model picks a form blind from a prompt string. With</a:t>
            </a:r>
          </a:p>
          <a:p>
            <a:r>
              <a:t>them it can look at the table first, find that two measures differ by a hundred</a:t>
            </a:r>
          </a:p>
          <a:p>
            <a:r>
              <a:t>times, and derive that it needs an indexed transform.</a:t>
            </a:r>
          </a:p>
          <a:p/>
          <a:p>
            <a:r>
              <a:t>DELIVERY: name the seven tools as a group, do not read them one by one. Spend</a:t>
            </a:r>
          </a:p>
          <a:p>
            <a:r>
              <a:t>the time on the read tools - that is the interesting half. If asked whether the</a:t>
            </a:r>
          </a:p>
          <a:p>
            <a:r>
              <a:t>MCP server is running: it is not, the selector makes one structured call today</a:t>
            </a:r>
          </a:p>
          <a:p>
            <a:r>
              <a:t>and the tool loop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Saleh</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Saleh</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Saleh</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TOOL SURFACE</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Seventeen flat chart types is past what a local model picks. Seven tools plus an enum is not.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95728"/>
            <a:ext cx="576072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CHART TOOLS (7)  —  each returns a ChartPayload</a:t>
            </a:r>
          </a:p>
        </p:txBody>
      </p:sp>
      <p:sp>
        <p:nvSpPr>
          <p:cNvPr id="6" name="Rectangle 5"/>
          <p:cNvSpPr/>
          <p:nvPr/>
        </p:nvSpPr>
        <p:spPr>
          <a:xfrm>
            <a:off x="685800" y="270662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432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plot_trend_over_time</a:t>
            </a:r>
          </a:p>
        </p:txBody>
      </p:sp>
      <p:sp>
        <p:nvSpPr>
          <p:cNvPr id="8" name="TextBox 7"/>
          <p:cNvSpPr txBox="1"/>
          <p:nvPr/>
        </p:nvSpPr>
        <p:spPr>
          <a:xfrm>
            <a:off x="3520440" y="27523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line, area  (+ stack, indexed, emphasis)</a:t>
            </a:r>
          </a:p>
        </p:txBody>
      </p:sp>
      <p:sp>
        <p:nvSpPr>
          <p:cNvPr id="9" name="TextBox 8"/>
          <p:cNvSpPr txBox="1"/>
          <p:nvPr/>
        </p:nvSpPr>
        <p:spPr>
          <a:xfrm>
            <a:off x="868680" y="31546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plot_magnitude</a:t>
            </a:r>
          </a:p>
        </p:txBody>
      </p:sp>
      <p:sp>
        <p:nvSpPr>
          <p:cNvPr id="10" name="TextBox 9"/>
          <p:cNvSpPr txBox="1"/>
          <p:nvPr/>
        </p:nvSpPr>
        <p:spPr>
          <a:xfrm>
            <a:off x="3520440" y="31638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bar, lollipop, heatmap</a:t>
            </a:r>
          </a:p>
        </p:txBody>
      </p:sp>
      <p:sp>
        <p:nvSpPr>
          <p:cNvPr id="11" name="Rectangle 10"/>
          <p:cNvSpPr/>
          <p:nvPr/>
        </p:nvSpPr>
        <p:spPr>
          <a:xfrm>
            <a:off x="685800" y="352958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6616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plot_change</a:t>
            </a:r>
          </a:p>
        </p:txBody>
      </p:sp>
      <p:sp>
        <p:nvSpPr>
          <p:cNvPr id="13" name="TextBox 12"/>
          <p:cNvSpPr txBox="1"/>
          <p:nvPr/>
        </p:nvSpPr>
        <p:spPr>
          <a:xfrm>
            <a:off x="3520440" y="357530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dumbbell, slope, bump</a:t>
            </a:r>
          </a:p>
        </p:txBody>
      </p:sp>
      <p:sp>
        <p:nvSpPr>
          <p:cNvPr id="14" name="TextBox 13"/>
          <p:cNvSpPr txBox="1"/>
          <p:nvPr/>
        </p:nvSpPr>
        <p:spPr>
          <a:xfrm>
            <a:off x="868680" y="3977639"/>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plot_relationship</a:t>
            </a:r>
          </a:p>
        </p:txBody>
      </p:sp>
      <p:sp>
        <p:nvSpPr>
          <p:cNvPr id="15" name="TextBox 14"/>
          <p:cNvSpPr txBox="1"/>
          <p:nvPr/>
        </p:nvSpPr>
        <p:spPr>
          <a:xfrm>
            <a:off x="3520440" y="398678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scatter, connectedScatter, parallelCoordinates</a:t>
            </a:r>
          </a:p>
        </p:txBody>
      </p:sp>
      <p:sp>
        <p:nvSpPr>
          <p:cNvPr id="16" name="Rectangle 15"/>
          <p:cNvSpPr/>
          <p:nvPr/>
        </p:nvSpPr>
        <p:spPr>
          <a:xfrm>
            <a:off x="685800" y="435254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8912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plot_geographic</a:t>
            </a:r>
          </a:p>
        </p:txBody>
      </p:sp>
      <p:sp>
        <p:nvSpPr>
          <p:cNvPr id="18" name="TextBox 17"/>
          <p:cNvSpPr txBox="1"/>
          <p:nvPr/>
        </p:nvSpPr>
        <p:spPr>
          <a:xfrm>
            <a:off x="3520440" y="439826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choropleth, bivariateChoropleth</a:t>
            </a:r>
          </a:p>
        </p:txBody>
      </p:sp>
      <p:sp>
        <p:nvSpPr>
          <p:cNvPr id="19" name="TextBox 18"/>
          <p:cNvSpPr txBox="1"/>
          <p:nvPr/>
        </p:nvSpPr>
        <p:spPr>
          <a:xfrm>
            <a:off x="868680" y="48006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plot_distribution</a:t>
            </a:r>
          </a:p>
        </p:txBody>
      </p:sp>
      <p:sp>
        <p:nvSpPr>
          <p:cNvPr id="20" name="TextBox 19"/>
          <p:cNvSpPr txBox="1"/>
          <p:nvPr/>
        </p:nvSpPr>
        <p:spPr>
          <a:xfrm>
            <a:off x="3520440" y="48097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beeswarm, box, ridgeline</a:t>
            </a:r>
          </a:p>
        </p:txBody>
      </p:sp>
      <p:sp>
        <p:nvSpPr>
          <p:cNvPr id="21" name="Rectangle 20"/>
          <p:cNvSpPr/>
          <p:nvPr/>
        </p:nvSpPr>
        <p:spPr>
          <a:xfrm>
            <a:off x="685800" y="517550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2120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show_headline</a:t>
            </a:r>
          </a:p>
        </p:txBody>
      </p:sp>
      <p:sp>
        <p:nvSpPr>
          <p:cNvPr id="23" name="TextBox 22"/>
          <p:cNvSpPr txBox="1"/>
          <p:nvPr/>
        </p:nvSpPr>
        <p:spPr>
          <a:xfrm>
            <a:off x="3520440" y="52212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statTile</a:t>
            </a:r>
          </a:p>
        </p:txBody>
      </p:sp>
      <p:sp>
        <p:nvSpPr>
          <p:cNvPr id="24" name="TextBox 23"/>
          <p:cNvSpPr txBox="1"/>
          <p:nvPr/>
        </p:nvSpPr>
        <p:spPr>
          <a:xfrm>
            <a:off x="685800" y="5614416"/>
            <a:ext cx="57607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The form enum is documented with the validator's own rule text, so a tool description cannot drift from the rule it promises.</a:t>
            </a:r>
          </a:p>
        </p:txBody>
      </p:sp>
      <p:sp>
        <p:nvSpPr>
          <p:cNvPr id="25" name="TextBox 24"/>
          <p:cNvSpPr txBox="1"/>
          <p:nvPr/>
        </p:nvSpPr>
        <p:spPr>
          <a:xfrm>
            <a:off x="6720840" y="2395728"/>
            <a:ext cx="478231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READ TOOLS (3)  —  what makes it an agent, not a classifier</a:t>
            </a:r>
          </a:p>
        </p:txBody>
      </p:sp>
      <p:sp>
        <p:nvSpPr>
          <p:cNvPr id="26" name="Rectangle 25"/>
          <p:cNvSpPr/>
          <p:nvPr/>
        </p:nvSpPr>
        <p:spPr>
          <a:xfrm>
            <a:off x="6720840" y="2706624"/>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9440" y="2743200"/>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describe_dataset</a:t>
            </a:r>
          </a:p>
          <a:p>
            <a:pPr algn="l">
              <a:lnSpc>
                <a:spcPct val="114000"/>
              </a:lnSpc>
              <a:spcBef>
                <a:spcPts val="300"/>
              </a:spcBef>
            </a:pPr>
            <a:r>
              <a:rPr sz="1100" b="0">
                <a:solidFill>
                  <a:srgbClr val="0F172A"/>
                </a:solidFill>
                <a:latin typeface="Calibri"/>
              </a:rPr>
              <a:t>dimensions, measures, span, row count, missingness, and the magnitude ratio between measures</a:t>
            </a:r>
          </a:p>
        </p:txBody>
      </p:sp>
      <p:sp>
        <p:nvSpPr>
          <p:cNvPr id="28" name="Rectangle 27"/>
          <p:cNvSpPr/>
          <p:nvPr/>
        </p:nvSpPr>
        <p:spPr>
          <a:xfrm>
            <a:off x="6720840" y="3493008"/>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3529584"/>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get_series</a:t>
            </a:r>
          </a:p>
          <a:p>
            <a:pPr algn="l">
              <a:lnSpc>
                <a:spcPct val="114000"/>
              </a:lnSpc>
              <a:spcBef>
                <a:spcPts val="300"/>
              </a:spcBef>
            </a:pPr>
            <a:r>
              <a:rPr sz="1100" b="0">
                <a:solidFill>
                  <a:srgbClr val="0F172A"/>
                </a:solidFill>
                <a:latin typeface="Calibri"/>
              </a:rPr>
              <a:t>a ChartFrame for one measure, grouped, filtered and aggregated as asked</a:t>
            </a:r>
          </a:p>
        </p:txBody>
      </p:sp>
      <p:sp>
        <p:nvSpPr>
          <p:cNvPr id="30" name="Rectangle 29"/>
          <p:cNvSpPr/>
          <p:nvPr/>
        </p:nvSpPr>
        <p:spPr>
          <a:xfrm>
            <a:off x="6720840" y="4279392"/>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9440" y="4315968"/>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check_comparability</a:t>
            </a:r>
          </a:p>
          <a:p>
            <a:pPr algn="l">
              <a:lnSpc>
                <a:spcPct val="114000"/>
              </a:lnSpc>
              <a:spcBef>
                <a:spcPts val="300"/>
              </a:spcBef>
            </a:pPr>
            <a:r>
              <a:rPr sz="1100" b="0">
                <a:solidFill>
                  <a:srgbClr val="0F172A"/>
                </a:solidFill>
                <a:latin typeface="Calibri"/>
              </a:rPr>
              <a:t>whether a per-capita denominator exists — and whether it is needed</a:t>
            </a:r>
          </a:p>
        </p:txBody>
      </p:sp>
      <p:sp>
        <p:nvSpPr>
          <p:cNvPr id="32" name="Rectangle 31"/>
          <p:cNvSpPr/>
          <p:nvPr/>
        </p:nvSpPr>
        <p:spPr>
          <a:xfrm>
            <a:off x="6720840" y="5175504"/>
            <a:ext cx="4782312" cy="8229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20840" y="5175504"/>
            <a:ext cx="44450" cy="82296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67728" y="5321808"/>
            <a:ext cx="4343400" cy="594360"/>
          </a:xfrm>
          <a:prstGeom prst="rect">
            <a:avLst/>
          </a:prstGeom>
          <a:noFill/>
        </p:spPr>
        <p:txBody>
          <a:bodyPr wrap="square" anchor="t" lIns="0" rIns="0" tIns="0" bIns="0">
            <a:spAutoFit/>
          </a:bodyPr>
          <a:lstStyle/>
          <a:p>
            <a:pPr algn="l">
              <a:lnSpc>
                <a:spcPct val="114000"/>
              </a:lnSpc>
            </a:pPr>
            <a:r>
              <a:rPr sz="1100" b="0">
                <a:solidFill>
                  <a:srgbClr val="0F172A"/>
                </a:solidFill>
                <a:latin typeface="Calibri"/>
              </a:rPr>
              <a:t>Without the read tools the model picks a form blind from a prompt string. With them it can discover that two measures differ by 100× and derive that it needs an indexed transform.</a:t>
            </a:r>
          </a:p>
        </p:txBody>
      </p:sp>
      <p:sp>
        <p:nvSpPr>
          <p:cNvPr id="35" name="TextBox 34"/>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Defined in docs/CHART_CONTRACT.md and pinned by the generated docs/chart-schema.json. Today the selector makes one structured call; the tool loop is the next step.</a:t>
            </a:r>
          </a:p>
        </p:txBody>
      </p:sp>
      <p:sp>
        <p:nvSpPr>
          <p:cNvPr id="36" name="TextBox 35"/>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7" name="TextBox 36"/>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34440"/>
            <a:ext cx="10241280" cy="1828800"/>
          </a:xfrm>
          <a:prstGeom prst="rect">
            <a:avLst/>
          </a:prstGeom>
          <a:noFill/>
        </p:spPr>
        <p:txBody>
          <a:bodyPr wrap="square" anchor="t" lIns="0" rIns="0" tIns="0" bIns="0">
            <a:spAutoFit/>
          </a:bodyPr>
          <a:lstStyle/>
          <a:p>
            <a:pPr algn="l">
              <a:lnSpc>
                <a:spcPct val="114000"/>
              </a:lnSpc>
            </a:pPr>
            <a:r>
              <a:rPr sz="1300" b="1">
                <a:solidFill>
                  <a:srgbClr val="0E8F86"/>
                </a:solidFill>
                <a:latin typeface="Arial"/>
              </a:rPr>
              <a:t>What we can defend</a:t>
            </a:r>
          </a:p>
          <a:p>
            <a:pPr algn="l">
              <a:lnSpc>
                <a:spcPct val="114000"/>
              </a:lnSpc>
              <a:spcBef>
                <a:spcPts val="1200"/>
              </a:spcBef>
            </a:pPr>
            <a:r>
              <a:rPr sz="3400" b="1">
                <a:solidFill>
                  <a:srgbClr val="0D1B5C"/>
                </a:solidFill>
                <a:latin typeface="Arial"/>
              </a:rPr>
              <a:t>A second agent reaches the human tone level,</a:t>
            </a:r>
          </a:p>
          <a:p>
            <a:pPr algn="l">
              <a:lnSpc>
                <a:spcPct val="114000"/>
              </a:lnSpc>
              <a:spcBef>
                <a:spcPts val="200"/>
              </a:spcBef>
            </a:pPr>
            <a:r>
              <a:rPr sz="3400" b="1">
                <a:solidFill>
                  <a:srgbClr val="0D1B5C"/>
                </a:solidFill>
                <a:latin typeface="Arial"/>
              </a:rPr>
              <a:t>keeps the numbers, and costs some readability.</a:t>
            </a:r>
          </a:p>
          <a:p>
            <a:pPr algn="l">
              <a:lnSpc>
                <a:spcPct val="114000"/>
              </a:lnSpc>
              <a:spcBef>
                <a:spcPts val="1200"/>
              </a:spcBef>
            </a:pPr>
            <a:r>
              <a:rPr sz="1500" b="0">
                <a:solidFill>
                  <a:srgbClr val="526173"/>
                </a:solidFill>
                <a:latin typeface="Calibri"/>
              </a:rPr>
              <a:t>All three are measured, not asserted — one number each.</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raw to moderated, over 32 runs. Human median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over 3 blind passes: the judge agrees with itself, so the move above is real.</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blind pairs where the unmoderated story read better as writing.</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50" b="0">
                <a:solidFill>
                  <a:srgbClr val="526173"/>
                </a:solidFill>
                <a:latin typeface="Calibri"/>
              </a:rPr>
              <a:t>Not claimed: a judge panel, a user study, or a controlled writer design. One judge family, 25 stories, five writer slots.</a:t>
            </a:r>
          </a:p>
          <a:p>
            <a:pPr algn="l">
              <a:lnSpc>
                <a:spcPct val="116000"/>
              </a:lnSpc>
              <a:spcBef>
                <a:spcPts val="700"/>
              </a:spcBef>
            </a:pPr>
            <a:r>
              <a:rPr sz="1250" b="0">
                <a:solidFill>
                  <a:srgbClr val="526173"/>
                </a:solidFill>
                <a:latin typeface="Calibri"/>
              </a:rPr>
              <a:t>Every number here is read from the experiment files at build time, so the slides cannot drift from the data.</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Saleh</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