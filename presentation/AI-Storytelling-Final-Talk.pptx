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Mahmoud   [0:15]   running total 0:15   ~40 words</a:t>
            </a:r>
          </a:p>
          <a:p/>
          <a:p>
            <a:r>
              <a:t>Good afternoon. We turn a public-health table into a written story. The part we</a:t>
            </a:r>
          </a:p>
          <a:p>
            <a:r>
              <a:t>want to defend today is the second agent: it reads that story and pulls the</a:t>
            </a:r>
          </a:p>
          <a:p>
            <a:r>
              <a:t>emotional tone back to what the evidence supports.</a:t>
            </a:r>
          </a:p>
          <a:p/>
          <a:p>
            <a:r>
              <a:t>Four parts, then a live demo.</a:t>
            </a:r>
          </a:p>
          <a:p/>
          <a:p>
            <a:r>
              <a:t>DELIVERY: do not read the names, they are on the slide. Go straight to the</a:t>
            </a:r>
          </a:p>
          <a:p>
            <a:r>
              <a:t>sentence about the second agent.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Mahmoud   [0:20]   running total 0:35   ~38 words</a:t>
            </a:r>
          </a:p>
          <a:p/>
          <a:p>
            <a:r>
              <a:t>Four parts. What the research told us and the problem it exposed. What we built</a:t>
            </a:r>
          </a:p>
          <a:p>
            <a:r>
              <a:t>and how we measure it. What a reader sees, and how we picked the model pair.</a:t>
            </a:r>
          </a:p>
          <a:p>
            <a:r>
              <a:t>Then the result and the system itself, and we finish live in the app.</a:t>
            </a:r>
          </a:p>
          <a:p/>
          <a:p>
            <a:r>
              <a:t>DELIVERY: fifteen seconds. Read the four part names, point at the claim on the</a:t>
            </a:r>
          </a:p>
          <a:p>
            <a:r>
              <a:t>right, move on. Do not explain the claim here - the whole talk is the</a:t>
            </a:r>
          </a:p>
          <a:p>
            <a:r>
              <a:t>explanation.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Mahmoud   [0:05]   running total 0:40   ~15 words</a:t>
            </a:r>
          </a:p>
          <a:p/>
          <a:p>
            <a:r>
              <a:t>First: what the field already does, and the gap we found in it.</a:t>
            </a:r>
          </a:p>
          <a:p/>
          <a:p>
            <a:r>
              <a:t>DELIVERY: one line, then move. A divider is a beat, not a slide to 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Mahmoud   [0:35]   running total 1:15   ~100 words</a:t>
            </a:r>
          </a:p>
          <a:p/>
          <a:p>
            <a:r>
              <a:t>We surveyed the field, and the report lists it. These are the three we re-ran</a:t>
            </a:r>
          </a:p>
          <a:p>
            <a:r>
              <a:t>ourselves, because they shaped what we built.</a:t>
            </a:r>
          </a:p>
          <a:p/>
          <a:p>
            <a:r>
              <a:t>Kasner and Dušek: are open models faithful? Re-running their method, a 12B model</a:t>
            </a:r>
          </a:p>
          <a:p>
            <a:r>
              <a:t>left an error in about 18 percent of outputs where the paper reported over 80.</a:t>
            </a:r>
          </a:p>
          <a:p/>
          <a:p>
            <a:r>
              <a:t>DataTales: which claims are hard? Stating a number is not the hard part.</a:t>
            </a:r>
          </a:p>
          <a:p>
            <a:r>
              <a:t>Explaining it is.</a:t>
            </a:r>
          </a:p>
          <a:p/>
          <a:p>
            <a:r>
              <a:t>DataNarrative gave us the architecture - one agent writes, a second checks.</a:t>
            </a:r>
          </a:p>
          <a:p/>
          <a:p>
            <a:r>
              <a:t>Together, that is the bar at the bottom. Another fact-checker is not the gap.</a:t>
            </a:r>
          </a:p>
          <a:p/>
          <a:p>
            <a:r>
              <a:t>DELIVERY: three cards, one sentence each, then the bottom bar. If asked about</a:t>
            </a:r>
          </a:p>
          <a:p>
            <a:r>
              <a:t>the wider survey, it is in the interim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Mahmoud   [0:30]   running total 1:45   ~98 words   &gt;&gt;&gt; HAND TO OKASHA</a:t>
            </a:r>
          </a:p>
          <a:p/>
          <a:p>
            <a:r>
              <a:t>So here is the problem we noticed.</a:t>
            </a:r>
          </a:p>
          <a:p/>
          <a:p>
            <a:r>
              <a:t>The critic is always a fact-checker. But Hullman and Diakopoulos showed framing</a:t>
            </a:r>
          </a:p>
          <a:p>
            <a:r>
              <a:t>alone significantly changes how people read the same chart. Tone is part of the</a:t>
            </a:r>
          </a:p>
          <a:p>
            <a:r>
              <a:t>claim.</a:t>
            </a:r>
          </a:p>
          <a:p/>
          <a:p>
            <a:r>
              <a:t>[POINT] Both sentences are true to the table. A fact-checker passes both. One</a:t>
            </a:r>
          </a:p>
          <a:p>
            <a:r>
              <a:t>catastrophises, one is calibrated, and nothing in the literature tells them</a:t>
            </a:r>
          </a:p>
          <a:p>
            <a:r>
              <a:t>apart.</a:t>
            </a:r>
          </a:p>
          <a:p/>
          <a:p>
            <a:r>
              <a:t>Okasha will show you what we built for that.</a:t>
            </a:r>
          </a:p>
          <a:p/>
          <a:p>
            <a:r>
              <a:t>DELIVERY: read both quotes out loud, slowly. This is the motivation and it lands</a:t>
            </a:r>
          </a:p>
          <a:p>
            <a:r>
              <a:t>in ten seconds if you actually perform the contrast.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Okasha   [0:05]   running total 1:50   ~15 words</a:t>
            </a:r>
          </a:p>
          <a:p/>
          <a:p>
            <a:r>
              <a:t>Thank you. I will take the system itself, and then how we put a number on tone.</a:t>
            </a:r>
          </a:p>
          <a:p/>
          <a:p>
            <a:r>
              <a:t>DELIVERY: your first words as a new speaker. Say them to the room, not the</a:t>
            </a:r>
          </a:p>
          <a:p>
            <a:r>
              <a:t>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Okasha   [0:33]   running total 2:23   ~82 words</a:t>
            </a:r>
          </a:p>
          <a:p/>
          <a:p>
            <a:r>
              <a:t>Three roles, but only two local models.</a:t>
            </a:r>
          </a:p>
          <a:p/>
          <a:p>
            <a:r>
              <a:t>A generator writes the draft. Then the moderator - the agentic role here - does</a:t>
            </a:r>
          </a:p>
          <a:p>
            <a:r>
              <a:t>three jobs on the same weights: it rewrites the tone, that is our contribution,</a:t>
            </a:r>
          </a:p>
          <a:p>
            <a:r>
              <a:t>it fact-checks every number, and it picks the charts.</a:t>
            </a:r>
          </a:p>
          <a:p/>
          <a:p>
            <a:r>
              <a:t>Same model, separate stages. That matters twice: a tone number still measures</a:t>
            </a:r>
          </a:p>
          <a:p>
            <a:r>
              <a:t>one change, and we pay one twenty-gigabyte model load per run instead of three.</a:t>
            </a:r>
          </a:p>
          <a:p/>
          <a:p>
            <a:r>
              <a:t>Claude Opus judges, and only judges.</a:t>
            </a:r>
          </a:p>
          <a:p/>
          <a:p>
            <a:r>
              <a:t>DELIVERY: "one model, three jobs" is the line. Do not call chart selection a</a:t>
            </a:r>
          </a:p>
          <a:p>
            <a:r>
              <a:t>fourth model - it is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Okasha   [0:33]   running total 2:56   ~95 words</a:t>
            </a:r>
          </a:p>
          <a:p/>
          <a:p>
            <a:r>
              <a:t>To measure tone you need a scale. Every story gets two: alarmism and optimism,</a:t>
            </a:r>
          </a:p>
          <a:p>
            <a:r>
              <a:t>one to five each.</a:t>
            </a:r>
          </a:p>
          <a:p/>
          <a:p>
            <a:r>
              <a:t>Both ends are failures. Five catastrophises, one is flat and hides real stakes.</a:t>
            </a:r>
          </a:p>
          <a:p>
            <a:r>
              <a:t>So an agent cannot win by draining the feeling out of a story.</a:t>
            </a:r>
          </a:p>
          <a:p/>
          <a:p>
            <a:r>
              <a:t>Two honest notes. The rubric calls three calibrated, but our human writers sit</a:t>
            </a:r>
          </a:p>
          <a:p>
            <a:r>
              <a:t>at 2.0 and 2.5, so</a:t>
            </a:r>
          </a:p>
          <a:p>
            <a:r>
              <a:t>the human band is what we report against.</a:t>
            </a:r>
          </a:p>
          <a:p/>
          <a:p>
            <a:r>
              <a:t>And blinding cost us: scoring each story alone doubles the calls.</a:t>
            </a:r>
          </a:p>
          <a:p/>
          <a:p>
            <a:r>
              <a:t>DELIVERY: "both ends are failures" must land. Pause after it. Point at the blue</a:t>
            </a:r>
          </a:p>
          <a:p>
            <a:r>
              <a:t>human marks on the second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Okasha   [0:28]   running total 3:24   ~70 words   &gt;&gt;&gt; HAND TO ELSAADANI</a:t>
            </a:r>
          </a:p>
          <a:p/>
          <a:p>
            <a:r>
              <a:t>Four families of metric, and only the first one needs a model.</a:t>
            </a:r>
          </a:p>
          <a:p/>
          <a:p>
            <a:r>
              <a:t>Tone is the contribution and it is judged. Faithfulness is computed in code, for</a:t>
            </a:r>
          </a:p>
          <a:p>
            <a:r>
              <a:t>free, including a cherry-picking check on the window the story chose. Similarity</a:t>
            </a:r>
          </a:p>
          <a:p>
            <a:r>
              <a:t>is against our human stories. The operation accuracies come from DataTales.</a:t>
            </a:r>
          </a:p>
          <a:p/>
          <a:p>
            <a:r>
              <a:t>Careful: two of these share the word trend. The footnote says which is which.</a:t>
            </a:r>
          </a:p>
          <a:p/>
          <a:p>
            <a:r>
              <a:t>Elsaadani takes the reader-facing half.</a:t>
            </a:r>
          </a:p>
          <a:p/>
          <a:p>
            <a:r>
              <a:t>DELIVERY: do NOT read the metric names. Name the four families and the fact</a:t>
            </a:r>
          </a:p>
          <a:p>
            <a:r>
              <a:t>that three of them cost nothing to compute. The slide is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Elsaadani   [0:05]   running total 3:29   ~15 words</a:t>
            </a:r>
          </a:p>
          <a:p/>
          <a:p>
            <a:r>
              <a:t>My half: what a reader is actually shown, and how we picked the model pair.</a:t>
            </a:r>
          </a:p>
          <a:p/>
          <a:p>
            <a:r>
              <a:t>DELIVERY: a beat, then straight into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Elsaadani   [0:24]   running total 3:53   ~60 words</a:t>
            </a:r>
          </a:p>
          <a:p/>
          <a:p>
            <a:r>
              <a:t>Not every metric is for us. These are for the reader.</a:t>
            </a:r>
          </a:p>
          <a:p/>
          <a:p>
            <a:r>
              <a:t>The app shows the tone rating, the human band, and every emotive span the</a:t>
            </a:r>
          </a:p>
          <a:p>
            <a:r>
              <a:t>moderator removed, classified by kind. That is why the interface shows a diff</a:t>
            </a:r>
          </a:p>
          <a:p>
            <a:r>
              <a:t>rather than a cleaner paragraph - a reader can audit the rewrite.</a:t>
            </a:r>
          </a:p>
          <a:p/>
          <a:p>
            <a:r>
              <a:t>The user-study axes are designed and not run.</a:t>
            </a:r>
          </a:p>
          <a:p/>
          <a:p>
            <a:r>
              <a:t>DELIVERY: this sets up the demo. Say "you will see these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Elsaadani   [0:28]   running total 4:21   ~65 words</a:t>
            </a:r>
          </a:p>
          <a:p/>
          <a:p>
            <a:r>
              <a:t>How we actually chose the pair, in four steps.</a:t>
            </a:r>
          </a:p>
          <a:p/>
          <a:p>
            <a:r>
              <a:t>Build a grid of generator and moderator combinations. Score every run the same</a:t>
            </a:r>
          </a:p>
          <a:p>
            <a:r>
              <a:t>way, on the same dataset. Tone does not decide it - six land on exactly 2.0.</a:t>
            </a:r>
          </a:p>
          <a:p/>
          <a:p>
            <a:r>
              <a:t>So break the tie on faithfulness, then repeat the top two at different seeds,</a:t>
            </a:r>
          </a:p>
          <a:p>
            <a:r>
              <a:t>because one run cannot separate a model from a draft.</a:t>
            </a:r>
          </a:p>
          <a:p/>
          <a:p>
            <a:r>
              <a:t>The next two slides are steps three and four.</a:t>
            </a:r>
          </a:p>
          <a:p/>
          <a:p>
            <a:r>
              <a:t>DELIVERY: this is the method slide. Say the four steps, then let the two figures</a:t>
            </a:r>
          </a:p>
          <a:p>
            <a:r>
              <a:t>carry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Elsaadani   [0:20]   running total 4:41   ~50 words</a:t>
            </a:r>
          </a:p>
          <a:p/>
          <a:p>
            <a:r>
              <a:t>Step three. Fourteen runs. The green rows all tie on tone at exactly 2.0, so we</a:t>
            </a:r>
          </a:p>
          <a:p>
            <a:r>
              <a:t>rank them on the "figures kept" column instead.</a:t>
            </a:r>
          </a:p>
          <a:p/>
          <a:p>
            <a:r>
              <a:t>Now look at the three rows that read llama3.1:8b times gemma4:31b. Same models,</a:t>
            </a:r>
          </a:p>
          <a:p>
            <a:r>
              <a:t>three separate runs: 50 percent, 75 percent, 100 percent.</a:t>
            </a:r>
          </a:p>
          <a:p/>
          <a:p>
            <a:r>
              <a:t>DELIVERY: point at those three rows. That is the moment the audience should</a:t>
            </a:r>
          </a:p>
          <a:p>
            <a:r>
              <a:t>distrust the table, and it sets up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Elsaadani   [0:35]   running total 5:16   ~80 words   &gt;&gt;&gt; HAND TO RAMADAN</a:t>
            </a:r>
          </a:p>
          <a:p/>
          <a:p>
            <a:r>
              <a:t>Step four. Both configurations, five runs each, at distinct seeds.</a:t>
            </a:r>
          </a:p>
          <a:p/>
          <a:p>
            <a:r>
              <a:t>It reverses. Qwen averages 61%, llama</a:t>
            </a:r>
          </a:p>
          <a:p>
            <a:r>
              <a:t>averages 90%. Welch t of minus 2.70,</a:t>
            </a:r>
          </a:p>
          <a:p>
            <a:r>
              <a:t>p of 0.029. Our recommendation had been backwards, and one run per cell was</a:t>
            </a:r>
          </a:p>
          <a:p>
            <a:r>
              <a:t>never going to show us that.</a:t>
            </a:r>
          </a:p>
          <a:p/>
          <a:p>
            <a:r>
              <a:t>So we ship llama3.1:8b generating and gemma4:31b moderating.</a:t>
            </a:r>
          </a:p>
          <a:p/>
          <a:p>
            <a:r>
              <a:t>And the lower half is the more interesting finding: moderated tone is 2.10</a:t>
            </a:r>
          </a:p>
          <a:p>
            <a:r>
              <a:t>either way. The moderator converges on the same tone whoever wrote the draft.</a:t>
            </a:r>
          </a:p>
          <a:p/>
          <a:p>
            <a:r>
              <a:t>DELIVERY: "our recommendation had been backwards" is the line. Say it plainly.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Saleh   [0:05]   running total 5:21   ~15 words</a:t>
            </a:r>
          </a:p>
          <a:p/>
          <a:p>
            <a:r>
              <a:t>Last part: where that lands against a person, and how the agent works inside.</a:t>
            </a:r>
          </a:p>
          <a:p/>
          <a:p>
            <a:r>
              <a:t>DELIVERY: a beat. Then fig9 is the payoff slide of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Saleh   [0:38]   running total 5:59   ~105 words</a:t>
            </a:r>
          </a:p>
          <a:p/>
          <a:p>
            <a:r>
              <a:t>This is the result. We wrote 25 stories by hand from the same</a:t>
            </a:r>
          </a:p>
          <a:p>
            <a:r>
              <a:t>evidence packs, before seeing any machine output. The green band is where those</a:t>
            </a:r>
          </a:p>
          <a:p>
            <a:r>
              <a:t>human writers sit.</a:t>
            </a:r>
          </a:p>
          <a:p/>
          <a:p>
            <a:r>
              <a:t>Red is raw, blue is after moderation. On every one of the five series the arrow</a:t>
            </a:r>
          </a:p>
          <a:p>
            <a:r>
              <a:t>lands on or inside the human band.</a:t>
            </a:r>
          </a:p>
          <a:p/>
          <a:p>
            <a:r>
              <a:t>Overall 3.74 to 2.09,</a:t>
            </a:r>
          </a:p>
          <a:p>
            <a:r>
              <a:t>against a human median of 2.00, over</a:t>
            </a:r>
          </a:p>
          <a:p>
            <a:r>
              <a:t>32 runs with a human counterpart.</a:t>
            </a:r>
          </a:p>
          <a:p/>
          <a:p>
            <a:r>
              <a:t>The caveat is on the slide rather than hidden: our human stories carry no</a:t>
            </a:r>
          </a:p>
          <a:p>
            <a:r>
              <a:t>headline and the machine ones do, so every gap is a lower bound.</a:t>
            </a:r>
          </a:p>
          <a:p/>
          <a:p>
            <a:r>
              <a:t>DELIVERY: say the three numbers slowly, then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Saleh   [0:40]   running total 6:39   ~100 words</a:t>
            </a:r>
          </a:p>
          <a:p/>
          <a:p>
            <a:r>
              <a:t>How the model actually decides which figures to draw.</a:t>
            </a:r>
          </a:p>
          <a:p/>
          <a:p>
            <a:r>
              <a:t>Seventeen flat chart types is past what a local model picks reliably. So the</a:t>
            </a:r>
          </a:p>
          <a:p>
            <a:r>
              <a:t>contract groups them into seven tools by the reader's job - trend over time,</a:t>
            </a:r>
          </a:p>
          <a:p>
            <a:r>
              <a:t>magnitude, change, relationship, geographic, distribution, headline - and puts</a:t>
            </a:r>
          </a:p>
          <a:p>
            <a:r>
              <a:t>the geometry in an enum inside each. That is a two-level decision, and it is one</a:t>
            </a:r>
          </a:p>
          <a:p>
            <a:r>
              <a:t>a local model makes well.</a:t>
            </a:r>
          </a:p>
          <a:p/>
          <a:p>
            <a:r>
              <a:t>The three read tools on the right are what make this an agent rather than a</a:t>
            </a:r>
          </a:p>
          <a:p>
            <a:r>
              <a:t>classifier. Without them the model picks a form blind from a prompt string. With</a:t>
            </a:r>
          </a:p>
          <a:p>
            <a:r>
              <a:t>them it can look at the table first, find that two measures differ by a hundred</a:t>
            </a:r>
          </a:p>
          <a:p>
            <a:r>
              <a:t>times, and derive that it needs an indexed transform.</a:t>
            </a:r>
          </a:p>
          <a:p/>
          <a:p>
            <a:r>
              <a:t>DELIVERY: name the seven tools as a group, do not read them one by one. Spend</a:t>
            </a:r>
          </a:p>
          <a:p>
            <a:r>
              <a:t>the time on the read tools - that is the interesting half. If asked whether the</a:t>
            </a:r>
          </a:p>
          <a:p>
            <a:r>
              <a:t>MCP server is running: it is not, the selector makes one structured call today</a:t>
            </a:r>
          </a:p>
          <a:p>
            <a:r>
              <a:t>and the tool loop is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Saleh   [0:21]   running total 7:00   ~50 words   &gt;&gt;&gt; DEMO</a:t>
            </a:r>
          </a:p>
          <a:p/>
          <a:p>
            <a:r>
              <a:t>That is the whole system. A table becomes an evidence pack, a local model writes</a:t>
            </a:r>
          </a:p>
          <a:p>
            <a:r>
              <a:t>the story, and the moderator model rewrites the tone, checks the numbers and</a:t>
            </a:r>
          </a:p>
          <a:p>
            <a:r>
              <a:t>picks the figures. Opus judges it blind.</a:t>
            </a:r>
          </a:p>
          <a:p/>
          <a:p>
            <a:r>
              <a:t>Everything except the judge runs on this laptop.</a:t>
            </a:r>
          </a:p>
          <a:p/>
          <a:p>
            <a:r>
              <a:t>Let me show you.</a:t>
            </a:r>
          </a:p>
          <a:p/>
          <a:p>
            <a:r>
              <a:t>DELIVERY: 20 seconds, then switch. The browser should ALREADY be open on the</a:t>
            </a:r>
          </a:p>
          <a:p>
            <a:r>
              <a:t>dataset page. Never click Generate and wait - see SPEAKER-SCRIPT.md.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whoever finishes the demo   [0:15]</a:t>
            </a:r>
          </a:p>
          <a:p/>
          <a:p>
            <a:r>
              <a:t>One sentence: a second agent can move a generated data story onto the tone level</a:t>
            </a:r>
          </a:p>
          <a:p>
            <a:r>
              <a:t>of a person writing from the same table, without losing the numbers, and at a</a:t>
            </a:r>
          </a:p>
          <a:p>
            <a:r>
              <a:t>cost in readability we can put a number on.</a:t>
            </a:r>
          </a:p>
          <a:p/>
          <a:p>
            <a:r>
              <a:t>What we are not claiming is on the slide. One judge family, no user study, and a</a:t>
            </a:r>
          </a:p>
          <a:p>
            <a:r>
              <a:t>human baseline written by five writer slots rather than a controlled design.</a:t>
            </a:r>
          </a:p>
          <a:p/>
          <a:p>
            <a:r>
              <a:t>DELIVERY: read the limits line rather than skipping it. Volunteering it is what</a:t>
            </a:r>
          </a:p>
          <a:p>
            <a:r>
              <a:t>makes the rest credible. Q&amp;A prep is at the end of SPEAKER-SCRIPT.md.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 all four speakers stay at the front</a:t>
            </a:r>
          </a:p>
          <a:p/>
          <a:p>
            <a:r>
              <a:t>Leave this slide up for the whole Q&amp;A. It holds the names and the repository</a:t>
            </a:r>
          </a:p>
          <a:p>
            <a:r>
              <a:t>link, which is what anyone wanting to follow up needs.</a:t>
            </a:r>
          </a:p>
          <a:p/>
          <a:p>
            <a:r>
              <a:t>The four questions to expect, with answers, are at the end of</a:t>
            </a:r>
          </a:p>
          <a:p>
            <a:r>
              <a:t>presentation/SPEAKER-SCRIPT.md. Read them on the way in. Short forms:</a:t>
            </a:r>
          </a:p>
          <a:p/>
          <a:p>
            <a:r>
              <a:t>- Only one judge? Yes, and slide 19 says so. 0.991 is self-consistency, not</a:t>
            </a:r>
          </a:p>
          <a:p>
            <a:r>
              <a:t>  inter-rater. Two independent methods agree though: the scalar scores and the</a:t>
            </a:r>
          </a:p>
          <a:p>
            <a:r>
              <a:t>  blind pairwise verdicts.</a:t>
            </a:r>
          </a:p>
          <a:p>
            <a:r>
              <a:t>- Why no user study? The brief allows metrics or a user study. We chose metrics</a:t>
            </a:r>
          </a:p>
          <a:p>
            <a:r>
              <a:t>  and went deep: reliability, repeats, a significance test.</a:t>
            </a:r>
          </a:p>
          <a:p>
            <a:r>
              <a:t>- Why not just prompt the generator to be calm? Because a separate pass is</a:t>
            </a:r>
          </a:p>
          <a:p>
            <a:r>
              <a:t>  measurable on its own, and because the moderator lands on 2.10 whichever</a:t>
            </a:r>
          </a:p>
          <a:p>
            <a:r>
              <a:t>  generator wrote the draft.</a:t>
            </a:r>
          </a:p>
          <a:p>
            <a:r>
              <a:t>- Is 2.09 against a human 2.00 just noise? Essentially yes, and that is the</a:t>
            </a:r>
          </a:p>
          <a:p>
            <a:r>
              <a:t>  claim: it lands on the human level. The judge's own disagreement is 0.08.</a:t>
            </a:r>
          </a:p>
          <a:p/>
          <a:p>
            <a:r>
              <a:t>DELIVERY: whoever is nearest the laptop takes questions first, then hand to</a:t>
            </a:r>
          </a:p>
          <a:p>
            <a:r>
              <a:t>whoever owns that section. Nobody answers over anybody.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17320"/>
            <a:ext cx="10058400" cy="3657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FINAL PRESENTATION  ·  CMS TEAM PROJECT  ·  TU DRESDEN</a:t>
            </a:r>
          </a:p>
        </p:txBody>
      </p:sp>
      <p:sp>
        <p:nvSpPr>
          <p:cNvPr id="5" name="TextBox 4"/>
          <p:cNvSpPr txBox="1"/>
          <p:nvPr/>
        </p:nvSpPr>
        <p:spPr>
          <a:xfrm>
            <a:off x="1005840" y="1920240"/>
            <a:ext cx="10058400" cy="1463040"/>
          </a:xfrm>
          <a:prstGeom prst="rect">
            <a:avLst/>
          </a:prstGeom>
          <a:noFill/>
        </p:spPr>
        <p:txBody>
          <a:bodyPr wrap="square" anchor="t" lIns="0" rIns="0" tIns="0" bIns="0">
            <a:spAutoFit/>
          </a:bodyPr>
          <a:lstStyle/>
          <a:p>
            <a:pPr algn="l">
              <a:lnSpc>
                <a:spcPct val="105000"/>
              </a:lnSpc>
            </a:pPr>
            <a:r>
              <a:rPr sz="4200" b="1">
                <a:solidFill>
                  <a:srgbClr val="FFFFFF"/>
                </a:solidFill>
                <a:latin typeface="Arial"/>
              </a:rPr>
              <a:t>Moderating the Emotional Tone</a:t>
            </a:r>
          </a:p>
          <a:p>
            <a:pPr algn="l">
              <a:lnSpc>
                <a:spcPct val="105000"/>
              </a:lnSpc>
            </a:pPr>
            <a:r>
              <a:rPr sz="4200" b="1">
                <a:solidFill>
                  <a:srgbClr val="FFFFFF"/>
                </a:solidFill>
                <a:latin typeface="Arial"/>
              </a:rPr>
              <a:t>of a Generated Data Story</a:t>
            </a:r>
          </a:p>
        </p:txBody>
      </p:sp>
      <p:sp>
        <p:nvSpPr>
          <p:cNvPr id="6" name="Rectangle 5"/>
          <p:cNvSpPr/>
          <p:nvPr/>
        </p:nvSpPr>
        <p:spPr>
          <a:xfrm>
            <a:off x="1005840" y="3611880"/>
            <a:ext cx="1463040" cy="508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931920"/>
            <a:ext cx="10058400" cy="822960"/>
          </a:xfrm>
          <a:prstGeom prst="rect">
            <a:avLst/>
          </a:prstGeom>
          <a:noFill/>
        </p:spPr>
        <p:txBody>
          <a:bodyPr wrap="square" anchor="t" lIns="0" rIns="0" tIns="0" bIns="0">
            <a:spAutoFit/>
          </a:bodyPr>
          <a:lstStyle/>
          <a:p>
            <a:pPr algn="l">
              <a:lnSpc>
                <a:spcPct val="120000"/>
              </a:lnSpc>
            </a:pPr>
            <a:r>
              <a:rPr sz="1500" b="0">
                <a:solidFill>
                  <a:srgbClr val="C7D4E6"/>
                </a:solidFill>
                <a:latin typeface="Calibri"/>
              </a:rPr>
              <a:t>An agent that reads a data story and pulls its tone back to what the evidence supports —</a:t>
            </a:r>
          </a:p>
          <a:p>
            <a:pPr algn="l">
              <a:lnSpc>
                <a:spcPct val="120000"/>
              </a:lnSpc>
              <a:spcBef>
                <a:spcPts val="200"/>
              </a:spcBef>
            </a:pPr>
            <a:r>
              <a:rPr sz="1500" b="0">
                <a:solidFill>
                  <a:srgbClr val="C7D4E6"/>
                </a:solidFill>
                <a:latin typeface="Calibri"/>
              </a:rPr>
              <a:t>measured against 25 stories our own team wrote from the same tables.</a:t>
            </a:r>
          </a:p>
        </p:txBody>
      </p:sp>
      <p:sp>
        <p:nvSpPr>
          <p:cNvPr id="8" name="TextBox 7"/>
          <p:cNvSpPr txBox="1"/>
          <p:nvPr/>
        </p:nvSpPr>
        <p:spPr>
          <a:xfrm>
            <a:off x="1005840" y="5120640"/>
            <a:ext cx="10058400" cy="822960"/>
          </a:xfrm>
          <a:prstGeom prst="rect">
            <a:avLst/>
          </a:prstGeom>
          <a:noFill/>
        </p:spPr>
        <p:txBody>
          <a:bodyPr wrap="square" anchor="t" lIns="0" rIns="0" tIns="0" bIns="0">
            <a:spAutoFit/>
          </a:bodyPr>
          <a:lstStyle/>
          <a:p>
            <a:pPr algn="l">
              <a:lnSpc>
                <a:spcPct val="100000"/>
              </a:lnSpc>
            </a:pPr>
            <a:r>
              <a:rPr sz="1400" b="1">
                <a:solidFill>
                  <a:srgbClr val="FFFFFF"/>
                </a:solidFill>
                <a:latin typeface="Calibri"/>
              </a:rPr>
              <a:t>Mahmoud Elsamadony  ·  Ahmed Okasha  ·  Ahmed Elsaadani  ·  Ahmed Saleh</a:t>
            </a:r>
          </a:p>
          <a:p>
            <a:pPr algn="l">
              <a:lnSpc>
                <a:spcPct val="100000"/>
              </a:lnSpc>
              <a:spcBef>
                <a:spcPts val="500"/>
              </a:spcBef>
            </a:pPr>
            <a:r>
              <a:rPr sz="1150" b="0">
                <a:solidFill>
                  <a:srgbClr val="8A9CB8"/>
                </a:solidFill>
                <a:latin typeface="Calibri"/>
              </a:rPr>
              <a:t>Supervisors: Susmita Khadse, Julián Méndez  ·  Chair: Prof. Dr. Raimund Dachselt (IMLD)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AGENDA</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Four parts, then the system running</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48840"/>
            <a:ext cx="7863840" cy="69494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48840"/>
            <a:ext cx="44450" cy="694944"/>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58568"/>
            <a:ext cx="640080" cy="457200"/>
          </a:xfrm>
          <a:prstGeom prst="rect">
            <a:avLst/>
          </a:prstGeom>
          <a:noFill/>
        </p:spPr>
        <p:txBody>
          <a:bodyPr wrap="square" anchor="t" lIns="0" rIns="0" tIns="0" bIns="0">
            <a:spAutoFit/>
          </a:bodyPr>
          <a:lstStyle/>
          <a:p>
            <a:pPr algn="l">
              <a:lnSpc>
                <a:spcPct val="100000"/>
              </a:lnSpc>
            </a:pPr>
            <a:r>
              <a:rPr sz="2200" b="1">
                <a:solidFill>
                  <a:srgbClr val="C2CEDB"/>
                </a:solidFill>
                <a:latin typeface="Arial"/>
              </a:rPr>
              <a:t>01</a:t>
            </a:r>
          </a:p>
        </p:txBody>
      </p:sp>
      <p:sp>
        <p:nvSpPr>
          <p:cNvPr id="8" name="TextBox 7"/>
          <p:cNvSpPr txBox="1"/>
          <p:nvPr/>
        </p:nvSpPr>
        <p:spPr>
          <a:xfrm>
            <a:off x="1691640" y="2267712"/>
            <a:ext cx="5486400" cy="457200"/>
          </a:xfrm>
          <a:prstGeom prst="rect">
            <a:avLst/>
          </a:prstGeom>
          <a:noFill/>
        </p:spPr>
        <p:txBody>
          <a:bodyPr wrap="square" anchor="t" lIns="0" rIns="0" tIns="0" bIns="0">
            <a:spAutoFit/>
          </a:bodyPr>
          <a:lstStyle/>
          <a:p>
            <a:pPr algn="l">
              <a:lnSpc>
                <a:spcPct val="100000"/>
              </a:lnSpc>
            </a:pPr>
            <a:r>
              <a:rPr sz="1500" b="1">
                <a:solidFill>
                  <a:srgbClr val="0D1B5C"/>
                </a:solidFill>
                <a:latin typeface="Calibri"/>
              </a:rPr>
              <a:t>The research, and the problem it found</a:t>
            </a:r>
          </a:p>
        </p:txBody>
      </p:sp>
      <p:sp>
        <p:nvSpPr>
          <p:cNvPr id="9" name="TextBox 8"/>
          <p:cNvSpPr txBox="1"/>
          <p:nvPr/>
        </p:nvSpPr>
        <p:spPr>
          <a:xfrm>
            <a:off x="1691640" y="2551176"/>
            <a:ext cx="5486400" cy="237744"/>
          </a:xfrm>
          <a:prstGeom prst="rect">
            <a:avLst/>
          </a:prstGeom>
          <a:noFill/>
        </p:spPr>
        <p:txBody>
          <a:bodyPr wrap="square" anchor="t" lIns="0" rIns="0" tIns="0" bIns="0">
            <a:spAutoFit/>
          </a:bodyPr>
          <a:lstStyle/>
          <a:p>
            <a:pPr algn="l">
              <a:lnSpc>
                <a:spcPct val="100000"/>
              </a:lnSpc>
            </a:pPr>
            <a:r>
              <a:rPr sz="1100" b="0">
                <a:solidFill>
                  <a:srgbClr val="526173"/>
                </a:solidFill>
                <a:latin typeface="Calibri"/>
              </a:rPr>
              <a:t>Mahmoud</a:t>
            </a:r>
          </a:p>
        </p:txBody>
      </p:sp>
      <p:sp>
        <p:nvSpPr>
          <p:cNvPr id="10" name="Rectangle 9"/>
          <p:cNvSpPr/>
          <p:nvPr/>
        </p:nvSpPr>
        <p:spPr>
          <a:xfrm>
            <a:off x="685800" y="2990088"/>
            <a:ext cx="7863840" cy="69494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90088"/>
            <a:ext cx="44450" cy="694944"/>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099816"/>
            <a:ext cx="640080" cy="457200"/>
          </a:xfrm>
          <a:prstGeom prst="rect">
            <a:avLst/>
          </a:prstGeom>
          <a:noFill/>
        </p:spPr>
        <p:txBody>
          <a:bodyPr wrap="square" anchor="t" lIns="0" rIns="0" tIns="0" bIns="0">
            <a:spAutoFit/>
          </a:bodyPr>
          <a:lstStyle/>
          <a:p>
            <a:pPr algn="l">
              <a:lnSpc>
                <a:spcPct val="100000"/>
              </a:lnSpc>
            </a:pPr>
            <a:r>
              <a:rPr sz="2200" b="1">
                <a:solidFill>
                  <a:srgbClr val="C2CEDB"/>
                </a:solidFill>
                <a:latin typeface="Arial"/>
              </a:rPr>
              <a:t>02</a:t>
            </a:r>
          </a:p>
        </p:txBody>
      </p:sp>
      <p:sp>
        <p:nvSpPr>
          <p:cNvPr id="13" name="TextBox 12"/>
          <p:cNvSpPr txBox="1"/>
          <p:nvPr/>
        </p:nvSpPr>
        <p:spPr>
          <a:xfrm>
            <a:off x="1691640" y="3108960"/>
            <a:ext cx="5486400" cy="457200"/>
          </a:xfrm>
          <a:prstGeom prst="rect">
            <a:avLst/>
          </a:prstGeom>
          <a:noFill/>
        </p:spPr>
        <p:txBody>
          <a:bodyPr wrap="square" anchor="t" lIns="0" rIns="0" tIns="0" bIns="0">
            <a:spAutoFit/>
          </a:bodyPr>
          <a:lstStyle/>
          <a:p>
            <a:pPr algn="l">
              <a:lnSpc>
                <a:spcPct val="100000"/>
              </a:lnSpc>
            </a:pPr>
            <a:r>
              <a:rPr sz="1500" b="1">
                <a:solidFill>
                  <a:srgbClr val="0D1B5C"/>
                </a:solidFill>
                <a:latin typeface="Calibri"/>
              </a:rPr>
              <a:t>What we built, and how we measure it</a:t>
            </a:r>
          </a:p>
        </p:txBody>
      </p:sp>
      <p:sp>
        <p:nvSpPr>
          <p:cNvPr id="14" name="TextBox 13"/>
          <p:cNvSpPr txBox="1"/>
          <p:nvPr/>
        </p:nvSpPr>
        <p:spPr>
          <a:xfrm>
            <a:off x="1691640" y="3392424"/>
            <a:ext cx="5486400" cy="237744"/>
          </a:xfrm>
          <a:prstGeom prst="rect">
            <a:avLst/>
          </a:prstGeom>
          <a:noFill/>
        </p:spPr>
        <p:txBody>
          <a:bodyPr wrap="square" anchor="t" lIns="0" rIns="0" tIns="0" bIns="0">
            <a:spAutoFit/>
          </a:bodyPr>
          <a:lstStyle/>
          <a:p>
            <a:pPr algn="l">
              <a:lnSpc>
                <a:spcPct val="100000"/>
              </a:lnSpc>
            </a:pPr>
            <a:r>
              <a:rPr sz="1100" b="0">
                <a:solidFill>
                  <a:srgbClr val="526173"/>
                </a:solidFill>
                <a:latin typeface="Calibri"/>
              </a:rPr>
              <a:t>Okasha</a:t>
            </a:r>
          </a:p>
        </p:txBody>
      </p:sp>
      <p:sp>
        <p:nvSpPr>
          <p:cNvPr id="15" name="Rectangle 14"/>
          <p:cNvSpPr/>
          <p:nvPr/>
        </p:nvSpPr>
        <p:spPr>
          <a:xfrm>
            <a:off x="685800" y="3831336"/>
            <a:ext cx="7863840" cy="69494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831336"/>
            <a:ext cx="44450" cy="694944"/>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941064"/>
            <a:ext cx="640080" cy="457200"/>
          </a:xfrm>
          <a:prstGeom prst="rect">
            <a:avLst/>
          </a:prstGeom>
          <a:noFill/>
        </p:spPr>
        <p:txBody>
          <a:bodyPr wrap="square" anchor="t" lIns="0" rIns="0" tIns="0" bIns="0">
            <a:spAutoFit/>
          </a:bodyPr>
          <a:lstStyle/>
          <a:p>
            <a:pPr algn="l">
              <a:lnSpc>
                <a:spcPct val="100000"/>
              </a:lnSpc>
            </a:pPr>
            <a:r>
              <a:rPr sz="2200" b="1">
                <a:solidFill>
                  <a:srgbClr val="C2CEDB"/>
                </a:solidFill>
                <a:latin typeface="Arial"/>
              </a:rPr>
              <a:t>03</a:t>
            </a:r>
          </a:p>
        </p:txBody>
      </p:sp>
      <p:sp>
        <p:nvSpPr>
          <p:cNvPr id="18" name="TextBox 17"/>
          <p:cNvSpPr txBox="1"/>
          <p:nvPr/>
        </p:nvSpPr>
        <p:spPr>
          <a:xfrm>
            <a:off x="1691640" y="3950208"/>
            <a:ext cx="5486400" cy="457200"/>
          </a:xfrm>
          <a:prstGeom prst="rect">
            <a:avLst/>
          </a:prstGeom>
          <a:noFill/>
        </p:spPr>
        <p:txBody>
          <a:bodyPr wrap="square" anchor="t" lIns="0" rIns="0" tIns="0" bIns="0">
            <a:spAutoFit/>
          </a:bodyPr>
          <a:lstStyle/>
          <a:p>
            <a:pPr algn="l">
              <a:lnSpc>
                <a:spcPct val="100000"/>
              </a:lnSpc>
            </a:pPr>
            <a:r>
              <a:rPr sz="1500" b="1">
                <a:solidFill>
                  <a:srgbClr val="0D1B5C"/>
                </a:solidFill>
                <a:latin typeface="Calibri"/>
              </a:rPr>
              <a:t>What the reader sees, and how we chose the pair</a:t>
            </a:r>
          </a:p>
        </p:txBody>
      </p:sp>
      <p:sp>
        <p:nvSpPr>
          <p:cNvPr id="19" name="TextBox 18"/>
          <p:cNvSpPr txBox="1"/>
          <p:nvPr/>
        </p:nvSpPr>
        <p:spPr>
          <a:xfrm>
            <a:off x="1691640" y="4233672"/>
            <a:ext cx="5486400" cy="237744"/>
          </a:xfrm>
          <a:prstGeom prst="rect">
            <a:avLst/>
          </a:prstGeom>
          <a:noFill/>
        </p:spPr>
        <p:txBody>
          <a:bodyPr wrap="square" anchor="t" lIns="0" rIns="0" tIns="0" bIns="0">
            <a:spAutoFit/>
          </a:bodyPr>
          <a:lstStyle/>
          <a:p>
            <a:pPr algn="l">
              <a:lnSpc>
                <a:spcPct val="100000"/>
              </a:lnSpc>
            </a:pPr>
            <a:r>
              <a:rPr sz="1100" b="0">
                <a:solidFill>
                  <a:srgbClr val="526173"/>
                </a:solidFill>
                <a:latin typeface="Calibri"/>
              </a:rPr>
              <a:t>Elsaadani</a:t>
            </a:r>
          </a:p>
        </p:txBody>
      </p:sp>
      <p:sp>
        <p:nvSpPr>
          <p:cNvPr id="20" name="Rectangle 19"/>
          <p:cNvSpPr/>
          <p:nvPr/>
        </p:nvSpPr>
        <p:spPr>
          <a:xfrm>
            <a:off x="685800" y="4672584"/>
            <a:ext cx="7863840" cy="69494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4672584"/>
            <a:ext cx="44450" cy="694944"/>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782312"/>
            <a:ext cx="640080" cy="457200"/>
          </a:xfrm>
          <a:prstGeom prst="rect">
            <a:avLst/>
          </a:prstGeom>
          <a:noFill/>
        </p:spPr>
        <p:txBody>
          <a:bodyPr wrap="square" anchor="t" lIns="0" rIns="0" tIns="0" bIns="0">
            <a:spAutoFit/>
          </a:bodyPr>
          <a:lstStyle/>
          <a:p>
            <a:pPr algn="l">
              <a:lnSpc>
                <a:spcPct val="100000"/>
              </a:lnSpc>
            </a:pPr>
            <a:r>
              <a:rPr sz="2200" b="1">
                <a:solidFill>
                  <a:srgbClr val="C2CEDB"/>
                </a:solidFill>
                <a:latin typeface="Arial"/>
              </a:rPr>
              <a:t>04</a:t>
            </a:r>
          </a:p>
        </p:txBody>
      </p:sp>
      <p:sp>
        <p:nvSpPr>
          <p:cNvPr id="23" name="TextBox 22"/>
          <p:cNvSpPr txBox="1"/>
          <p:nvPr/>
        </p:nvSpPr>
        <p:spPr>
          <a:xfrm>
            <a:off x="1691640" y="4791456"/>
            <a:ext cx="5486400" cy="457200"/>
          </a:xfrm>
          <a:prstGeom prst="rect">
            <a:avLst/>
          </a:prstGeom>
          <a:noFill/>
        </p:spPr>
        <p:txBody>
          <a:bodyPr wrap="square" anchor="t" lIns="0" rIns="0" tIns="0" bIns="0">
            <a:spAutoFit/>
          </a:bodyPr>
          <a:lstStyle/>
          <a:p>
            <a:pPr algn="l">
              <a:lnSpc>
                <a:spcPct val="100000"/>
              </a:lnSpc>
            </a:pPr>
            <a:r>
              <a:rPr sz="1500" b="1">
                <a:solidFill>
                  <a:srgbClr val="0D1B5C"/>
                </a:solidFill>
                <a:latin typeface="Calibri"/>
              </a:rPr>
              <a:t>The result, the agent, and the system</a:t>
            </a:r>
          </a:p>
        </p:txBody>
      </p:sp>
      <p:sp>
        <p:nvSpPr>
          <p:cNvPr id="24" name="TextBox 23"/>
          <p:cNvSpPr txBox="1"/>
          <p:nvPr/>
        </p:nvSpPr>
        <p:spPr>
          <a:xfrm>
            <a:off x="1691640" y="5074920"/>
            <a:ext cx="5486400" cy="237744"/>
          </a:xfrm>
          <a:prstGeom prst="rect">
            <a:avLst/>
          </a:prstGeom>
          <a:noFill/>
        </p:spPr>
        <p:txBody>
          <a:bodyPr wrap="square" anchor="t" lIns="0" rIns="0" tIns="0" bIns="0">
            <a:spAutoFit/>
          </a:bodyPr>
          <a:lstStyle/>
          <a:p>
            <a:pPr algn="l">
              <a:lnSpc>
                <a:spcPct val="100000"/>
              </a:lnSpc>
            </a:pPr>
            <a:r>
              <a:rPr sz="1100" b="0">
                <a:solidFill>
                  <a:srgbClr val="526173"/>
                </a:solidFill>
                <a:latin typeface="Calibri"/>
              </a:rPr>
              <a:t>Saleh</a:t>
            </a:r>
          </a:p>
        </p:txBody>
      </p:sp>
      <p:sp>
        <p:nvSpPr>
          <p:cNvPr id="25" name="Rectangle 24"/>
          <p:cNvSpPr/>
          <p:nvPr/>
        </p:nvSpPr>
        <p:spPr>
          <a:xfrm>
            <a:off x="685800" y="5513832"/>
            <a:ext cx="7863840" cy="566928"/>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650992"/>
            <a:ext cx="7315200" cy="365760"/>
          </a:xfrm>
          <a:prstGeom prst="rect">
            <a:avLst/>
          </a:prstGeom>
          <a:noFill/>
        </p:spPr>
        <p:txBody>
          <a:bodyPr wrap="square" anchor="t" lIns="0" rIns="0" tIns="0" bIns="0">
            <a:spAutoFit/>
          </a:bodyPr>
          <a:lstStyle/>
          <a:p>
            <a:pPr algn="l">
              <a:lnSpc>
                <a:spcPct val="100000"/>
              </a:lnSpc>
            </a:pPr>
            <a:r>
              <a:rPr sz="1300" b="1">
                <a:solidFill>
                  <a:srgbClr val="FFFFFF"/>
                </a:solidFill>
                <a:latin typeface="Calibri"/>
              </a:rPr>
              <a:t>LIVE DEMO   ·   the pipeline running locally   ·   3:30</a:t>
            </a:r>
          </a:p>
        </p:txBody>
      </p:sp>
      <p:sp>
        <p:nvSpPr>
          <p:cNvPr id="27" name="Rectangle 26"/>
          <p:cNvSpPr/>
          <p:nvPr/>
        </p:nvSpPr>
        <p:spPr>
          <a:xfrm>
            <a:off x="8915400" y="2148840"/>
            <a:ext cx="2587752" cy="393192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5400" y="2148840"/>
            <a:ext cx="2587752" cy="5080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62288" y="2359152"/>
            <a:ext cx="2148840" cy="3566160"/>
          </a:xfrm>
          <a:prstGeom prst="rect">
            <a:avLst/>
          </a:prstGeom>
          <a:noFill/>
        </p:spPr>
        <p:txBody>
          <a:bodyPr wrap="square" anchor="t" lIns="0" rIns="0" tIns="0" bIns="0">
            <a:spAutoFit/>
          </a:bodyPr>
          <a:lstStyle/>
          <a:p>
            <a:pPr algn="l">
              <a:lnSpc>
                <a:spcPct val="116000"/>
              </a:lnSpc>
            </a:pPr>
            <a:r>
              <a:rPr sz="1250" b="1">
                <a:solidFill>
                  <a:srgbClr val="0D1B5C"/>
                </a:solidFill>
                <a:latin typeface="Calibri"/>
              </a:rPr>
              <a:t>The one claim</a:t>
            </a:r>
          </a:p>
          <a:p>
            <a:pPr algn="l">
              <a:lnSpc>
                <a:spcPct val="116000"/>
              </a:lnSpc>
              <a:spcBef>
                <a:spcPts val="600"/>
              </a:spcBef>
            </a:pPr>
            <a:r>
              <a:rPr sz="1200" b="0">
                <a:solidFill>
                  <a:srgbClr val="0F172A"/>
                </a:solidFill>
                <a:latin typeface="Calibri"/>
              </a:rPr>
              <a:t>A second agent can pull a generated data story's tone back to what the evidence supports —</a:t>
            </a:r>
          </a:p>
          <a:p>
            <a:pPr algn="l">
              <a:lnSpc>
                <a:spcPct val="116000"/>
              </a:lnSpc>
              <a:spcBef>
                <a:spcPts val="600"/>
              </a:spcBef>
            </a:pPr>
            <a:r>
              <a:rPr sz="1200" b="1">
                <a:solidFill>
                  <a:srgbClr val="0E8F86"/>
                </a:solidFill>
                <a:latin typeface="Calibri"/>
              </a:rPr>
              <a:t>without losing the numbers,</a:t>
            </a:r>
          </a:p>
          <a:p>
            <a:pPr algn="l">
              <a:lnSpc>
                <a:spcPct val="116000"/>
              </a:lnSpc>
              <a:spcBef>
                <a:spcPts val="200"/>
              </a:spcBef>
            </a:pPr>
            <a:r>
              <a:rPr sz="1200" b="1">
                <a:solidFill>
                  <a:srgbClr val="0E8F86"/>
                </a:solidFill>
                <a:latin typeface="Calibri"/>
              </a:rPr>
              <a:t>and at a cost in readability we can put a number on.</a:t>
            </a:r>
          </a:p>
          <a:p>
            <a:pPr algn="l">
              <a:lnSpc>
                <a:spcPct val="116000"/>
              </a:lnSpc>
              <a:spcBef>
                <a:spcPts val="800"/>
              </a:spcBef>
            </a:pPr>
            <a:r>
              <a:rPr sz="1150" b="0">
                <a:solidFill>
                  <a:srgbClr val="526173"/>
                </a:solidFill>
                <a:latin typeface="Calibri"/>
              </a:rPr>
              <a:t>Everything else in this talk exists to make that measurable.</a:t>
            </a:r>
          </a:p>
        </p:txBody>
      </p:sp>
      <p:sp>
        <p:nvSpPr>
          <p:cNvPr id="30" name="TextBox 29"/>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31" name="TextBox 30"/>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058400" cy="3657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PART 1 OF 4</a:t>
            </a:r>
          </a:p>
        </p:txBody>
      </p:sp>
      <p:sp>
        <p:nvSpPr>
          <p:cNvPr id="5" name="TextBox 4"/>
          <p:cNvSpPr txBox="1"/>
          <p:nvPr/>
        </p:nvSpPr>
        <p:spPr>
          <a:xfrm>
            <a:off x="1005840" y="2606040"/>
            <a:ext cx="9692640" cy="1005840"/>
          </a:xfrm>
          <a:prstGeom prst="rect">
            <a:avLst/>
          </a:prstGeom>
          <a:noFill/>
        </p:spPr>
        <p:txBody>
          <a:bodyPr wrap="square" anchor="t" lIns="0" rIns="0" tIns="0" bIns="0">
            <a:spAutoFit/>
          </a:bodyPr>
          <a:lstStyle/>
          <a:p>
            <a:pPr algn="l">
              <a:lnSpc>
                <a:spcPct val="108000"/>
              </a:lnSpc>
            </a:pPr>
            <a:r>
              <a:rPr sz="3400" b="1">
                <a:solidFill>
                  <a:srgbClr val="FFFFFF"/>
                </a:solidFill>
                <a:latin typeface="Arial"/>
              </a:rPr>
              <a:t>The research, and the problem it found</a:t>
            </a:r>
          </a:p>
        </p:txBody>
      </p:sp>
      <p:sp>
        <p:nvSpPr>
          <p:cNvPr id="6" name="TextBox 5"/>
          <p:cNvSpPr txBox="1"/>
          <p:nvPr/>
        </p:nvSpPr>
        <p:spPr>
          <a:xfrm>
            <a:off x="1005840" y="3794760"/>
            <a:ext cx="9692640" cy="365760"/>
          </a:xfrm>
          <a:prstGeom prst="rect">
            <a:avLst/>
          </a:prstGeom>
          <a:noFill/>
        </p:spPr>
        <p:txBody>
          <a:bodyPr wrap="square" anchor="t" lIns="0" rIns="0" tIns="0" bIns="0">
            <a:spAutoFit/>
          </a:bodyPr>
          <a:lstStyle/>
          <a:p>
            <a:pPr algn="l">
              <a:lnSpc>
                <a:spcPct val="100000"/>
              </a:lnSpc>
            </a:pPr>
            <a:r>
              <a:rPr sz="1500" b="1">
                <a:solidFill>
                  <a:srgbClr val="8A9CB8"/>
                </a:solidFill>
                <a:latin typeface="Calibri"/>
              </a:rPr>
              <a:t>Mahmoud</a:t>
            </a:r>
          </a:p>
        </p:txBody>
      </p:sp>
      <p:sp>
        <p:nvSpPr>
          <p:cNvPr id="7" name="Rectangle 6"/>
          <p:cNvSpPr/>
          <p:nvPr/>
        </p:nvSpPr>
        <p:spPr>
          <a:xfrm>
            <a:off x="1005840"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074920"/>
            <a:ext cx="2395728" cy="457200"/>
          </a:xfrm>
          <a:prstGeom prst="rect">
            <a:avLst/>
          </a:prstGeom>
          <a:noFill/>
        </p:spPr>
        <p:txBody>
          <a:bodyPr wrap="square" anchor="t" lIns="0" rIns="0" tIns="0" bIns="0">
            <a:spAutoFit/>
          </a:bodyPr>
          <a:lstStyle/>
          <a:p>
            <a:pPr algn="l">
              <a:lnSpc>
                <a:spcPct val="112000"/>
              </a:lnSpc>
            </a:pPr>
            <a:r>
              <a:rPr sz="1050" b="1">
                <a:solidFill>
                  <a:srgbClr val="FFFFFF"/>
                </a:solidFill>
                <a:latin typeface="Calibri"/>
              </a:rPr>
              <a:t>The research</a:t>
            </a:r>
          </a:p>
        </p:txBody>
      </p:sp>
      <p:sp>
        <p:nvSpPr>
          <p:cNvPr id="9" name="Rectangle 8"/>
          <p:cNvSpPr/>
          <p:nvPr/>
        </p:nvSpPr>
        <p:spPr>
          <a:xfrm>
            <a:off x="3602736"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we built</a:t>
            </a:r>
          </a:p>
        </p:txBody>
      </p:sp>
      <p:sp>
        <p:nvSpPr>
          <p:cNvPr id="11" name="Rectangle 10"/>
          <p:cNvSpPr/>
          <p:nvPr/>
        </p:nvSpPr>
        <p:spPr>
          <a:xfrm>
            <a:off x="6199632"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the reader sees</a:t>
            </a:r>
          </a:p>
        </p:txBody>
      </p:sp>
      <p:sp>
        <p:nvSpPr>
          <p:cNvPr id="13" name="Rectangle 12"/>
          <p:cNvSpPr/>
          <p:nvPr/>
        </p:nvSpPr>
        <p:spPr>
          <a:xfrm>
            <a:off x="8796528"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THE RESEARCH</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Three systems we did not just cite — we re-ran them</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03120"/>
            <a:ext cx="3401568" cy="331012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03120"/>
            <a:ext cx="3401568" cy="5080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304288"/>
            <a:ext cx="2926080" cy="3017520"/>
          </a:xfrm>
          <a:prstGeom prst="rect">
            <a:avLst/>
          </a:prstGeom>
          <a:noFill/>
        </p:spPr>
        <p:txBody>
          <a:bodyPr wrap="square" anchor="t" lIns="0" rIns="0" tIns="0" bIns="0">
            <a:spAutoFit/>
          </a:bodyPr>
          <a:lstStyle/>
          <a:p>
            <a:pPr algn="l">
              <a:lnSpc>
                <a:spcPct val="115000"/>
              </a:lnSpc>
            </a:pPr>
            <a:r>
              <a:rPr sz="1000" b="1">
                <a:solidFill>
                  <a:srgbClr val="526173"/>
                </a:solidFill>
                <a:latin typeface="Arial"/>
              </a:rPr>
              <a:t>Kasner and Dušek, ACL 2024</a:t>
            </a:r>
          </a:p>
          <a:p>
            <a:pPr algn="l">
              <a:lnSpc>
                <a:spcPct val="115000"/>
              </a:lnSpc>
              <a:spcBef>
                <a:spcPts val="400"/>
              </a:spcBef>
            </a:pPr>
            <a:r>
              <a:rPr sz="1400" b="1">
                <a:solidFill>
                  <a:srgbClr val="1E66B8"/>
                </a:solidFill>
                <a:latin typeface="Arial"/>
              </a:rPr>
              <a:t>Are open models faithful?</a:t>
            </a:r>
          </a:p>
          <a:p>
            <a:pPr algn="l">
              <a:lnSpc>
                <a:spcPct val="115000"/>
              </a:lnSpc>
              <a:spcBef>
                <a:spcPts val="700"/>
              </a:spcBef>
            </a:pPr>
            <a:r>
              <a:rPr sz="1100" b="0">
                <a:solidFill>
                  <a:srgbClr val="0F172A"/>
                </a:solidFill>
                <a:latin typeface="Calibri"/>
              </a:rPr>
              <a:t>Their reference-free method marks every span of generated text that the source table does not support.</a:t>
            </a:r>
          </a:p>
          <a:p>
            <a:pPr algn="l">
              <a:lnSpc>
                <a:spcPct val="115000"/>
              </a:lnSpc>
              <a:spcBef>
                <a:spcPts val="700"/>
              </a:spcBef>
            </a:pPr>
            <a:r>
              <a:rPr sz="1100" b="0">
                <a:solidFill>
                  <a:srgbClr val="0F172A"/>
                </a:solidFill>
                <a:latin typeface="Calibri"/>
              </a:rPr>
              <a:t>What we did: We re-ran it on modern open models. A 12B model left a semantic error in about 18% of outputs, where the paper reported over 80%. A 4B model regressed to 52%.</a:t>
            </a:r>
          </a:p>
          <a:p>
            <a:pPr algn="l">
              <a:lnSpc>
                <a:spcPct val="115000"/>
              </a:lnSpc>
              <a:spcBef>
                <a:spcPts val="700"/>
              </a:spcBef>
            </a:pPr>
            <a:r>
              <a:rPr sz="1100" b="1">
                <a:solidFill>
                  <a:srgbClr val="0D1B5C"/>
                </a:solidFill>
                <a:latin typeface="Calibri"/>
              </a:rPr>
              <a:t>Recency and size both matter — and today's open models are already fairly faithful at stating data.</a:t>
            </a:r>
          </a:p>
        </p:txBody>
      </p:sp>
      <p:sp>
        <p:nvSpPr>
          <p:cNvPr id="8" name="Rectangle 7"/>
          <p:cNvSpPr/>
          <p:nvPr/>
        </p:nvSpPr>
        <p:spPr>
          <a:xfrm>
            <a:off x="4398264" y="2103120"/>
            <a:ext cx="3401568" cy="331012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98264" y="2103120"/>
            <a:ext cx="3401568" cy="508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2304288"/>
            <a:ext cx="2926080" cy="3017520"/>
          </a:xfrm>
          <a:prstGeom prst="rect">
            <a:avLst/>
          </a:prstGeom>
          <a:noFill/>
        </p:spPr>
        <p:txBody>
          <a:bodyPr wrap="square" anchor="t" lIns="0" rIns="0" tIns="0" bIns="0">
            <a:spAutoFit/>
          </a:bodyPr>
          <a:lstStyle/>
          <a:p>
            <a:pPr algn="l">
              <a:lnSpc>
                <a:spcPct val="115000"/>
              </a:lnSpc>
            </a:pPr>
            <a:r>
              <a:rPr sz="1000" b="1">
                <a:solidFill>
                  <a:srgbClr val="526173"/>
                </a:solidFill>
                <a:latin typeface="Arial"/>
              </a:rPr>
              <a:t>DataTales, 2025</a:t>
            </a:r>
          </a:p>
          <a:p>
            <a:pPr algn="l">
              <a:lnSpc>
                <a:spcPct val="115000"/>
              </a:lnSpc>
              <a:spcBef>
                <a:spcPts val="400"/>
              </a:spcBef>
            </a:pPr>
            <a:r>
              <a:rPr sz="1400" b="1">
                <a:solidFill>
                  <a:srgbClr val="20C4B0"/>
                </a:solidFill>
                <a:latin typeface="Arial"/>
              </a:rPr>
              <a:t>Which kinds of claim are hard?</a:t>
            </a:r>
          </a:p>
          <a:p>
            <a:pPr algn="l">
              <a:lnSpc>
                <a:spcPct val="115000"/>
              </a:lnSpc>
              <a:spcBef>
                <a:spcPts val="700"/>
              </a:spcBef>
            </a:pPr>
            <a:r>
              <a:rPr sz="1100" b="0">
                <a:solidFill>
                  <a:srgbClr val="0F172A"/>
                </a:solidFill>
                <a:latin typeface="Calibri"/>
              </a:rPr>
              <a:t>A benchmark for data narration that scores a story per operation: lookup, comparison, trend, rate of change, causal.</a:t>
            </a:r>
          </a:p>
          <a:p>
            <a:pPr algn="l">
              <a:lnSpc>
                <a:spcPct val="115000"/>
              </a:lnSpc>
              <a:spcBef>
                <a:spcPts val="700"/>
              </a:spcBef>
            </a:pPr>
            <a:r>
              <a:rPr sz="1100" b="0">
                <a:solidFill>
                  <a:srgbClr val="0F172A"/>
                </a:solidFill>
                <a:latin typeface="Calibri"/>
              </a:rPr>
              <a:t>What we did: We reproduced a 30-report slice. Reading operations climb steeply with scale — rate of change went 43% to 89% from a 4B to a 12B model.</a:t>
            </a:r>
          </a:p>
          <a:p>
            <a:pPr algn="l">
              <a:lnSpc>
                <a:spcPct val="115000"/>
              </a:lnSpc>
              <a:spcBef>
                <a:spcPts val="700"/>
              </a:spcBef>
            </a:pPr>
            <a:r>
              <a:rPr sz="1100" b="1">
                <a:solidFill>
                  <a:srgbClr val="0D1B5C"/>
                </a:solidFill>
                <a:latin typeface="Calibri"/>
              </a:rPr>
              <a:t>Stating a number is not the hard part. Explaining it is.</a:t>
            </a:r>
          </a:p>
        </p:txBody>
      </p:sp>
      <p:sp>
        <p:nvSpPr>
          <p:cNvPr id="11" name="Rectangle 10"/>
          <p:cNvSpPr/>
          <p:nvPr/>
        </p:nvSpPr>
        <p:spPr>
          <a:xfrm>
            <a:off x="8110727" y="2103120"/>
            <a:ext cx="3401568" cy="331012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0727" y="2103120"/>
            <a:ext cx="3401568" cy="50800"/>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1" y="2304288"/>
            <a:ext cx="2926080" cy="3017520"/>
          </a:xfrm>
          <a:prstGeom prst="rect">
            <a:avLst/>
          </a:prstGeom>
          <a:noFill/>
        </p:spPr>
        <p:txBody>
          <a:bodyPr wrap="square" anchor="t" lIns="0" rIns="0" tIns="0" bIns="0">
            <a:spAutoFit/>
          </a:bodyPr>
          <a:lstStyle/>
          <a:p>
            <a:pPr algn="l">
              <a:lnSpc>
                <a:spcPct val="115000"/>
              </a:lnSpc>
            </a:pPr>
            <a:r>
              <a:rPr sz="1000" b="1">
                <a:solidFill>
                  <a:srgbClr val="526173"/>
                </a:solidFill>
                <a:latin typeface="Arial"/>
              </a:rPr>
              <a:t>DataNarrative, EMNLP 2024</a:t>
            </a:r>
          </a:p>
          <a:p>
            <a:pPr algn="l">
              <a:lnSpc>
                <a:spcPct val="115000"/>
              </a:lnSpc>
              <a:spcBef>
                <a:spcPts val="400"/>
              </a:spcBef>
            </a:pPr>
            <a:r>
              <a:rPr sz="1400" b="1">
                <a:solidFill>
                  <a:srgbClr val="0D1B5C"/>
                </a:solidFill>
                <a:latin typeface="Arial"/>
              </a:rPr>
              <a:t>What architecture works?</a:t>
            </a:r>
          </a:p>
          <a:p>
            <a:pPr algn="l">
              <a:lnSpc>
                <a:spcPct val="115000"/>
              </a:lnSpc>
              <a:spcBef>
                <a:spcPts val="700"/>
              </a:spcBef>
            </a:pPr>
            <a:r>
              <a:rPr sz="1100" b="0">
                <a:solidFill>
                  <a:srgbClr val="0F172A"/>
                </a:solidFill>
                <a:latin typeface="Calibri"/>
              </a:rPr>
              <a:t>One agent writes the story, a second agent verifies it at every step, beating single-LLM baselines.</a:t>
            </a:r>
          </a:p>
          <a:p>
            <a:pPr algn="l">
              <a:lnSpc>
                <a:spcPct val="115000"/>
              </a:lnSpc>
              <a:spcBef>
                <a:spcPts val="700"/>
              </a:spcBef>
            </a:pPr>
            <a:r>
              <a:rPr sz="1100" b="0">
                <a:solidFill>
                  <a:srgbClr val="0F172A"/>
                </a:solidFill>
                <a:latin typeface="Calibri"/>
              </a:rPr>
              <a:t>What we did: We rebuilt the two-agent generate-and-verify loop, which is the structural basis of our own pipeline.</a:t>
            </a:r>
          </a:p>
          <a:p>
            <a:pPr algn="l">
              <a:lnSpc>
                <a:spcPct val="115000"/>
              </a:lnSpc>
              <a:spcBef>
                <a:spcPts val="700"/>
              </a:spcBef>
            </a:pPr>
            <a:r>
              <a:rPr sz="1100" b="1">
                <a:solidFill>
                  <a:srgbClr val="0D1B5C"/>
                </a:solidFill>
                <a:latin typeface="Calibri"/>
              </a:rPr>
              <a:t>The second-agent pattern works. Ours swaps its factual verifier for a tone moderator.</a:t>
            </a:r>
          </a:p>
        </p:txBody>
      </p:sp>
      <p:sp>
        <p:nvSpPr>
          <p:cNvPr id="14" name="Rectangle 13"/>
          <p:cNvSpPr/>
          <p:nvPr/>
        </p:nvSpPr>
        <p:spPr>
          <a:xfrm>
            <a:off x="685800" y="5559552"/>
            <a:ext cx="10817352" cy="548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559552"/>
            <a:ext cx="44450" cy="54864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678424"/>
            <a:ext cx="10332720" cy="365760"/>
          </a:xfrm>
          <a:prstGeom prst="rect">
            <a:avLst/>
          </a:prstGeom>
          <a:noFill/>
        </p:spPr>
        <p:txBody>
          <a:bodyPr wrap="square" anchor="t" lIns="0" rIns="0" tIns="0" bIns="0">
            <a:spAutoFit/>
          </a:bodyPr>
          <a:lstStyle/>
          <a:p>
            <a:pPr algn="l">
              <a:lnSpc>
                <a:spcPct val="100000"/>
              </a:lnSpc>
            </a:pPr>
            <a:r>
              <a:rPr sz="1300" b="1">
                <a:solidFill>
                  <a:srgbClr val="0D1B5C"/>
                </a:solidFill>
                <a:latin typeface="Calibri"/>
              </a:rPr>
              <a:t>Put together: open models already state data fairly faithfully, and every critic agent in this literature checks facts. So another fact-checker is not the gap.</a:t>
            </a:r>
          </a:p>
        </p:txBody>
      </p:sp>
      <p:sp>
        <p:nvSpPr>
          <p:cNvPr id="17" name="TextBox 16"/>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18" name="TextBox 17"/>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THE PROBLEM</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Everyone checks the facts. Nobody checks the tone.</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240280"/>
            <a:ext cx="5806440" cy="3657600"/>
          </a:xfrm>
          <a:prstGeom prst="rect">
            <a:avLst/>
          </a:prstGeom>
          <a:noFill/>
        </p:spPr>
        <p:txBody>
          <a:bodyPr wrap="square" anchor="t" lIns="0" rIns="0" tIns="0" bIns="0">
            <a:spAutoFit/>
          </a:bodyPr>
          <a:lstStyle/>
          <a:p>
            <a:pPr algn="l">
              <a:lnSpc>
                <a:spcPct val="115000"/>
              </a:lnSpc>
            </a:pPr>
            <a:r>
              <a:rPr sz="1600" b="1">
                <a:solidFill>
                  <a:srgbClr val="0D1B5C"/>
                </a:solidFill>
                <a:latin typeface="Calibri"/>
              </a:rPr>
              <a:t>▪  The critic is always a fact-checker.</a:t>
            </a:r>
          </a:p>
          <a:p>
            <a:pPr algn="l">
              <a:lnSpc>
                <a:spcPct val="115000"/>
              </a:lnSpc>
              <a:spcBef>
                <a:spcPts val="200"/>
              </a:spcBef>
            </a:pPr>
            <a:r>
              <a:rPr sz="1500" b="0">
                <a:solidFill>
                  <a:srgbClr val="0F172A"/>
                </a:solidFill>
                <a:latin typeface="Calibri"/>
              </a:rPr>
              <a:t>     That is what our survey found, without exception. No published system moderates the affective tone of a data narrative.</a:t>
            </a:r>
          </a:p>
          <a:p>
            <a:pPr algn="l">
              <a:lnSpc>
                <a:spcPct val="115000"/>
              </a:lnSpc>
              <a:spcBef>
                <a:spcPts val="1300"/>
              </a:spcBef>
            </a:pPr>
            <a:r>
              <a:rPr sz="1600" b="1">
                <a:solidFill>
                  <a:srgbClr val="0D1B5C"/>
                </a:solidFill>
                <a:latin typeface="Calibri"/>
              </a:rPr>
              <a:t>▪  But framing moves the reader on its own.</a:t>
            </a:r>
          </a:p>
          <a:p>
            <a:pPr algn="l">
              <a:lnSpc>
                <a:spcPct val="115000"/>
              </a:lnSpc>
              <a:spcBef>
                <a:spcPts val="200"/>
              </a:spcBef>
            </a:pPr>
            <a:r>
              <a:rPr sz="1500" b="0">
                <a:solidFill>
                  <a:srgbClr val="0F172A"/>
                </a:solidFill>
                <a:latin typeface="Calibri"/>
              </a:rPr>
              <a:t>     Hullman and Diakopoulos show editorial framing significantly changes how the same chart is read. Tone is not decoration; it is part of the claim.</a:t>
            </a:r>
          </a:p>
          <a:p>
            <a:pPr algn="l">
              <a:lnSpc>
                <a:spcPct val="115000"/>
              </a:lnSpc>
              <a:spcBef>
                <a:spcPts val="1300"/>
              </a:spcBef>
            </a:pPr>
            <a:r>
              <a:rPr sz="1600" b="1">
                <a:solidFill>
                  <a:srgbClr val="0D1B5C"/>
                </a:solidFill>
                <a:latin typeface="Calibri"/>
              </a:rPr>
              <a:t>▪  So a story can be fully correct and still mislead.</a:t>
            </a:r>
          </a:p>
          <a:p>
            <a:pPr algn="l">
              <a:lnSpc>
                <a:spcPct val="115000"/>
              </a:lnSpc>
              <a:spcBef>
                <a:spcPts val="200"/>
              </a:spcBef>
            </a:pPr>
            <a:r>
              <a:rPr sz="1500" b="0">
                <a:solidFill>
                  <a:srgbClr val="0F172A"/>
                </a:solidFill>
                <a:latin typeface="Calibri"/>
              </a:rPr>
              <a:t>     Both sentences on the right are true to the table. A fact-checker passes both. Only one of them is honest about what the data says.</a:t>
            </a:r>
          </a:p>
        </p:txBody>
      </p:sp>
      <p:sp>
        <p:nvSpPr>
          <p:cNvPr id="6" name="Rectangle 5"/>
          <p:cNvSpPr/>
          <p:nvPr/>
        </p:nvSpPr>
        <p:spPr>
          <a:xfrm>
            <a:off x="6858000" y="2148840"/>
            <a:ext cx="4645152" cy="32004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0" y="2148840"/>
            <a:ext cx="4645152" cy="5080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423160"/>
            <a:ext cx="4023360" cy="2743200"/>
          </a:xfrm>
          <a:prstGeom prst="rect">
            <a:avLst/>
          </a:prstGeom>
          <a:noFill/>
        </p:spPr>
        <p:txBody>
          <a:bodyPr wrap="square" anchor="t" lIns="0" rIns="0" tIns="0" bIns="0">
            <a:spAutoFit/>
          </a:bodyPr>
          <a:lstStyle/>
          <a:p>
            <a:pPr algn="l">
              <a:lnSpc>
                <a:spcPct val="115000"/>
              </a:lnSpc>
            </a:pPr>
            <a:r>
              <a:rPr sz="1000" b="1">
                <a:solidFill>
                  <a:srgbClr val="526173"/>
                </a:solidFill>
                <a:latin typeface="Arial"/>
              </a:rPr>
              <a:t>EVERY NUMBER BELOW IS CORRECT</a:t>
            </a:r>
          </a:p>
          <a:p>
            <a:pPr algn="l">
              <a:lnSpc>
                <a:spcPct val="115000"/>
              </a:lnSpc>
              <a:spcBef>
                <a:spcPts val="1400"/>
              </a:spcBef>
            </a:pPr>
            <a:r>
              <a:rPr sz="1600" b="1">
                <a:solidFill>
                  <a:srgbClr val="B45409"/>
                </a:solidFill>
                <a:latin typeface="Calibri"/>
              </a:rPr>
              <a:t>“The world faces a catastrophic resurgence as a deadly disease roars back.”</a:t>
            </a:r>
          </a:p>
          <a:p>
            <a:pPr algn="l">
              <a:lnSpc>
                <a:spcPct val="115000"/>
              </a:lnSpc>
              <a:spcBef>
                <a:spcPts val="600"/>
              </a:spcBef>
            </a:pPr>
            <a:r>
              <a:rPr sz="1200" b="0">
                <a:solidFill>
                  <a:srgbClr val="526173"/>
                </a:solidFill>
                <a:latin typeface="Calibri"/>
              </a:rPr>
              <a:t>A fact-checker passes this. It cites nothing false.</a:t>
            </a:r>
          </a:p>
          <a:p>
            <a:pPr algn="l">
              <a:lnSpc>
                <a:spcPct val="115000"/>
              </a:lnSpc>
              <a:spcBef>
                <a:spcPts val="1600"/>
              </a:spcBef>
            </a:pPr>
            <a:r>
              <a:rPr sz="1600" b="1">
                <a:solidFill>
                  <a:srgbClr val="0E8F86"/>
                </a:solidFill>
                <a:latin typeface="Calibri"/>
              </a:rPr>
              <a:t>“Cases rose for a third year while coverage stalled near 84%, below the 95% herd-immunity threshold.”</a:t>
            </a:r>
          </a:p>
          <a:p>
            <a:pPr algn="l">
              <a:lnSpc>
                <a:spcPct val="115000"/>
              </a:lnSpc>
              <a:spcBef>
                <a:spcPts val="600"/>
              </a:spcBef>
            </a:pPr>
            <a:r>
              <a:rPr sz="1200" b="0">
                <a:solidFill>
                  <a:srgbClr val="526173"/>
                </a:solidFill>
                <a:latin typeface="Calibri"/>
              </a:rPr>
              <a:t>Same table. Same facts. A different reader reaction.</a:t>
            </a:r>
          </a:p>
        </p:txBody>
      </p:sp>
      <p:sp>
        <p:nvSpPr>
          <p:cNvPr id="9" name="TextBox 8"/>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10" name="TextBox 9"/>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058400" cy="3657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PART 2 OF 4</a:t>
            </a:r>
          </a:p>
        </p:txBody>
      </p:sp>
      <p:sp>
        <p:nvSpPr>
          <p:cNvPr id="5" name="TextBox 4"/>
          <p:cNvSpPr txBox="1"/>
          <p:nvPr/>
        </p:nvSpPr>
        <p:spPr>
          <a:xfrm>
            <a:off x="1005840" y="2606040"/>
            <a:ext cx="9692640" cy="1005840"/>
          </a:xfrm>
          <a:prstGeom prst="rect">
            <a:avLst/>
          </a:prstGeom>
          <a:noFill/>
        </p:spPr>
        <p:txBody>
          <a:bodyPr wrap="square" anchor="t" lIns="0" rIns="0" tIns="0" bIns="0">
            <a:spAutoFit/>
          </a:bodyPr>
          <a:lstStyle/>
          <a:p>
            <a:pPr algn="l">
              <a:lnSpc>
                <a:spcPct val="108000"/>
              </a:lnSpc>
            </a:pPr>
            <a:r>
              <a:rPr sz="3400" b="1">
                <a:solidFill>
                  <a:srgbClr val="FFFFFF"/>
                </a:solidFill>
                <a:latin typeface="Arial"/>
              </a:rPr>
              <a:t>What we built, and how we measure it</a:t>
            </a:r>
          </a:p>
        </p:txBody>
      </p:sp>
      <p:sp>
        <p:nvSpPr>
          <p:cNvPr id="6" name="TextBox 5"/>
          <p:cNvSpPr txBox="1"/>
          <p:nvPr/>
        </p:nvSpPr>
        <p:spPr>
          <a:xfrm>
            <a:off x="1005840" y="3794760"/>
            <a:ext cx="9692640" cy="365760"/>
          </a:xfrm>
          <a:prstGeom prst="rect">
            <a:avLst/>
          </a:prstGeom>
          <a:noFill/>
        </p:spPr>
        <p:txBody>
          <a:bodyPr wrap="square" anchor="t" lIns="0" rIns="0" tIns="0" bIns="0">
            <a:spAutoFit/>
          </a:bodyPr>
          <a:lstStyle/>
          <a:p>
            <a:pPr algn="l">
              <a:lnSpc>
                <a:spcPct val="100000"/>
              </a:lnSpc>
            </a:pPr>
            <a:r>
              <a:rPr sz="1500" b="1">
                <a:solidFill>
                  <a:srgbClr val="8A9CB8"/>
                </a:solidFill>
                <a:latin typeface="Calibri"/>
              </a:rPr>
              <a:t>Okasha</a:t>
            </a:r>
          </a:p>
        </p:txBody>
      </p:sp>
      <p:sp>
        <p:nvSpPr>
          <p:cNvPr id="7" name="Rectangle 6"/>
          <p:cNvSpPr/>
          <p:nvPr/>
        </p:nvSpPr>
        <p:spPr>
          <a:xfrm>
            <a:off x="1005840"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research</a:t>
            </a:r>
          </a:p>
        </p:txBody>
      </p:sp>
      <p:sp>
        <p:nvSpPr>
          <p:cNvPr id="9" name="Rectangle 8"/>
          <p:cNvSpPr/>
          <p:nvPr/>
        </p:nvSpPr>
        <p:spPr>
          <a:xfrm>
            <a:off x="3602736"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5074920"/>
            <a:ext cx="2395728" cy="457200"/>
          </a:xfrm>
          <a:prstGeom prst="rect">
            <a:avLst/>
          </a:prstGeom>
          <a:noFill/>
        </p:spPr>
        <p:txBody>
          <a:bodyPr wrap="square" anchor="t" lIns="0" rIns="0" tIns="0" bIns="0">
            <a:spAutoFit/>
          </a:bodyPr>
          <a:lstStyle/>
          <a:p>
            <a:pPr algn="l">
              <a:lnSpc>
                <a:spcPct val="112000"/>
              </a:lnSpc>
            </a:pPr>
            <a:r>
              <a:rPr sz="1050" b="1">
                <a:solidFill>
                  <a:srgbClr val="FFFFFF"/>
                </a:solidFill>
                <a:latin typeface="Calibri"/>
              </a:rPr>
              <a:t>What we built</a:t>
            </a:r>
          </a:p>
        </p:txBody>
      </p:sp>
      <p:sp>
        <p:nvSpPr>
          <p:cNvPr id="11" name="Rectangle 10"/>
          <p:cNvSpPr/>
          <p:nvPr/>
        </p:nvSpPr>
        <p:spPr>
          <a:xfrm>
            <a:off x="6199632"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the reader sees</a:t>
            </a:r>
          </a:p>
        </p:txBody>
      </p:sp>
      <p:sp>
        <p:nvSpPr>
          <p:cNvPr id="13" name="Rectangle 12"/>
          <p:cNvSpPr/>
          <p:nvPr/>
        </p:nvSpPr>
        <p:spPr>
          <a:xfrm>
            <a:off x="8796528"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OUR FIX</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One generator, one agentic moderator, one independent judge</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94560"/>
            <a:ext cx="2743200" cy="13716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94560"/>
            <a:ext cx="2743200" cy="5080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395728"/>
            <a:ext cx="2331720" cy="1097280"/>
          </a:xfrm>
          <a:prstGeom prst="rect">
            <a:avLst/>
          </a:prstGeom>
          <a:noFill/>
        </p:spPr>
        <p:txBody>
          <a:bodyPr wrap="square" anchor="t" lIns="0" rIns="0" tIns="0" bIns="0">
            <a:spAutoFit/>
          </a:bodyPr>
          <a:lstStyle/>
          <a:p>
            <a:pPr algn="l">
              <a:lnSpc>
                <a:spcPct val="114000"/>
              </a:lnSpc>
            </a:pPr>
            <a:r>
              <a:rPr sz="1000" b="1">
                <a:solidFill>
                  <a:srgbClr val="526173"/>
                </a:solidFill>
                <a:latin typeface="Arial"/>
              </a:rPr>
              <a:t>1   GENERATE</a:t>
            </a:r>
          </a:p>
          <a:p>
            <a:pPr algn="l">
              <a:lnSpc>
                <a:spcPct val="114000"/>
              </a:lnSpc>
              <a:spcBef>
                <a:spcPts val="400"/>
              </a:spcBef>
            </a:pPr>
            <a:r>
              <a:rPr sz="1500" b="1">
                <a:solidFill>
                  <a:srgbClr val="1E66B8"/>
                </a:solidFill>
                <a:latin typeface="Arial"/>
              </a:rPr>
              <a:t>llama3.1:8b</a:t>
            </a:r>
          </a:p>
          <a:p>
            <a:pPr algn="l">
              <a:lnSpc>
                <a:spcPct val="114000"/>
              </a:lnSpc>
              <a:spcBef>
                <a:spcPts val="400"/>
              </a:spcBef>
            </a:pPr>
            <a:r>
              <a:rPr sz="1100" b="0">
                <a:solidFill>
                  <a:srgbClr val="0F172A"/>
                </a:solidFill>
                <a:latin typeface="Calibri"/>
              </a:rPr>
              <a:t>Writes the first-draft story from
an evidence pack built out of
the table.</a:t>
            </a:r>
          </a:p>
        </p:txBody>
      </p:sp>
      <p:sp>
        <p:nvSpPr>
          <p:cNvPr id="8" name="Rectangle 7"/>
          <p:cNvSpPr/>
          <p:nvPr/>
        </p:nvSpPr>
        <p:spPr>
          <a:xfrm>
            <a:off x="3794760" y="2194560"/>
            <a:ext cx="4709160" cy="248716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94760" y="2194560"/>
            <a:ext cx="4709160" cy="508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41648" y="2395728"/>
            <a:ext cx="4206240" cy="548640"/>
          </a:xfrm>
          <a:prstGeom prst="rect">
            <a:avLst/>
          </a:prstGeom>
          <a:noFill/>
        </p:spPr>
        <p:txBody>
          <a:bodyPr wrap="square" anchor="t" lIns="0" rIns="0" tIns="0" bIns="0">
            <a:spAutoFit/>
          </a:bodyPr>
          <a:lstStyle/>
          <a:p>
            <a:pPr algn="l">
              <a:lnSpc>
                <a:spcPct val="114000"/>
              </a:lnSpc>
            </a:pPr>
            <a:r>
              <a:rPr sz="1000" b="1">
                <a:solidFill>
                  <a:srgbClr val="526173"/>
                </a:solidFill>
                <a:latin typeface="Arial"/>
              </a:rPr>
              <a:t>2   THE AGENTIC ROLE — ONE MODEL, THREE JOBS</a:t>
            </a:r>
          </a:p>
          <a:p>
            <a:pPr algn="l">
              <a:lnSpc>
                <a:spcPct val="114000"/>
              </a:lnSpc>
              <a:spcBef>
                <a:spcPts val="400"/>
              </a:spcBef>
            </a:pPr>
            <a:r>
              <a:rPr sz="1500" b="1">
                <a:solidFill>
                  <a:srgbClr val="0E8F86"/>
                </a:solidFill>
                <a:latin typeface="Arial"/>
              </a:rPr>
              <a:t>gemma4:31b</a:t>
            </a:r>
          </a:p>
        </p:txBody>
      </p:sp>
      <p:sp>
        <p:nvSpPr>
          <p:cNvPr id="11" name="Rectangle 10"/>
          <p:cNvSpPr/>
          <p:nvPr/>
        </p:nvSpPr>
        <p:spPr>
          <a:xfrm>
            <a:off x="4041648" y="3127248"/>
            <a:ext cx="31750" cy="402336"/>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24528" y="3127248"/>
            <a:ext cx="4114800" cy="402336"/>
          </a:xfrm>
          <a:prstGeom prst="rect">
            <a:avLst/>
          </a:prstGeom>
          <a:noFill/>
        </p:spPr>
        <p:txBody>
          <a:bodyPr wrap="square" anchor="t" lIns="0" rIns="0" tIns="0" bIns="0">
            <a:spAutoFit/>
          </a:bodyPr>
          <a:lstStyle/>
          <a:p>
            <a:pPr algn="l">
              <a:lnSpc>
                <a:spcPct val="100000"/>
              </a:lnSpc>
            </a:pPr>
            <a:r>
              <a:rPr sz="1200" b="1">
                <a:solidFill>
                  <a:srgbClr val="0D1B5C"/>
                </a:solidFill>
                <a:latin typeface="Calibri"/>
              </a:rPr>
              <a:t>Moderates tone   </a:t>
            </a:r>
          </a:p>
        </p:txBody>
      </p:sp>
      <p:sp>
        <p:nvSpPr>
          <p:cNvPr id="13" name="TextBox 12"/>
          <p:cNvSpPr txBox="1"/>
          <p:nvPr/>
        </p:nvSpPr>
        <p:spPr>
          <a:xfrm>
            <a:off x="4224528" y="3319272"/>
            <a:ext cx="4114800" cy="219456"/>
          </a:xfrm>
          <a:prstGeom prst="rect">
            <a:avLst/>
          </a:prstGeom>
          <a:noFill/>
        </p:spPr>
        <p:txBody>
          <a:bodyPr wrap="square" anchor="t" lIns="0" rIns="0" tIns="0" bIns="0">
            <a:spAutoFit/>
          </a:bodyPr>
          <a:lstStyle/>
          <a:p>
            <a:pPr algn="l">
              <a:lnSpc>
                <a:spcPct val="100000"/>
              </a:lnSpc>
            </a:pPr>
            <a:r>
              <a:rPr sz="1050" b="1">
                <a:solidFill>
                  <a:srgbClr val="0E8F86"/>
                </a:solidFill>
                <a:latin typeface="Calibri"/>
              </a:rPr>
              <a:t>rewrites the framing, keeps the numbers   ← the contribution</a:t>
            </a:r>
          </a:p>
        </p:txBody>
      </p:sp>
      <p:sp>
        <p:nvSpPr>
          <p:cNvPr id="14" name="Rectangle 13"/>
          <p:cNvSpPr/>
          <p:nvPr/>
        </p:nvSpPr>
        <p:spPr>
          <a:xfrm>
            <a:off x="4041648" y="3630168"/>
            <a:ext cx="31750" cy="402336"/>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24528" y="3630168"/>
            <a:ext cx="4114800" cy="402336"/>
          </a:xfrm>
          <a:prstGeom prst="rect">
            <a:avLst/>
          </a:prstGeom>
          <a:noFill/>
        </p:spPr>
        <p:txBody>
          <a:bodyPr wrap="square" anchor="t" lIns="0" rIns="0" tIns="0" bIns="0">
            <a:spAutoFit/>
          </a:bodyPr>
          <a:lstStyle/>
          <a:p>
            <a:pPr algn="l">
              <a:lnSpc>
                <a:spcPct val="100000"/>
              </a:lnSpc>
            </a:pPr>
            <a:r>
              <a:rPr sz="1200" b="1">
                <a:solidFill>
                  <a:srgbClr val="0F172A"/>
                </a:solidFill>
                <a:latin typeface="Calibri"/>
              </a:rPr>
              <a:t>Fact-checks   </a:t>
            </a:r>
          </a:p>
        </p:txBody>
      </p:sp>
      <p:sp>
        <p:nvSpPr>
          <p:cNvPr id="16" name="TextBox 15"/>
          <p:cNvSpPr txBox="1"/>
          <p:nvPr/>
        </p:nvSpPr>
        <p:spPr>
          <a:xfrm>
            <a:off x="4224528" y="3822191"/>
            <a:ext cx="4114800" cy="219456"/>
          </a:xfrm>
          <a:prstGeom prst="rect">
            <a:avLst/>
          </a:prstGeom>
          <a:noFill/>
        </p:spPr>
        <p:txBody>
          <a:bodyPr wrap="square" anchor="t" lIns="0" rIns="0" tIns="0" bIns="0">
            <a:spAutoFit/>
          </a:bodyPr>
          <a:lstStyle/>
          <a:p>
            <a:pPr algn="l">
              <a:lnSpc>
                <a:spcPct val="100000"/>
              </a:lnSpc>
            </a:pPr>
            <a:r>
              <a:rPr sz="1050" b="0">
                <a:solidFill>
                  <a:srgbClr val="526173"/>
                </a:solidFill>
                <a:latin typeface="Calibri"/>
              </a:rPr>
              <a:t>every stated number back against the table</a:t>
            </a:r>
          </a:p>
        </p:txBody>
      </p:sp>
      <p:sp>
        <p:nvSpPr>
          <p:cNvPr id="17" name="Rectangle 16"/>
          <p:cNvSpPr/>
          <p:nvPr/>
        </p:nvSpPr>
        <p:spPr>
          <a:xfrm>
            <a:off x="4041648" y="4133087"/>
            <a:ext cx="31750" cy="402336"/>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4528" y="4133087"/>
            <a:ext cx="4114800" cy="402336"/>
          </a:xfrm>
          <a:prstGeom prst="rect">
            <a:avLst/>
          </a:prstGeom>
          <a:noFill/>
        </p:spPr>
        <p:txBody>
          <a:bodyPr wrap="square" anchor="t" lIns="0" rIns="0" tIns="0" bIns="0">
            <a:spAutoFit/>
          </a:bodyPr>
          <a:lstStyle/>
          <a:p>
            <a:pPr algn="l">
              <a:lnSpc>
                <a:spcPct val="100000"/>
              </a:lnSpc>
            </a:pPr>
            <a:r>
              <a:rPr sz="1200" b="1">
                <a:solidFill>
                  <a:srgbClr val="0F172A"/>
                </a:solidFill>
                <a:latin typeface="Calibri"/>
              </a:rPr>
              <a:t>Selects the charts   </a:t>
            </a:r>
          </a:p>
        </p:txBody>
      </p:sp>
      <p:sp>
        <p:nvSpPr>
          <p:cNvPr id="19" name="TextBox 18"/>
          <p:cNvSpPr txBox="1"/>
          <p:nvPr/>
        </p:nvSpPr>
        <p:spPr>
          <a:xfrm>
            <a:off x="4224528" y="4325112"/>
            <a:ext cx="4114800" cy="219456"/>
          </a:xfrm>
          <a:prstGeom prst="rect">
            <a:avLst/>
          </a:prstGeom>
          <a:noFill/>
        </p:spPr>
        <p:txBody>
          <a:bodyPr wrap="square" anchor="t" lIns="0" rIns="0" tIns="0" bIns="0">
            <a:spAutoFit/>
          </a:bodyPr>
          <a:lstStyle/>
          <a:p>
            <a:pPr algn="l">
              <a:lnSpc>
                <a:spcPct val="100000"/>
              </a:lnSpc>
            </a:pPr>
            <a:r>
              <a:rPr sz="1050" b="0">
                <a:solidFill>
                  <a:srgbClr val="526173"/>
                </a:solidFill>
                <a:latin typeface="Calibri"/>
              </a:rPr>
              <a:t>ranks figures the table can honestly carry</a:t>
            </a:r>
          </a:p>
        </p:txBody>
      </p:sp>
      <p:sp>
        <p:nvSpPr>
          <p:cNvPr id="20" name="Rectangle 19"/>
          <p:cNvSpPr/>
          <p:nvPr/>
        </p:nvSpPr>
        <p:spPr>
          <a:xfrm>
            <a:off x="8869680" y="2194560"/>
            <a:ext cx="2633472" cy="137160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2194560"/>
            <a:ext cx="2633472" cy="50800"/>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9136" y="2395728"/>
            <a:ext cx="2240280" cy="1097280"/>
          </a:xfrm>
          <a:prstGeom prst="rect">
            <a:avLst/>
          </a:prstGeom>
          <a:noFill/>
        </p:spPr>
        <p:txBody>
          <a:bodyPr wrap="square" anchor="t" lIns="0" rIns="0" tIns="0" bIns="0">
            <a:spAutoFit/>
          </a:bodyPr>
          <a:lstStyle/>
          <a:p>
            <a:pPr algn="l">
              <a:lnSpc>
                <a:spcPct val="114000"/>
              </a:lnSpc>
            </a:pPr>
            <a:r>
              <a:rPr sz="1000" b="1">
                <a:solidFill>
                  <a:srgbClr val="526173"/>
                </a:solidFill>
                <a:latin typeface="Arial"/>
              </a:rPr>
              <a:t>3   JUDGE</a:t>
            </a:r>
          </a:p>
          <a:p>
            <a:pPr algn="l">
              <a:lnSpc>
                <a:spcPct val="114000"/>
              </a:lnSpc>
              <a:spcBef>
                <a:spcPts val="400"/>
              </a:spcBef>
            </a:pPr>
            <a:r>
              <a:rPr sz="1500" b="1">
                <a:solidFill>
                  <a:srgbClr val="0D1B5C"/>
                </a:solidFill>
                <a:latin typeface="Arial"/>
              </a:rPr>
              <a:t>Claude Opus</a:t>
            </a:r>
          </a:p>
          <a:p>
            <a:pPr algn="l">
              <a:lnSpc>
                <a:spcPct val="114000"/>
              </a:lnSpc>
              <a:spcBef>
                <a:spcPts val="400"/>
              </a:spcBef>
            </a:pPr>
            <a:r>
              <a:rPr sz="1100" b="0">
                <a:solidFill>
                  <a:srgbClr val="0F172A"/>
                </a:solidFill>
                <a:latin typeface="Calibri"/>
              </a:rPr>
              <a:t>Rates each story blind. Evaluation
only — not part of the product
loop.</a:t>
            </a:r>
          </a:p>
        </p:txBody>
      </p:sp>
      <p:sp>
        <p:nvSpPr>
          <p:cNvPr id="23" name="Rectangle 22"/>
          <p:cNvSpPr/>
          <p:nvPr/>
        </p:nvSpPr>
        <p:spPr>
          <a:xfrm>
            <a:off x="685800" y="4846320"/>
            <a:ext cx="5394960" cy="1170432"/>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846320"/>
            <a:ext cx="44450" cy="1170432"/>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010912"/>
            <a:ext cx="4937760" cy="914400"/>
          </a:xfrm>
          <a:prstGeom prst="rect">
            <a:avLst/>
          </a:prstGeom>
          <a:noFill/>
        </p:spPr>
        <p:txBody>
          <a:bodyPr wrap="square" anchor="t" lIns="0" rIns="0" tIns="0" bIns="0">
            <a:spAutoFit/>
          </a:bodyPr>
          <a:lstStyle/>
          <a:p>
            <a:pPr algn="l">
              <a:lnSpc>
                <a:spcPct val="114000"/>
              </a:lnSpc>
            </a:pPr>
            <a:r>
              <a:rPr sz="1250" b="1">
                <a:solidFill>
                  <a:srgbClr val="0D1B5C"/>
                </a:solidFill>
                <a:latin typeface="Calibri"/>
              </a:rPr>
              <a:t>Same model, separate stages</a:t>
            </a:r>
          </a:p>
          <a:p>
            <a:pPr algn="l">
              <a:lnSpc>
                <a:spcPct val="114000"/>
              </a:lnSpc>
              <a:spcBef>
                <a:spcPts val="400"/>
              </a:spcBef>
            </a:pPr>
            <a:r>
              <a:rPr sz="1150" b="0">
                <a:solidFill>
                  <a:srgbClr val="0F172A"/>
                </a:solidFill>
                <a:latin typeface="Calibri"/>
              </a:rPr>
              <a:t>The moderator is the agentic role here, so the agentic reading of a table belongs to it too. The stages stay separate, so a tone number is still measuring one change — and one 19–23 GB load is paid per run instead of per stage.</a:t>
            </a:r>
          </a:p>
        </p:txBody>
      </p:sp>
      <p:sp>
        <p:nvSpPr>
          <p:cNvPr id="26" name="TextBox 25"/>
          <p:cNvSpPr txBox="1"/>
          <p:nvPr/>
        </p:nvSpPr>
        <p:spPr>
          <a:xfrm>
            <a:off x="6537960" y="4864608"/>
            <a:ext cx="4965192" cy="1188720"/>
          </a:xfrm>
          <a:prstGeom prst="rect">
            <a:avLst/>
          </a:prstGeom>
          <a:noFill/>
        </p:spPr>
        <p:txBody>
          <a:bodyPr wrap="square" anchor="t" lIns="0" rIns="0" tIns="0" bIns="0">
            <a:spAutoFit/>
          </a:bodyPr>
          <a:lstStyle/>
          <a:p>
            <a:pPr algn="l">
              <a:lnSpc>
                <a:spcPct val="114000"/>
              </a:lnSpc>
            </a:pPr>
            <a:r>
              <a:rPr sz="1250" b="1">
                <a:solidFill>
                  <a:srgbClr val="0D1B5C"/>
                </a:solidFill>
                <a:latin typeface="Calibri"/>
              </a:rPr>
              <a:t>Two datasets, because tone fails both ways.</a:t>
            </a:r>
          </a:p>
          <a:p>
            <a:pPr algn="l">
              <a:lnSpc>
                <a:spcPct val="114000"/>
              </a:lnSpc>
              <a:spcBef>
                <a:spcPts val="400"/>
              </a:spcBef>
            </a:pPr>
            <a:r>
              <a:rPr sz="1150" b="0">
                <a:solidFill>
                  <a:srgbClr val="0F172A"/>
                </a:solidFill>
                <a:latin typeface="Calibri"/>
              </a:rPr>
              <a:t>Measles × MCV1 coverage (9,959 rows, 1980–2024) invites alarmism. WHO child mortality invites the opposite failure, false reassurance, where the agent must keep the inequality and the COVID reversal visible.</a:t>
            </a:r>
          </a:p>
        </p:txBody>
      </p:sp>
      <p:sp>
        <p:nvSpPr>
          <p:cNvPr id="27" name="TextBox 26"/>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28" name="TextBox 27"/>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THE INSTRUMENT</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Two axes, and both ends of each are failures</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5349240" cy="3108960"/>
          </a:xfrm>
          <a:prstGeom prst="rect">
            <a:avLst/>
          </a:prstGeom>
          <a:noFill/>
        </p:spPr>
        <p:txBody>
          <a:bodyPr wrap="square" anchor="t" lIns="0" rIns="0" tIns="0" bIns="0">
            <a:spAutoFit/>
          </a:bodyPr>
          <a:lstStyle/>
          <a:p>
            <a:pPr algn="l">
              <a:lnSpc>
                <a:spcPct val="118000"/>
              </a:lnSpc>
            </a:pPr>
            <a:r>
              <a:rPr sz="1400" b="0">
                <a:solidFill>
                  <a:srgbClr val="0F172A"/>
                </a:solidFill>
                <a:latin typeface="Calibri"/>
              </a:rPr>
              <a:t>The judge rates every story 1 to 5 on alarmism, and separately 1 to 5 on optimism.</a:t>
            </a:r>
          </a:p>
          <a:p>
            <a:pPr algn="l">
              <a:lnSpc>
                <a:spcPct val="118000"/>
              </a:lnSpc>
              <a:spcBef>
                <a:spcPts val="900"/>
              </a:spcBef>
            </a:pPr>
            <a:r>
              <a:rPr sz="1400" b="0">
                <a:solidFill>
                  <a:srgbClr val="0F172A"/>
                </a:solidFill>
                <a:latin typeface="Calibri"/>
              </a:rPr>
              <a:t>A 5 catastrophises. A 1 is flat and hides real stakes. Only the middle is calibrated — so this is not a “lower is better” scale, and an agent that simply drains the feeling out of a story scores badly too.</a:t>
            </a:r>
          </a:p>
          <a:p>
            <a:pPr algn="l">
              <a:lnSpc>
                <a:spcPct val="118000"/>
              </a:lnSpc>
              <a:spcBef>
                <a:spcPts val="1200"/>
              </a:spcBef>
            </a:pPr>
            <a:r>
              <a:rPr sz="1400" b="1">
                <a:solidFill>
                  <a:srgbClr val="0D1B5C"/>
                </a:solidFill>
                <a:latin typeface="Calibri"/>
              </a:rPr>
              <a:t>Blinding cost us something.</a:t>
            </a:r>
          </a:p>
          <a:p>
            <a:pPr algn="l">
              <a:lnSpc>
                <a:spcPct val="118000"/>
              </a:lnSpc>
              <a:spcBef>
                <a:spcPts val="400"/>
              </a:spcBef>
            </a:pPr>
            <a:r>
              <a:rPr sz="1250" b="0">
                <a:solidFill>
                  <a:srgbClr val="526173"/>
                </a:solidFill>
                <a:latin typeface="Calibri"/>
              </a:rPr>
              <a:t>An earlier version showed the judge both stories in one call, labelled before and after, always in that order. That names the treatment to the rater. Each story is now scored alone, which doubles the calls and gives up the direct comparison — the price of a rating that was not told which story is the treatment.</a:t>
            </a:r>
          </a:p>
        </p:txBody>
      </p:sp>
      <p:sp>
        <p:nvSpPr>
          <p:cNvPr id="6" name="TextBox 5"/>
          <p:cNvSpPr txBox="1"/>
          <p:nvPr/>
        </p:nvSpPr>
        <p:spPr>
          <a:xfrm>
            <a:off x="6446520" y="2194560"/>
            <a:ext cx="4892040" cy="274320"/>
          </a:xfrm>
          <a:prstGeom prst="rect">
            <a:avLst/>
          </a:prstGeom>
          <a:noFill/>
        </p:spPr>
        <p:txBody>
          <a:bodyPr wrap="square" anchor="t" lIns="0" rIns="0" tIns="0" bIns="0">
            <a:spAutoFit/>
          </a:bodyPr>
          <a:lstStyle/>
          <a:p>
            <a:pPr algn="l">
              <a:lnSpc>
                <a:spcPct val="100000"/>
              </a:lnSpc>
            </a:pPr>
            <a:r>
              <a:rPr sz="1050" b="1">
                <a:solidFill>
                  <a:srgbClr val="526173"/>
                </a:solidFill>
                <a:latin typeface="Arial"/>
              </a:rPr>
              <a:t>ALARMISM</a:t>
            </a:r>
          </a:p>
        </p:txBody>
      </p:sp>
      <p:sp>
        <p:nvSpPr>
          <p:cNvPr id="7" name="Rectangle 6"/>
          <p:cNvSpPr/>
          <p:nvPr/>
        </p:nvSpPr>
        <p:spPr>
          <a:xfrm>
            <a:off x="6446520" y="2523744"/>
            <a:ext cx="4892040" cy="27432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1034" y="2523744"/>
            <a:ext cx="1223010" cy="274320"/>
          </a:xfrm>
          <a:prstGeom prst="rect">
            <a:avLst/>
          </a:prstGeom>
          <a:solidFill>
            <a:srgbClr val="D5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1034" y="2560320"/>
            <a:ext cx="1223010" cy="219456"/>
          </a:xfrm>
          <a:prstGeom prst="rect">
            <a:avLst/>
          </a:prstGeom>
          <a:noFill/>
        </p:spPr>
        <p:txBody>
          <a:bodyPr wrap="square" anchor="t" lIns="0" rIns="0" tIns="0" bIns="0">
            <a:spAutoFit/>
          </a:bodyPr>
          <a:lstStyle/>
          <a:p>
            <a:pPr algn="ctr">
              <a:lnSpc>
                <a:spcPct val="100000"/>
              </a:lnSpc>
            </a:pPr>
            <a:r>
              <a:rPr sz="950" b="1">
                <a:solidFill>
                  <a:srgbClr val="0E8F86"/>
                </a:solidFill>
                <a:latin typeface="Calibri"/>
              </a:rPr>
              <a:t>3  rubric</a:t>
            </a:r>
          </a:p>
        </p:txBody>
      </p:sp>
      <p:sp>
        <p:nvSpPr>
          <p:cNvPr id="10" name="Rectangle 9"/>
          <p:cNvSpPr/>
          <p:nvPr/>
        </p:nvSpPr>
        <p:spPr>
          <a:xfrm>
            <a:off x="7655813" y="2468879"/>
            <a:ext cx="27432" cy="384048"/>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8009" y="2871215"/>
            <a:ext cx="1463040" cy="219456"/>
          </a:xfrm>
          <a:prstGeom prst="rect">
            <a:avLst/>
          </a:prstGeom>
          <a:noFill/>
        </p:spPr>
        <p:txBody>
          <a:bodyPr wrap="square" anchor="t" lIns="0" rIns="0" tIns="0" bIns="0">
            <a:spAutoFit/>
          </a:bodyPr>
          <a:lstStyle/>
          <a:p>
            <a:pPr algn="ctr">
              <a:lnSpc>
                <a:spcPct val="100000"/>
              </a:lnSpc>
            </a:pPr>
            <a:r>
              <a:rPr sz="950" b="1">
                <a:solidFill>
                  <a:srgbClr val="1E66B8"/>
                </a:solidFill>
                <a:latin typeface="Calibri"/>
              </a:rPr>
              <a:t>human 2.0</a:t>
            </a:r>
          </a:p>
        </p:txBody>
      </p:sp>
      <p:sp>
        <p:nvSpPr>
          <p:cNvPr id="12" name="TextBox 11"/>
          <p:cNvSpPr txBox="1"/>
          <p:nvPr/>
        </p:nvSpPr>
        <p:spPr>
          <a:xfrm>
            <a:off x="6446520" y="2871215"/>
            <a:ext cx="1097280" cy="219456"/>
          </a:xfrm>
          <a:prstGeom prst="rect">
            <a:avLst/>
          </a:prstGeom>
          <a:noFill/>
        </p:spPr>
        <p:txBody>
          <a:bodyPr wrap="square" anchor="t" lIns="0" rIns="0" tIns="0" bIns="0">
            <a:spAutoFit/>
          </a:bodyPr>
          <a:lstStyle/>
          <a:p>
            <a:pPr algn="l">
              <a:lnSpc>
                <a:spcPct val="100000"/>
              </a:lnSpc>
            </a:pPr>
            <a:r>
              <a:rPr sz="950" b="0">
                <a:solidFill>
                  <a:srgbClr val="526173"/>
                </a:solidFill>
                <a:latin typeface="Calibri"/>
              </a:rPr>
              <a:t>1  flat</a:t>
            </a:r>
          </a:p>
        </p:txBody>
      </p:sp>
      <p:sp>
        <p:nvSpPr>
          <p:cNvPr id="13" name="TextBox 12"/>
          <p:cNvSpPr txBox="1"/>
          <p:nvPr/>
        </p:nvSpPr>
        <p:spPr>
          <a:xfrm>
            <a:off x="10058399" y="2871215"/>
            <a:ext cx="1280160" cy="219456"/>
          </a:xfrm>
          <a:prstGeom prst="rect">
            <a:avLst/>
          </a:prstGeom>
          <a:noFill/>
        </p:spPr>
        <p:txBody>
          <a:bodyPr wrap="square" anchor="t" lIns="0" rIns="0" tIns="0" bIns="0">
            <a:spAutoFit/>
          </a:bodyPr>
          <a:lstStyle/>
          <a:p>
            <a:pPr algn="r">
              <a:lnSpc>
                <a:spcPct val="100000"/>
              </a:lnSpc>
            </a:pPr>
            <a:r>
              <a:rPr sz="950" b="0">
                <a:solidFill>
                  <a:srgbClr val="526173"/>
                </a:solidFill>
                <a:latin typeface="Calibri"/>
              </a:rPr>
              <a:t>5  extreme</a:t>
            </a:r>
          </a:p>
        </p:txBody>
      </p:sp>
      <p:sp>
        <p:nvSpPr>
          <p:cNvPr id="14" name="TextBox 13"/>
          <p:cNvSpPr txBox="1"/>
          <p:nvPr/>
        </p:nvSpPr>
        <p:spPr>
          <a:xfrm>
            <a:off x="6446520" y="3520440"/>
            <a:ext cx="4892040" cy="274320"/>
          </a:xfrm>
          <a:prstGeom prst="rect">
            <a:avLst/>
          </a:prstGeom>
          <a:noFill/>
        </p:spPr>
        <p:txBody>
          <a:bodyPr wrap="square" anchor="t" lIns="0" rIns="0" tIns="0" bIns="0">
            <a:spAutoFit/>
          </a:bodyPr>
          <a:lstStyle/>
          <a:p>
            <a:pPr algn="l">
              <a:lnSpc>
                <a:spcPct val="100000"/>
              </a:lnSpc>
            </a:pPr>
            <a:r>
              <a:rPr sz="1050" b="1">
                <a:solidFill>
                  <a:srgbClr val="526173"/>
                </a:solidFill>
                <a:latin typeface="Arial"/>
              </a:rPr>
              <a:t>OPTIMISM</a:t>
            </a:r>
          </a:p>
        </p:txBody>
      </p:sp>
      <p:sp>
        <p:nvSpPr>
          <p:cNvPr id="15" name="Rectangle 14"/>
          <p:cNvSpPr/>
          <p:nvPr/>
        </p:nvSpPr>
        <p:spPr>
          <a:xfrm>
            <a:off x="6446520" y="3849624"/>
            <a:ext cx="4892040" cy="27432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81034" y="3849624"/>
            <a:ext cx="1223010" cy="274320"/>
          </a:xfrm>
          <a:prstGeom prst="rect">
            <a:avLst/>
          </a:prstGeom>
          <a:solidFill>
            <a:srgbClr val="D5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1034" y="3886200"/>
            <a:ext cx="1223010" cy="219456"/>
          </a:xfrm>
          <a:prstGeom prst="rect">
            <a:avLst/>
          </a:prstGeom>
          <a:noFill/>
        </p:spPr>
        <p:txBody>
          <a:bodyPr wrap="square" anchor="t" lIns="0" rIns="0" tIns="0" bIns="0">
            <a:spAutoFit/>
          </a:bodyPr>
          <a:lstStyle/>
          <a:p>
            <a:pPr algn="ctr">
              <a:lnSpc>
                <a:spcPct val="100000"/>
              </a:lnSpc>
            </a:pPr>
            <a:r>
              <a:rPr sz="950" b="1">
                <a:solidFill>
                  <a:srgbClr val="0E8F86"/>
                </a:solidFill>
                <a:latin typeface="Calibri"/>
              </a:rPr>
              <a:t>3  rubric</a:t>
            </a:r>
          </a:p>
        </p:txBody>
      </p:sp>
      <p:sp>
        <p:nvSpPr>
          <p:cNvPr id="18" name="Rectangle 17"/>
          <p:cNvSpPr/>
          <p:nvPr/>
        </p:nvSpPr>
        <p:spPr>
          <a:xfrm>
            <a:off x="8267318" y="3794760"/>
            <a:ext cx="27432" cy="384048"/>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9514" y="4197096"/>
            <a:ext cx="1463040" cy="219456"/>
          </a:xfrm>
          <a:prstGeom prst="rect">
            <a:avLst/>
          </a:prstGeom>
          <a:noFill/>
        </p:spPr>
        <p:txBody>
          <a:bodyPr wrap="square" anchor="t" lIns="0" rIns="0" tIns="0" bIns="0">
            <a:spAutoFit/>
          </a:bodyPr>
          <a:lstStyle/>
          <a:p>
            <a:pPr algn="ctr">
              <a:lnSpc>
                <a:spcPct val="100000"/>
              </a:lnSpc>
            </a:pPr>
            <a:r>
              <a:rPr sz="950" b="1">
                <a:solidFill>
                  <a:srgbClr val="1E66B8"/>
                </a:solidFill>
                <a:latin typeface="Calibri"/>
              </a:rPr>
              <a:t>human 2.5</a:t>
            </a:r>
          </a:p>
        </p:txBody>
      </p:sp>
      <p:sp>
        <p:nvSpPr>
          <p:cNvPr id="20" name="TextBox 19"/>
          <p:cNvSpPr txBox="1"/>
          <p:nvPr/>
        </p:nvSpPr>
        <p:spPr>
          <a:xfrm>
            <a:off x="6446520" y="4197096"/>
            <a:ext cx="1097280" cy="219456"/>
          </a:xfrm>
          <a:prstGeom prst="rect">
            <a:avLst/>
          </a:prstGeom>
          <a:noFill/>
        </p:spPr>
        <p:txBody>
          <a:bodyPr wrap="square" anchor="t" lIns="0" rIns="0" tIns="0" bIns="0">
            <a:spAutoFit/>
          </a:bodyPr>
          <a:lstStyle/>
          <a:p>
            <a:pPr algn="l">
              <a:lnSpc>
                <a:spcPct val="100000"/>
              </a:lnSpc>
            </a:pPr>
            <a:r>
              <a:rPr sz="950" b="0">
                <a:solidFill>
                  <a:srgbClr val="526173"/>
                </a:solidFill>
                <a:latin typeface="Calibri"/>
              </a:rPr>
              <a:t>1  flat</a:t>
            </a:r>
          </a:p>
        </p:txBody>
      </p:sp>
      <p:sp>
        <p:nvSpPr>
          <p:cNvPr id="21" name="TextBox 20"/>
          <p:cNvSpPr txBox="1"/>
          <p:nvPr/>
        </p:nvSpPr>
        <p:spPr>
          <a:xfrm>
            <a:off x="10058399" y="4197096"/>
            <a:ext cx="1280160" cy="219456"/>
          </a:xfrm>
          <a:prstGeom prst="rect">
            <a:avLst/>
          </a:prstGeom>
          <a:noFill/>
        </p:spPr>
        <p:txBody>
          <a:bodyPr wrap="square" anchor="t" lIns="0" rIns="0" tIns="0" bIns="0">
            <a:spAutoFit/>
          </a:bodyPr>
          <a:lstStyle/>
          <a:p>
            <a:pPr algn="r">
              <a:lnSpc>
                <a:spcPct val="100000"/>
              </a:lnSpc>
            </a:pPr>
            <a:r>
              <a:rPr sz="950" b="0">
                <a:solidFill>
                  <a:srgbClr val="526173"/>
                </a:solidFill>
                <a:latin typeface="Calibri"/>
              </a:rPr>
              <a:t>5  extreme</a:t>
            </a:r>
          </a:p>
        </p:txBody>
      </p:sp>
      <p:sp>
        <p:nvSpPr>
          <p:cNvPr id="22" name="Rectangle 21"/>
          <p:cNvSpPr/>
          <p:nvPr/>
        </p:nvSpPr>
        <p:spPr>
          <a:xfrm>
            <a:off x="6446520" y="4754880"/>
            <a:ext cx="4892040" cy="10972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46520" y="4754880"/>
            <a:ext cx="44450" cy="109728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3408" y="4919472"/>
            <a:ext cx="4480560" cy="868680"/>
          </a:xfrm>
          <a:prstGeom prst="rect">
            <a:avLst/>
          </a:prstGeom>
          <a:noFill/>
        </p:spPr>
        <p:txBody>
          <a:bodyPr wrap="square" anchor="t" lIns="0" rIns="0" tIns="0" bIns="0">
            <a:spAutoFit/>
          </a:bodyPr>
          <a:lstStyle/>
          <a:p>
            <a:pPr algn="l">
              <a:lnSpc>
                <a:spcPct val="116000"/>
              </a:lnSpc>
            </a:pPr>
            <a:r>
              <a:rPr sz="1200" b="0">
                <a:solidFill>
                  <a:srgbClr val="0F172A"/>
                </a:solidFill>
                <a:latin typeface="Calibri"/>
              </a:rPr>
              <a:t>The rubric calls 3 calibrated. Our human writers sit at 2.0 and 2.5, so the human band — not the rubric midpoint — is the target we report against.</a:t>
            </a:r>
          </a:p>
        </p:txBody>
      </p:sp>
      <p:sp>
        <p:nvSpPr>
          <p:cNvPr id="25" name="TextBox 24"/>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26" name="TextBox 25"/>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METRICS · PART 1</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What we measure about the system</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03120"/>
            <a:ext cx="5394960" cy="17830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03120"/>
            <a:ext cx="539496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304288"/>
            <a:ext cx="4956048" cy="1417319"/>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Tone — the contribution</a:t>
            </a:r>
          </a:p>
          <a:p>
            <a:pPr algn="l">
              <a:lnSpc>
                <a:spcPct val="112000"/>
              </a:lnSpc>
              <a:spcBef>
                <a:spcPts val="300"/>
              </a:spcBef>
            </a:pPr>
            <a:r>
              <a:rPr sz="1050" b="0">
                <a:solidFill>
                  <a:srgbClr val="526173"/>
                </a:solidFill>
                <a:latin typeface="Calibri"/>
              </a:rPr>
              <a:t>An LLM judge, blind, one story per call. The only family that needs a model.</a:t>
            </a:r>
          </a:p>
          <a:p>
            <a:pPr algn="l">
              <a:lnSpc>
                <a:spcPct val="112000"/>
              </a:lnSpc>
              <a:spcBef>
                <a:spcPts val="500"/>
              </a:spcBef>
            </a:pPr>
            <a:r>
              <a:rPr sz="1050" b="0">
                <a:solidFill>
                  <a:srgbClr val="0F172A"/>
                </a:solidFill>
                <a:latin typeface="Calibri"/>
              </a:rPr>
              <a:t>Alarmism 1-5   flat ↔ catastrophising</a:t>
            </a:r>
          </a:p>
          <a:p>
            <a:pPr algn="l">
              <a:lnSpc>
                <a:spcPct val="112000"/>
              </a:lnSpc>
              <a:spcBef>
                <a:spcPts val="500"/>
              </a:spcBef>
            </a:pPr>
            <a:r>
              <a:rPr sz="1050" b="0">
                <a:solidFill>
                  <a:srgbClr val="0F172A"/>
                </a:solidFill>
                <a:latin typeface="Calibri"/>
              </a:rPr>
              <a:t>Optimism 1-5   bleak ↔ false reassurance</a:t>
            </a:r>
          </a:p>
          <a:p>
            <a:pPr algn="l">
              <a:lnSpc>
                <a:spcPct val="112000"/>
              </a:lnSpc>
              <a:spcBef>
                <a:spcPts val="500"/>
              </a:spcBef>
            </a:pPr>
            <a:r>
              <a:rPr sz="1050" b="0">
                <a:solidFill>
                  <a:srgbClr val="0F172A"/>
                </a:solidFill>
                <a:latin typeface="Calibri"/>
              </a:rPr>
              <a:t>Emotive spans removed   count, per run</a:t>
            </a:r>
          </a:p>
        </p:txBody>
      </p:sp>
      <p:sp>
        <p:nvSpPr>
          <p:cNvPr id="8" name="Rectangle 7"/>
          <p:cNvSpPr/>
          <p:nvPr/>
        </p:nvSpPr>
        <p:spPr>
          <a:xfrm>
            <a:off x="685800" y="4041648"/>
            <a:ext cx="5394960" cy="197510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041648"/>
            <a:ext cx="5394960" cy="4445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4242816"/>
            <a:ext cx="4956048" cy="1609344"/>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Faithfulness — computed, no model, free</a:t>
            </a:r>
          </a:p>
          <a:p>
            <a:pPr algn="l">
              <a:lnSpc>
                <a:spcPct val="112000"/>
              </a:lnSpc>
              <a:spcBef>
                <a:spcPts val="300"/>
              </a:spcBef>
            </a:pPr>
            <a:r>
              <a:rPr sz="1050" b="0">
                <a:solidFill>
                  <a:srgbClr val="526173"/>
                </a:solidFill>
                <a:latin typeface="Calibri"/>
              </a:rPr>
              <a:t>Did the rewrite keep the facts? Runs on every story automatically.</a:t>
            </a:r>
          </a:p>
          <a:p>
            <a:pPr algn="l">
              <a:lnSpc>
                <a:spcPct val="112000"/>
              </a:lnSpc>
              <a:spcBef>
                <a:spcPts val="500"/>
              </a:spcBef>
            </a:pPr>
            <a:r>
              <a:rPr sz="1050" b="0">
                <a:solidFill>
                  <a:srgbClr val="0F172A"/>
                </a:solidFill>
                <a:latin typeface="Calibri"/>
              </a:rPr>
              <a:t>Numeric retention   share of the raw story's figures that survive</a:t>
            </a:r>
          </a:p>
          <a:p>
            <a:pPr algn="l">
              <a:lnSpc>
                <a:spcPct val="112000"/>
              </a:lnSpc>
              <a:spcBef>
                <a:spcPts val="500"/>
              </a:spcBef>
            </a:pPr>
            <a:r>
              <a:rPr sz="1050" b="0">
                <a:solidFill>
                  <a:srgbClr val="0F172A"/>
                </a:solidFill>
                <a:latin typeface="Calibri"/>
              </a:rPr>
              <a:t>Added unsupported   figures the moderator introduced</a:t>
            </a:r>
          </a:p>
          <a:p>
            <a:pPr algn="l">
              <a:lnSpc>
                <a:spcPct val="112000"/>
              </a:lnSpc>
              <a:spcBef>
                <a:spcPts val="500"/>
              </a:spcBef>
            </a:pPr>
            <a:r>
              <a:rPr sz="1050" b="0">
                <a:solidFill>
                  <a:srgbClr val="0F172A"/>
                </a:solidFill>
                <a:latin typeface="Calibri"/>
              </a:rPr>
              <a:t>Groundedness   stated numbers the table actually supports</a:t>
            </a:r>
          </a:p>
          <a:p>
            <a:pPr algn="l">
              <a:lnSpc>
                <a:spcPct val="112000"/>
              </a:lnSpc>
              <a:spcBef>
                <a:spcPts val="500"/>
              </a:spcBef>
            </a:pPr>
            <a:r>
              <a:rPr sz="1050" b="0">
                <a:solidFill>
                  <a:srgbClr val="0F172A"/>
                </a:solidFill>
                <a:latin typeface="Calibri"/>
              </a:rPr>
              <a:t>Rewrite intensity   how much text changed at all</a:t>
            </a:r>
          </a:p>
          <a:p>
            <a:pPr algn="l">
              <a:lnSpc>
                <a:spcPct val="112000"/>
              </a:lnSpc>
              <a:spcBef>
                <a:spcPts val="500"/>
              </a:spcBef>
            </a:pPr>
            <a:r>
              <a:rPr sz="1050" b="0">
                <a:solidFill>
                  <a:srgbClr val="0F172A"/>
                </a:solidFill>
                <a:latin typeface="Calibri"/>
              </a:rPr>
              <a:t>Trend selection   does the story's window agree with the whole series</a:t>
            </a:r>
          </a:p>
        </p:txBody>
      </p:sp>
      <p:sp>
        <p:nvSpPr>
          <p:cNvPr id="11" name="Rectangle 10"/>
          <p:cNvSpPr/>
          <p:nvPr/>
        </p:nvSpPr>
        <p:spPr>
          <a:xfrm>
            <a:off x="6309360" y="2103120"/>
            <a:ext cx="5193792" cy="17830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2103120"/>
            <a:ext cx="5193792" cy="44450"/>
          </a:xfrm>
          <a:prstGeom prst="rect">
            <a:avLst/>
          </a:prstGeom>
          <a:solidFill>
            <a:srgbClr val="0E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304288"/>
            <a:ext cx="4754879" cy="1417319"/>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Similarity to the human baseline</a:t>
            </a:r>
          </a:p>
          <a:p>
            <a:pPr algn="l">
              <a:lnSpc>
                <a:spcPct val="112000"/>
              </a:lnSpc>
              <a:spcBef>
                <a:spcPts val="300"/>
              </a:spcBef>
            </a:pPr>
            <a:r>
              <a:rPr sz="1050" b="0">
                <a:solidFill>
                  <a:srgbClr val="526173"/>
                </a:solidFill>
                <a:latin typeface="Calibri"/>
              </a:rPr>
              <a:t>How close the wording lands to the 25 stories we wrote by hand.</a:t>
            </a:r>
          </a:p>
          <a:p>
            <a:pPr algn="l">
              <a:lnSpc>
                <a:spcPct val="112000"/>
              </a:lnSpc>
              <a:spcBef>
                <a:spcPts val="500"/>
              </a:spcBef>
            </a:pPr>
            <a:r>
              <a:rPr sz="1050" b="0">
                <a:solidFill>
                  <a:srgbClr val="0F172A"/>
                </a:solidFill>
                <a:latin typeface="Calibri"/>
              </a:rPr>
              <a:t>chrF++   character n-grams; our ranking metric</a:t>
            </a:r>
          </a:p>
          <a:p>
            <a:pPr algn="l">
              <a:lnSpc>
                <a:spcPct val="112000"/>
              </a:lnSpc>
              <a:spcBef>
                <a:spcPts val="500"/>
              </a:spcBef>
            </a:pPr>
            <a:r>
              <a:rPr sz="1050" b="0">
                <a:solidFill>
                  <a:srgbClr val="0F172A"/>
                </a:solidFill>
                <a:latin typeface="Calibri"/>
              </a:rPr>
              <a:t>BLEU 1-4, ROUGE-L   n-gram and longest-common-subsequence overlap</a:t>
            </a:r>
          </a:p>
          <a:p>
            <a:pPr algn="l">
              <a:lnSpc>
                <a:spcPct val="112000"/>
              </a:lnSpc>
              <a:spcBef>
                <a:spcPts val="500"/>
              </a:spcBef>
            </a:pPr>
            <a:r>
              <a:rPr sz="1050" b="0">
                <a:solidFill>
                  <a:srgbClr val="0F172A"/>
                </a:solidFill>
                <a:latin typeface="Calibri"/>
              </a:rPr>
              <a:t>METEOR, unigram F1   stem and synonym aware</a:t>
            </a:r>
          </a:p>
        </p:txBody>
      </p:sp>
      <p:sp>
        <p:nvSpPr>
          <p:cNvPr id="14" name="Rectangle 13"/>
          <p:cNvSpPr/>
          <p:nvPr/>
        </p:nvSpPr>
        <p:spPr>
          <a:xfrm>
            <a:off x="6309360" y="4041648"/>
            <a:ext cx="5193792" cy="1975104"/>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4041648"/>
            <a:ext cx="5193792" cy="44450"/>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4242816"/>
            <a:ext cx="4754879" cy="1609344"/>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Analytical operations — from the DataTales re-run</a:t>
            </a:r>
          </a:p>
          <a:p>
            <a:pPr algn="l">
              <a:lnSpc>
                <a:spcPct val="112000"/>
              </a:lnSpc>
              <a:spcBef>
                <a:spcPts val="300"/>
              </a:spcBef>
            </a:pPr>
            <a:r>
              <a:rPr sz="1050" b="0">
                <a:solidFill>
                  <a:srgbClr val="526173"/>
                </a:solidFill>
                <a:latin typeface="Calibri"/>
              </a:rPr>
              <a:t>Not every claim is equally hard, so we score accuracy per kind of claim.</a:t>
            </a:r>
          </a:p>
          <a:p>
            <a:pPr algn="l">
              <a:lnSpc>
                <a:spcPct val="112000"/>
              </a:lnSpc>
              <a:spcBef>
                <a:spcPts val="500"/>
              </a:spcBef>
            </a:pPr>
            <a:r>
              <a:rPr sz="1050" b="0">
                <a:solidFill>
                  <a:srgbClr val="0F172A"/>
                </a:solidFill>
                <a:latin typeface="Calibri"/>
              </a:rPr>
              <a:t>lookup   reading a single value off the table</a:t>
            </a:r>
          </a:p>
          <a:p>
            <a:pPr algn="l">
              <a:lnSpc>
                <a:spcPct val="112000"/>
              </a:lnSpc>
              <a:spcBef>
                <a:spcPts val="500"/>
              </a:spcBef>
            </a:pPr>
            <a:r>
              <a:rPr sz="1050" b="0">
                <a:solidFill>
                  <a:srgbClr val="0F172A"/>
                </a:solidFill>
                <a:latin typeface="Calibri"/>
              </a:rPr>
              <a:t>comparison   ranking two values against each other</a:t>
            </a:r>
          </a:p>
          <a:p>
            <a:pPr algn="l">
              <a:lnSpc>
                <a:spcPct val="112000"/>
              </a:lnSpc>
              <a:spcBef>
                <a:spcPts val="500"/>
              </a:spcBef>
            </a:pPr>
            <a:r>
              <a:rPr sz="1050" b="0">
                <a:solidFill>
                  <a:srgbClr val="0F172A"/>
                </a:solidFill>
                <a:latin typeface="Calibri"/>
              </a:rPr>
              <a:t>trend   which way a series moves across a window</a:t>
            </a:r>
          </a:p>
          <a:p>
            <a:pPr algn="l">
              <a:lnSpc>
                <a:spcPct val="112000"/>
              </a:lnSpc>
              <a:spcBef>
                <a:spcPts val="500"/>
              </a:spcBef>
            </a:pPr>
            <a:r>
              <a:rPr sz="1050" b="0">
                <a:solidFill>
                  <a:srgbClr val="0F172A"/>
                </a:solidFill>
                <a:latin typeface="Calibri"/>
              </a:rPr>
              <a:t>rate of change   how steeply it moves</a:t>
            </a:r>
          </a:p>
          <a:p>
            <a:pPr algn="l">
              <a:lnSpc>
                <a:spcPct val="112000"/>
              </a:lnSpc>
              <a:spcBef>
                <a:spcPts val="500"/>
              </a:spcBef>
            </a:pPr>
            <a:r>
              <a:rPr sz="1050" b="0">
                <a:solidFill>
                  <a:srgbClr val="0F172A"/>
                </a:solidFill>
                <a:latin typeface="Calibri"/>
              </a:rPr>
              <a:t>causal   why it moved — the hardest, and the one we treat with most caution</a:t>
            </a:r>
          </a:p>
        </p:txBody>
      </p:sp>
      <p:sp>
        <p:nvSpPr>
          <p:cNvPr id="17" name="TextBox 16"/>
          <p:cNvSpPr txBox="1"/>
          <p:nvPr/>
        </p:nvSpPr>
        <p:spPr>
          <a:xfrm>
            <a:off x="685800" y="6108192"/>
            <a:ext cx="10789920" cy="256032"/>
          </a:xfrm>
          <a:prstGeom prst="rect">
            <a:avLst/>
          </a:prstGeom>
          <a:noFill/>
        </p:spPr>
        <p:txBody>
          <a:bodyPr wrap="square" anchor="t" lIns="0" rIns="0" tIns="0" bIns="0">
            <a:spAutoFit/>
          </a:bodyPr>
          <a:lstStyle/>
          <a:p>
            <a:pPr algn="l">
              <a:lnSpc>
                <a:spcPct val="100000"/>
              </a:lnSpc>
            </a:pPr>
            <a:r>
              <a:rPr sz="1000" b="0">
                <a:solidFill>
                  <a:srgbClr val="526173"/>
                </a:solidFill>
                <a:latin typeface="Calibri"/>
              </a:rPr>
              <a:t>“Trend” appears twice: trend selection (bottom left) is a cherry-picking check on one story; trend (bottom right) is an accuracy category from the benchmark.</a:t>
            </a:r>
          </a:p>
        </p:txBody>
      </p:sp>
      <p:sp>
        <p:nvSpPr>
          <p:cNvPr id="18" name="TextBox 17"/>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19" name="TextBox 18"/>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058400" cy="3657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PART 3 OF 4</a:t>
            </a:r>
          </a:p>
        </p:txBody>
      </p:sp>
      <p:sp>
        <p:nvSpPr>
          <p:cNvPr id="5" name="TextBox 4"/>
          <p:cNvSpPr txBox="1"/>
          <p:nvPr/>
        </p:nvSpPr>
        <p:spPr>
          <a:xfrm>
            <a:off x="1005840" y="2606040"/>
            <a:ext cx="9692640" cy="1005840"/>
          </a:xfrm>
          <a:prstGeom prst="rect">
            <a:avLst/>
          </a:prstGeom>
          <a:noFill/>
        </p:spPr>
        <p:txBody>
          <a:bodyPr wrap="square" anchor="t" lIns="0" rIns="0" tIns="0" bIns="0">
            <a:spAutoFit/>
          </a:bodyPr>
          <a:lstStyle/>
          <a:p>
            <a:pPr algn="l">
              <a:lnSpc>
                <a:spcPct val="108000"/>
              </a:lnSpc>
            </a:pPr>
            <a:r>
              <a:rPr sz="3400" b="1">
                <a:solidFill>
                  <a:srgbClr val="FFFFFF"/>
                </a:solidFill>
                <a:latin typeface="Arial"/>
              </a:rPr>
              <a:t>What the reader sees, and how we chose the pair</a:t>
            </a:r>
          </a:p>
        </p:txBody>
      </p:sp>
      <p:sp>
        <p:nvSpPr>
          <p:cNvPr id="6" name="TextBox 5"/>
          <p:cNvSpPr txBox="1"/>
          <p:nvPr/>
        </p:nvSpPr>
        <p:spPr>
          <a:xfrm>
            <a:off x="1005840" y="3794760"/>
            <a:ext cx="9692640" cy="365760"/>
          </a:xfrm>
          <a:prstGeom prst="rect">
            <a:avLst/>
          </a:prstGeom>
          <a:noFill/>
        </p:spPr>
        <p:txBody>
          <a:bodyPr wrap="square" anchor="t" lIns="0" rIns="0" tIns="0" bIns="0">
            <a:spAutoFit/>
          </a:bodyPr>
          <a:lstStyle/>
          <a:p>
            <a:pPr algn="l">
              <a:lnSpc>
                <a:spcPct val="100000"/>
              </a:lnSpc>
            </a:pPr>
            <a:r>
              <a:rPr sz="1500" b="1">
                <a:solidFill>
                  <a:srgbClr val="8A9CB8"/>
                </a:solidFill>
                <a:latin typeface="Calibri"/>
              </a:rPr>
              <a:t>Elsaadani</a:t>
            </a:r>
          </a:p>
        </p:txBody>
      </p:sp>
      <p:sp>
        <p:nvSpPr>
          <p:cNvPr id="7" name="Rectangle 6"/>
          <p:cNvSpPr/>
          <p:nvPr/>
        </p:nvSpPr>
        <p:spPr>
          <a:xfrm>
            <a:off x="1005840"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research</a:t>
            </a:r>
          </a:p>
        </p:txBody>
      </p:sp>
      <p:sp>
        <p:nvSpPr>
          <p:cNvPr id="9" name="Rectangle 8"/>
          <p:cNvSpPr/>
          <p:nvPr/>
        </p:nvSpPr>
        <p:spPr>
          <a:xfrm>
            <a:off x="3602736"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we built</a:t>
            </a:r>
          </a:p>
        </p:txBody>
      </p:sp>
      <p:sp>
        <p:nvSpPr>
          <p:cNvPr id="11" name="Rectangle 10"/>
          <p:cNvSpPr/>
          <p:nvPr/>
        </p:nvSpPr>
        <p:spPr>
          <a:xfrm>
            <a:off x="6199632"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5074920"/>
            <a:ext cx="2395728" cy="457200"/>
          </a:xfrm>
          <a:prstGeom prst="rect">
            <a:avLst/>
          </a:prstGeom>
          <a:noFill/>
        </p:spPr>
        <p:txBody>
          <a:bodyPr wrap="square" anchor="t" lIns="0" rIns="0" tIns="0" bIns="0">
            <a:spAutoFit/>
          </a:bodyPr>
          <a:lstStyle/>
          <a:p>
            <a:pPr algn="l">
              <a:lnSpc>
                <a:spcPct val="112000"/>
              </a:lnSpc>
            </a:pPr>
            <a:r>
              <a:rPr sz="1050" b="1">
                <a:solidFill>
                  <a:srgbClr val="FFFFFF"/>
                </a:solidFill>
                <a:latin typeface="Calibri"/>
              </a:rPr>
              <a:t>What the reader sees</a:t>
            </a:r>
          </a:p>
        </p:txBody>
      </p:sp>
      <p:sp>
        <p:nvSpPr>
          <p:cNvPr id="13" name="Rectangle 12"/>
          <p:cNvSpPr/>
          <p:nvPr/>
        </p:nvSpPr>
        <p:spPr>
          <a:xfrm>
            <a:off x="8796528" y="4892040"/>
            <a:ext cx="2395728" cy="635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METRICS · PART 2</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What the reader is shown, and why</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03120"/>
            <a:ext cx="5394960" cy="21488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03120"/>
            <a:ext cx="539496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304288"/>
            <a:ext cx="4956048" cy="1783080"/>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In the app, next to the story</a:t>
            </a:r>
          </a:p>
          <a:p>
            <a:pPr algn="l">
              <a:lnSpc>
                <a:spcPct val="112000"/>
              </a:lnSpc>
              <a:spcBef>
                <a:spcPts val="300"/>
              </a:spcBef>
            </a:pPr>
            <a:r>
              <a:rPr sz="1050" b="0">
                <a:solidFill>
                  <a:srgbClr val="526173"/>
                </a:solidFill>
                <a:latin typeface="Calibri"/>
              </a:rPr>
              <a:t>These exist so a reader can audit the rewrite instead of trusting it.</a:t>
            </a:r>
          </a:p>
          <a:p>
            <a:pPr algn="l">
              <a:lnSpc>
                <a:spcPct val="112000"/>
              </a:lnSpc>
              <a:spcBef>
                <a:spcPts val="500"/>
              </a:spcBef>
            </a:pPr>
            <a:r>
              <a:rPr sz="1050" b="0">
                <a:solidFill>
                  <a:srgbClr val="0F172A"/>
                </a:solidFill>
                <a:latin typeface="Calibri"/>
              </a:rPr>
              <a:t>Alarmism rating   where this story sits on the scale</a:t>
            </a:r>
          </a:p>
          <a:p>
            <a:pPr algn="l">
              <a:lnSpc>
                <a:spcPct val="112000"/>
              </a:lnSpc>
              <a:spcBef>
                <a:spcPts val="500"/>
              </a:spcBef>
            </a:pPr>
            <a:r>
              <a:rPr sz="1050" b="0">
                <a:solidFill>
                  <a:srgbClr val="0F172A"/>
                </a:solidFill>
                <a:latin typeface="Calibri"/>
              </a:rPr>
              <a:t>Human tone band   ±0.5 around the human author's own rating</a:t>
            </a:r>
          </a:p>
          <a:p>
            <a:pPr algn="l">
              <a:lnSpc>
                <a:spcPct val="112000"/>
              </a:lnSpc>
              <a:spcBef>
                <a:spcPts val="500"/>
              </a:spcBef>
            </a:pPr>
            <a:r>
              <a:rPr sz="1050" b="0">
                <a:solidFill>
                  <a:srgbClr val="0F172A"/>
                </a:solidFill>
                <a:latin typeface="Calibri"/>
              </a:rPr>
              <a:t>Numbing / catastrophising   which end it failed toward</a:t>
            </a:r>
          </a:p>
          <a:p>
            <a:pPr algn="l">
              <a:lnSpc>
                <a:spcPct val="112000"/>
              </a:lnSpc>
              <a:spcBef>
                <a:spcPts val="500"/>
              </a:spcBef>
            </a:pPr>
            <a:r>
              <a:rPr sz="1050" b="0">
                <a:solidFill>
                  <a:srgbClr val="0F172A"/>
                </a:solidFill>
                <a:latin typeface="Calibri"/>
              </a:rPr>
              <a:t>Emotive span   the exact words the moderator removed</a:t>
            </a:r>
          </a:p>
          <a:p>
            <a:pPr algn="l">
              <a:lnSpc>
                <a:spcPct val="112000"/>
              </a:lnSpc>
              <a:spcBef>
                <a:spcPts val="500"/>
              </a:spcBef>
            </a:pPr>
            <a:r>
              <a:rPr sz="1050" b="0">
                <a:solidFill>
                  <a:srgbClr val="0F172A"/>
                </a:solidFill>
                <a:latin typeface="Calibri"/>
              </a:rPr>
              <a:t>Verified / flagged / corrected   what the fact-check did to each number</a:t>
            </a:r>
          </a:p>
        </p:txBody>
      </p:sp>
      <p:sp>
        <p:nvSpPr>
          <p:cNvPr id="8" name="Rectangle 7"/>
          <p:cNvSpPr/>
          <p:nvPr/>
        </p:nvSpPr>
        <p:spPr>
          <a:xfrm>
            <a:off x="685800" y="4434840"/>
            <a:ext cx="5394960" cy="164592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434840"/>
            <a:ext cx="5394960" cy="44450"/>
          </a:xfrm>
          <a:prstGeom prst="rect">
            <a:avLst/>
          </a:prstGeom>
          <a:solidFill>
            <a:srgbClr val="0E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4636007"/>
            <a:ext cx="4956048" cy="1280160"/>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The edit taxonomy</a:t>
            </a:r>
          </a:p>
          <a:p>
            <a:pPr algn="l">
              <a:lnSpc>
                <a:spcPct val="112000"/>
              </a:lnSpc>
              <a:spcBef>
                <a:spcPts val="300"/>
              </a:spcBef>
            </a:pPr>
            <a:r>
              <a:rPr sz="1050" b="0">
                <a:solidFill>
                  <a:srgbClr val="526173"/>
                </a:solidFill>
                <a:latin typeface="Calibri"/>
              </a:rPr>
              <a:t>Every change the moderator made, classified — so the diff is readable.</a:t>
            </a:r>
          </a:p>
          <a:p>
            <a:pPr algn="l">
              <a:lnSpc>
                <a:spcPct val="112000"/>
              </a:lnSpc>
              <a:spcBef>
                <a:spcPts val="500"/>
              </a:spcBef>
            </a:pPr>
            <a:r>
              <a:rPr sz="1050" b="0">
                <a:solidFill>
                  <a:srgbClr val="0F172A"/>
                </a:solidFill>
                <a:latin typeface="Calibri"/>
              </a:rPr>
              <a:t>Intensity   how hard the wording pushes</a:t>
            </a:r>
          </a:p>
          <a:p>
            <a:pPr algn="l">
              <a:lnSpc>
                <a:spcPct val="112000"/>
              </a:lnSpc>
              <a:spcBef>
                <a:spcPts val="500"/>
              </a:spcBef>
            </a:pPr>
            <a:r>
              <a:rPr sz="1050" b="0">
                <a:solidFill>
                  <a:srgbClr val="0F172A"/>
                </a:solidFill>
                <a:latin typeface="Calibri"/>
              </a:rPr>
              <a:t>Framing   what the sentence is made to be about</a:t>
            </a:r>
          </a:p>
          <a:p>
            <a:pPr algn="l">
              <a:lnSpc>
                <a:spcPct val="112000"/>
              </a:lnSpc>
              <a:spcBef>
                <a:spcPts val="500"/>
              </a:spcBef>
            </a:pPr>
            <a:r>
              <a:rPr sz="1050" b="0">
                <a:solidFill>
                  <a:srgbClr val="0F172A"/>
                </a:solidFill>
                <a:latin typeface="Calibri"/>
              </a:rPr>
              <a:t>Overreach   a claim beyond what the table shows</a:t>
            </a:r>
          </a:p>
          <a:p>
            <a:pPr algn="l">
              <a:lnSpc>
                <a:spcPct val="112000"/>
              </a:lnSpc>
              <a:spcBef>
                <a:spcPts val="500"/>
              </a:spcBef>
            </a:pPr>
            <a:r>
              <a:rPr sz="1050" b="0">
                <a:solidFill>
                  <a:srgbClr val="0F172A"/>
                </a:solidFill>
                <a:latin typeface="Calibri"/>
              </a:rPr>
              <a:t>Grounding   a claim tied back to a number</a:t>
            </a:r>
          </a:p>
        </p:txBody>
      </p:sp>
      <p:sp>
        <p:nvSpPr>
          <p:cNvPr id="11" name="Rectangle 10"/>
          <p:cNvSpPr/>
          <p:nvPr/>
        </p:nvSpPr>
        <p:spPr>
          <a:xfrm>
            <a:off x="6309360" y="2103120"/>
            <a:ext cx="5193792" cy="1691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2103120"/>
            <a:ext cx="5193792" cy="44450"/>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304288"/>
            <a:ext cx="4754879" cy="1325880"/>
          </a:xfrm>
          <a:prstGeom prst="rect">
            <a:avLst/>
          </a:prstGeom>
          <a:noFill/>
        </p:spPr>
        <p:txBody>
          <a:bodyPr wrap="square" anchor="t" lIns="0" rIns="0" tIns="0" bIns="0">
            <a:spAutoFit/>
          </a:bodyPr>
          <a:lstStyle/>
          <a:p>
            <a:pPr algn="l">
              <a:lnSpc>
                <a:spcPct val="112000"/>
              </a:lnSpc>
            </a:pPr>
            <a:r>
              <a:rPr sz="1300" b="1">
                <a:solidFill>
                  <a:srgbClr val="0D1B5C"/>
                </a:solidFill>
                <a:latin typeface="Arial"/>
              </a:rPr>
              <a:t>Designed, not yet run</a:t>
            </a:r>
          </a:p>
          <a:p>
            <a:pPr algn="l">
              <a:lnSpc>
                <a:spcPct val="112000"/>
              </a:lnSpc>
              <a:spcBef>
                <a:spcPts val="300"/>
              </a:spcBef>
            </a:pPr>
            <a:r>
              <a:rPr sz="1050" b="0">
                <a:solidFill>
                  <a:srgbClr val="526173"/>
                </a:solidFill>
                <a:latin typeface="Calibri"/>
              </a:rPr>
              <a:t>The brief allows metrics or a user study. We chose metrics and went deep.</a:t>
            </a:r>
          </a:p>
          <a:p>
            <a:pPr algn="l">
              <a:lnSpc>
                <a:spcPct val="112000"/>
              </a:lnSpc>
              <a:spcBef>
                <a:spcPts val="500"/>
              </a:spcBef>
            </a:pPr>
            <a:r>
              <a:rPr sz="1050" b="0">
                <a:solidFill>
                  <a:srgbClr val="0F172A"/>
                </a:solidFill>
                <a:latin typeface="Calibri"/>
              </a:rPr>
              <a:t>Trust   does the reader believe the story</a:t>
            </a:r>
          </a:p>
          <a:p>
            <a:pPr algn="l">
              <a:lnSpc>
                <a:spcPct val="112000"/>
              </a:lnSpc>
              <a:spcBef>
                <a:spcPts val="500"/>
              </a:spcBef>
            </a:pPr>
            <a:r>
              <a:rPr sz="1050" b="0">
                <a:solidFill>
                  <a:srgbClr val="0F172A"/>
                </a:solidFill>
                <a:latin typeface="Calibri"/>
              </a:rPr>
              <a:t>Engagement   does it hold attention</a:t>
            </a:r>
          </a:p>
          <a:p>
            <a:pPr algn="l">
              <a:lnSpc>
                <a:spcPct val="112000"/>
              </a:lnSpc>
              <a:spcBef>
                <a:spcPts val="500"/>
              </a:spcBef>
            </a:pPr>
            <a:r>
              <a:rPr sz="1050" b="0">
                <a:solidFill>
                  <a:srgbClr val="0F172A"/>
                </a:solidFill>
                <a:latin typeface="Calibri"/>
              </a:rPr>
              <a:t>Readability   is it clear and easy to follow</a:t>
            </a:r>
          </a:p>
          <a:p>
            <a:pPr algn="l">
              <a:lnSpc>
                <a:spcPct val="112000"/>
              </a:lnSpc>
              <a:spcBef>
                <a:spcPts val="500"/>
              </a:spcBef>
            </a:pPr>
            <a:r>
              <a:rPr sz="1050" b="0">
                <a:solidFill>
                  <a:srgbClr val="0F172A"/>
                </a:solidFill>
                <a:latin typeface="Calibri"/>
              </a:rPr>
              <a:t>Human-vs-LLM preference   which story readers prefer, and why</a:t>
            </a:r>
          </a:p>
        </p:txBody>
      </p:sp>
      <p:sp>
        <p:nvSpPr>
          <p:cNvPr id="14" name="Rectangle 13"/>
          <p:cNvSpPr/>
          <p:nvPr/>
        </p:nvSpPr>
        <p:spPr>
          <a:xfrm>
            <a:off x="6309360" y="3977639"/>
            <a:ext cx="5193792" cy="20116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3977639"/>
            <a:ext cx="5193792" cy="44450"/>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4187952"/>
            <a:ext cx="4718304" cy="1691640"/>
          </a:xfrm>
          <a:prstGeom prst="rect">
            <a:avLst/>
          </a:prstGeom>
          <a:noFill/>
        </p:spPr>
        <p:txBody>
          <a:bodyPr wrap="square" anchor="t" lIns="0" rIns="0" tIns="0" bIns="0">
            <a:spAutoFit/>
          </a:bodyPr>
          <a:lstStyle/>
          <a:p>
            <a:pPr algn="l">
              <a:lnSpc>
                <a:spcPct val="115000"/>
              </a:lnSpc>
            </a:pPr>
            <a:r>
              <a:rPr sz="1300" b="1">
                <a:solidFill>
                  <a:srgbClr val="0D1B5C"/>
                </a:solidFill>
                <a:latin typeface="Arial"/>
              </a:rPr>
              <a:t>The split that matters</a:t>
            </a:r>
          </a:p>
          <a:p>
            <a:pPr algn="l">
              <a:lnSpc>
                <a:spcPct val="115000"/>
              </a:lnSpc>
              <a:spcBef>
                <a:spcPts val="600"/>
              </a:spcBef>
            </a:pPr>
            <a:r>
              <a:rPr sz="1150" b="0">
                <a:solidFill>
                  <a:srgbClr val="0F172A"/>
                </a:solidFill>
                <a:latin typeface="Calibri"/>
              </a:rPr>
              <a:t>Part 1 answers “is the system any good”. It is aggregated over runs and nobody reading a story ever sees it.</a:t>
            </a:r>
          </a:p>
          <a:p>
            <a:pPr algn="l">
              <a:lnSpc>
                <a:spcPct val="115000"/>
              </a:lnSpc>
              <a:spcBef>
                <a:spcPts val="600"/>
              </a:spcBef>
            </a:pPr>
            <a:r>
              <a:rPr sz="1150" b="0">
                <a:solidFill>
                  <a:srgbClr val="0F172A"/>
                </a:solidFill>
                <a:latin typeface="Calibri"/>
              </a:rPr>
              <a:t>Part 2 answers “should I believe this particular story”. It is per-story, visible in the interface, and it is the reason the app shows a diff rather than just a cleaner paragraph.</a:t>
            </a:r>
          </a:p>
          <a:p>
            <a:pPr algn="l">
              <a:lnSpc>
                <a:spcPct val="115000"/>
              </a:lnSpc>
              <a:spcBef>
                <a:spcPts val="600"/>
              </a:spcBef>
            </a:pPr>
            <a:r>
              <a:rPr sz="1150" b="1">
                <a:solidFill>
                  <a:srgbClr val="0E8F86"/>
                </a:solidFill>
                <a:latin typeface="Calibri"/>
              </a:rPr>
              <a:t>Same underlying numbers in places. Different job.</a:t>
            </a:r>
          </a:p>
        </p:txBody>
      </p:sp>
      <p:sp>
        <p:nvSpPr>
          <p:cNvPr id="17" name="TextBox 16"/>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18" name="TextBox 17"/>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CHOOSING THE PAIR</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Four steps from fourteen candidates to one pipeline</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148840"/>
            <a:ext cx="5294376" cy="1691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48840"/>
            <a:ext cx="44450" cy="169164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331720"/>
            <a:ext cx="731520" cy="457200"/>
          </a:xfrm>
          <a:prstGeom prst="rect">
            <a:avLst/>
          </a:prstGeom>
          <a:noFill/>
        </p:spPr>
        <p:txBody>
          <a:bodyPr wrap="square" anchor="t" lIns="0" rIns="0" tIns="0" bIns="0">
            <a:spAutoFit/>
          </a:bodyPr>
          <a:lstStyle/>
          <a:p>
            <a:pPr algn="l">
              <a:lnSpc>
                <a:spcPct val="100000"/>
              </a:lnSpc>
            </a:pPr>
            <a:r>
              <a:rPr sz="2000" b="1">
                <a:solidFill>
                  <a:srgbClr val="C2CEDB"/>
                </a:solidFill>
                <a:latin typeface="Arial"/>
              </a:rPr>
              <a:t>01</a:t>
            </a:r>
          </a:p>
        </p:txBody>
      </p:sp>
      <p:sp>
        <p:nvSpPr>
          <p:cNvPr id="8" name="TextBox 7"/>
          <p:cNvSpPr txBox="1"/>
          <p:nvPr/>
        </p:nvSpPr>
        <p:spPr>
          <a:xfrm>
            <a:off x="1737360" y="2350008"/>
            <a:ext cx="4023360" cy="1371600"/>
          </a:xfrm>
          <a:prstGeom prst="rect">
            <a:avLst/>
          </a:prstGeom>
          <a:noFill/>
        </p:spPr>
        <p:txBody>
          <a:bodyPr wrap="square" anchor="t" lIns="0" rIns="0" tIns="0" bIns="0">
            <a:spAutoFit/>
          </a:bodyPr>
          <a:lstStyle/>
          <a:p>
            <a:pPr algn="l">
              <a:lnSpc>
                <a:spcPct val="115000"/>
              </a:lnSpc>
            </a:pPr>
            <a:r>
              <a:rPr sz="1350" b="1">
                <a:solidFill>
                  <a:srgbClr val="1E66B8"/>
                </a:solidFill>
                <a:latin typeface="Calibri"/>
              </a:rPr>
              <a:t>Build the grid</a:t>
            </a:r>
          </a:p>
          <a:p>
            <a:pPr algn="l">
              <a:lnSpc>
                <a:spcPct val="115000"/>
              </a:lnSpc>
              <a:spcBef>
                <a:spcPts val="500"/>
              </a:spcBef>
            </a:pPr>
            <a:r>
              <a:rPr sz="1150" b="0">
                <a:solidFill>
                  <a:srgbClr val="0F172A"/>
                </a:solidFill>
                <a:latin typeface="Calibri"/>
              </a:rPr>
              <a:t>Vary the generator against a fixed moderator, then the moderator against a fixed generator. L-shaped, not factorial — so the best × best cell is never assumed, it has to be run.</a:t>
            </a:r>
          </a:p>
        </p:txBody>
      </p:sp>
      <p:sp>
        <p:nvSpPr>
          <p:cNvPr id="9" name="Rectangle 8"/>
          <p:cNvSpPr/>
          <p:nvPr/>
        </p:nvSpPr>
        <p:spPr>
          <a:xfrm>
            <a:off x="6208776" y="2148840"/>
            <a:ext cx="5294376" cy="1691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2148840"/>
            <a:ext cx="44450" cy="169164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331720"/>
            <a:ext cx="731520" cy="457200"/>
          </a:xfrm>
          <a:prstGeom prst="rect">
            <a:avLst/>
          </a:prstGeom>
          <a:noFill/>
        </p:spPr>
        <p:txBody>
          <a:bodyPr wrap="square" anchor="t" lIns="0" rIns="0" tIns="0" bIns="0">
            <a:spAutoFit/>
          </a:bodyPr>
          <a:lstStyle/>
          <a:p>
            <a:pPr algn="l">
              <a:lnSpc>
                <a:spcPct val="100000"/>
              </a:lnSpc>
            </a:pPr>
            <a:r>
              <a:rPr sz="2000" b="1">
                <a:solidFill>
                  <a:srgbClr val="C2CEDB"/>
                </a:solidFill>
                <a:latin typeface="Arial"/>
              </a:rPr>
              <a:t>02</a:t>
            </a:r>
          </a:p>
        </p:txBody>
      </p:sp>
      <p:sp>
        <p:nvSpPr>
          <p:cNvPr id="12" name="TextBox 11"/>
          <p:cNvSpPr txBox="1"/>
          <p:nvPr/>
        </p:nvSpPr>
        <p:spPr>
          <a:xfrm>
            <a:off x="7260336" y="2350008"/>
            <a:ext cx="4023360" cy="1371600"/>
          </a:xfrm>
          <a:prstGeom prst="rect">
            <a:avLst/>
          </a:prstGeom>
          <a:noFill/>
        </p:spPr>
        <p:txBody>
          <a:bodyPr wrap="square" anchor="t" lIns="0" rIns="0" tIns="0" bIns="0">
            <a:spAutoFit/>
          </a:bodyPr>
          <a:lstStyle/>
          <a:p>
            <a:pPr algn="l">
              <a:lnSpc>
                <a:spcPct val="115000"/>
              </a:lnSpc>
            </a:pPr>
            <a:r>
              <a:rPr sz="1350" b="1">
                <a:solidFill>
                  <a:srgbClr val="20C4B0"/>
                </a:solidFill>
                <a:latin typeface="Calibri"/>
              </a:rPr>
              <a:t>Score every run the same way</a:t>
            </a:r>
          </a:p>
          <a:p>
            <a:pPr algn="l">
              <a:lnSpc>
                <a:spcPct val="115000"/>
              </a:lnSpc>
              <a:spcBef>
                <a:spcPts val="500"/>
              </a:spcBef>
            </a:pPr>
            <a:r>
              <a:rPr sz="1150" b="0">
                <a:solidFill>
                  <a:srgbClr val="0F172A"/>
                </a:solidFill>
                <a:latin typeface="Calibri"/>
              </a:rPr>
              <a:t>Blind Opus rating on both tone axes, plus the computed faithfulness metrics. Same dataset throughout, so the comparison is not rewarded for drawing an easy table.</a:t>
            </a:r>
          </a:p>
        </p:txBody>
      </p:sp>
      <p:sp>
        <p:nvSpPr>
          <p:cNvPr id="13" name="Rectangle 12"/>
          <p:cNvSpPr/>
          <p:nvPr/>
        </p:nvSpPr>
        <p:spPr>
          <a:xfrm>
            <a:off x="685800" y="4069080"/>
            <a:ext cx="5294376" cy="1691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069080"/>
            <a:ext cx="44450" cy="1691640"/>
          </a:xfrm>
          <a:prstGeom prst="rect">
            <a:avLst/>
          </a:prstGeom>
          <a:solidFill>
            <a:srgbClr val="0E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251960"/>
            <a:ext cx="731520" cy="457200"/>
          </a:xfrm>
          <a:prstGeom prst="rect">
            <a:avLst/>
          </a:prstGeom>
          <a:noFill/>
        </p:spPr>
        <p:txBody>
          <a:bodyPr wrap="square" anchor="t" lIns="0" rIns="0" tIns="0" bIns="0">
            <a:spAutoFit/>
          </a:bodyPr>
          <a:lstStyle/>
          <a:p>
            <a:pPr algn="l">
              <a:lnSpc>
                <a:spcPct val="100000"/>
              </a:lnSpc>
            </a:pPr>
            <a:r>
              <a:rPr sz="2000" b="1">
                <a:solidFill>
                  <a:srgbClr val="C2CEDB"/>
                </a:solidFill>
                <a:latin typeface="Arial"/>
              </a:rPr>
              <a:t>03</a:t>
            </a:r>
          </a:p>
        </p:txBody>
      </p:sp>
      <p:sp>
        <p:nvSpPr>
          <p:cNvPr id="16" name="TextBox 15"/>
          <p:cNvSpPr txBox="1"/>
          <p:nvPr/>
        </p:nvSpPr>
        <p:spPr>
          <a:xfrm>
            <a:off x="1737360" y="4270248"/>
            <a:ext cx="4023360" cy="1371600"/>
          </a:xfrm>
          <a:prstGeom prst="rect">
            <a:avLst/>
          </a:prstGeom>
          <a:noFill/>
        </p:spPr>
        <p:txBody>
          <a:bodyPr wrap="square" anchor="t" lIns="0" rIns="0" tIns="0" bIns="0">
            <a:spAutoFit/>
          </a:bodyPr>
          <a:lstStyle/>
          <a:p>
            <a:pPr algn="l">
              <a:lnSpc>
                <a:spcPct val="115000"/>
              </a:lnSpc>
            </a:pPr>
            <a:r>
              <a:rPr sz="1350" b="1">
                <a:solidFill>
                  <a:srgbClr val="0E8F86"/>
                </a:solidFill>
                <a:latin typeface="Calibri"/>
              </a:rPr>
              <a:t>Tone does not decide it</a:t>
            </a:r>
          </a:p>
          <a:p>
            <a:pPr algn="l">
              <a:lnSpc>
                <a:spcPct val="115000"/>
              </a:lnSpc>
              <a:spcBef>
                <a:spcPts val="500"/>
              </a:spcBef>
            </a:pPr>
            <a:r>
              <a:rPr sz="1150" b="0">
                <a:solidFill>
                  <a:srgbClr val="0F172A"/>
                </a:solidFill>
                <a:latin typeface="Calibri"/>
              </a:rPr>
              <a:t>Six combinations land on exactly 2.0 alarmism. A tie on the headline metric is a real result: the moderator is doing its job regardless of who wrote the draft.</a:t>
            </a:r>
          </a:p>
        </p:txBody>
      </p:sp>
      <p:sp>
        <p:nvSpPr>
          <p:cNvPr id="17" name="Rectangle 16"/>
          <p:cNvSpPr/>
          <p:nvPr/>
        </p:nvSpPr>
        <p:spPr>
          <a:xfrm>
            <a:off x="6208776" y="4069080"/>
            <a:ext cx="5294376" cy="169164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4069080"/>
            <a:ext cx="44450" cy="1691640"/>
          </a:xfrm>
          <a:prstGeom prst="rect">
            <a:avLst/>
          </a:prstGeom>
          <a:solidFill>
            <a:srgbClr val="0D1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4251960"/>
            <a:ext cx="731520" cy="457200"/>
          </a:xfrm>
          <a:prstGeom prst="rect">
            <a:avLst/>
          </a:prstGeom>
          <a:noFill/>
        </p:spPr>
        <p:txBody>
          <a:bodyPr wrap="square" anchor="t" lIns="0" rIns="0" tIns="0" bIns="0">
            <a:spAutoFit/>
          </a:bodyPr>
          <a:lstStyle/>
          <a:p>
            <a:pPr algn="l">
              <a:lnSpc>
                <a:spcPct val="100000"/>
              </a:lnSpc>
            </a:pPr>
            <a:r>
              <a:rPr sz="2000" b="1">
                <a:solidFill>
                  <a:srgbClr val="C2CEDB"/>
                </a:solidFill>
                <a:latin typeface="Arial"/>
              </a:rPr>
              <a:t>04</a:t>
            </a:r>
          </a:p>
        </p:txBody>
      </p:sp>
      <p:sp>
        <p:nvSpPr>
          <p:cNvPr id="20" name="TextBox 19"/>
          <p:cNvSpPr txBox="1"/>
          <p:nvPr/>
        </p:nvSpPr>
        <p:spPr>
          <a:xfrm>
            <a:off x="7260336" y="4270248"/>
            <a:ext cx="4023360" cy="1371600"/>
          </a:xfrm>
          <a:prstGeom prst="rect">
            <a:avLst/>
          </a:prstGeom>
          <a:noFill/>
        </p:spPr>
        <p:txBody>
          <a:bodyPr wrap="square" anchor="t" lIns="0" rIns="0" tIns="0" bIns="0">
            <a:spAutoFit/>
          </a:bodyPr>
          <a:lstStyle/>
          <a:p>
            <a:pPr algn="l">
              <a:lnSpc>
                <a:spcPct val="115000"/>
              </a:lnSpc>
            </a:pPr>
            <a:r>
              <a:rPr sz="1350" b="1">
                <a:solidFill>
                  <a:srgbClr val="0D1B5C"/>
                </a:solidFill>
                <a:latin typeface="Calibri"/>
              </a:rPr>
              <a:t>Break the tie on faithfulness, then repeat it</a:t>
            </a:r>
          </a:p>
          <a:p>
            <a:pPr algn="l">
              <a:lnSpc>
                <a:spcPct val="115000"/>
              </a:lnSpc>
              <a:spcBef>
                <a:spcPts val="500"/>
              </a:spcBef>
            </a:pPr>
            <a:r>
              <a:rPr sz="1150" b="0">
                <a:solidFill>
                  <a:srgbClr val="0F172A"/>
                </a:solidFill>
                <a:latin typeface="Calibri"/>
              </a:rPr>
              <a:t>Rank the tied cells on how many of the raw story's figures survive. Then run the top two five times each at distinct seeds, because a single run cannot separate a model from a draft.</a:t>
            </a:r>
          </a:p>
        </p:txBody>
      </p:sp>
      <p:sp>
        <p:nvSpPr>
          <p:cNvPr id="21" name="TextBox 20"/>
          <p:cNvSpPr txBox="1"/>
          <p:nvPr/>
        </p:nvSpPr>
        <p:spPr>
          <a:xfrm>
            <a:off x="685800" y="6053328"/>
            <a:ext cx="10789920" cy="256032"/>
          </a:xfrm>
          <a:prstGeom prst="rect">
            <a:avLst/>
          </a:prstGeom>
          <a:noFill/>
        </p:spPr>
        <p:txBody>
          <a:bodyPr wrap="square" anchor="t" lIns="0" rIns="0" tIns="0" bIns="0">
            <a:spAutoFit/>
          </a:bodyPr>
          <a:lstStyle/>
          <a:p>
            <a:pPr algn="l">
              <a:lnSpc>
                <a:spcPct val="100000"/>
              </a:lnSpc>
            </a:pPr>
            <a:r>
              <a:rPr sz="1100" b="1">
                <a:solidFill>
                  <a:srgbClr val="B45409"/>
                </a:solidFill>
                <a:latin typeface="Calibri"/>
              </a:rPr>
              <a:t>Step 4 is the one we nearly skipped, and it is the step that changed the answer.</a:t>
            </a:r>
          </a:p>
        </p:txBody>
      </p:sp>
      <p:sp>
        <p:nvSpPr>
          <p:cNvPr id="22" name="TextBox 21"/>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23" name="TextBox 22"/>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058400" cy="3657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PART 4 OF 4</a:t>
            </a:r>
          </a:p>
        </p:txBody>
      </p:sp>
      <p:sp>
        <p:nvSpPr>
          <p:cNvPr id="5" name="TextBox 4"/>
          <p:cNvSpPr txBox="1"/>
          <p:nvPr/>
        </p:nvSpPr>
        <p:spPr>
          <a:xfrm>
            <a:off x="1005840" y="2606040"/>
            <a:ext cx="9692640" cy="1005840"/>
          </a:xfrm>
          <a:prstGeom prst="rect">
            <a:avLst/>
          </a:prstGeom>
          <a:noFill/>
        </p:spPr>
        <p:txBody>
          <a:bodyPr wrap="square" anchor="t" lIns="0" rIns="0" tIns="0" bIns="0">
            <a:spAutoFit/>
          </a:bodyPr>
          <a:lstStyle/>
          <a:p>
            <a:pPr algn="l">
              <a:lnSpc>
                <a:spcPct val="108000"/>
              </a:lnSpc>
            </a:pPr>
            <a:r>
              <a:rPr sz="3400" b="1">
                <a:solidFill>
                  <a:srgbClr val="FFFFFF"/>
                </a:solidFill>
                <a:latin typeface="Arial"/>
              </a:rPr>
              <a:t>The result, the agent, and the system</a:t>
            </a:r>
          </a:p>
        </p:txBody>
      </p:sp>
      <p:sp>
        <p:nvSpPr>
          <p:cNvPr id="6" name="TextBox 5"/>
          <p:cNvSpPr txBox="1"/>
          <p:nvPr/>
        </p:nvSpPr>
        <p:spPr>
          <a:xfrm>
            <a:off x="1005840" y="3794760"/>
            <a:ext cx="9692640" cy="365760"/>
          </a:xfrm>
          <a:prstGeom prst="rect">
            <a:avLst/>
          </a:prstGeom>
          <a:noFill/>
        </p:spPr>
        <p:txBody>
          <a:bodyPr wrap="square" anchor="t" lIns="0" rIns="0" tIns="0" bIns="0">
            <a:spAutoFit/>
          </a:bodyPr>
          <a:lstStyle/>
          <a:p>
            <a:pPr algn="l">
              <a:lnSpc>
                <a:spcPct val="100000"/>
              </a:lnSpc>
            </a:pPr>
            <a:r>
              <a:rPr sz="1500" b="1">
                <a:solidFill>
                  <a:srgbClr val="8A9CB8"/>
                </a:solidFill>
                <a:latin typeface="Calibri"/>
              </a:rPr>
              <a:t>Saleh</a:t>
            </a:r>
          </a:p>
        </p:txBody>
      </p:sp>
      <p:sp>
        <p:nvSpPr>
          <p:cNvPr id="7" name="Rectangle 6"/>
          <p:cNvSpPr/>
          <p:nvPr/>
        </p:nvSpPr>
        <p:spPr>
          <a:xfrm>
            <a:off x="1005840"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The research</a:t>
            </a:r>
          </a:p>
        </p:txBody>
      </p:sp>
      <p:sp>
        <p:nvSpPr>
          <p:cNvPr id="9" name="Rectangle 8"/>
          <p:cNvSpPr/>
          <p:nvPr/>
        </p:nvSpPr>
        <p:spPr>
          <a:xfrm>
            <a:off x="3602736"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we built</a:t>
            </a:r>
          </a:p>
        </p:txBody>
      </p:sp>
      <p:sp>
        <p:nvSpPr>
          <p:cNvPr id="11" name="Rectangle 10"/>
          <p:cNvSpPr/>
          <p:nvPr/>
        </p:nvSpPr>
        <p:spPr>
          <a:xfrm>
            <a:off x="6199632"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5074920"/>
            <a:ext cx="2395728" cy="457200"/>
          </a:xfrm>
          <a:prstGeom prst="rect">
            <a:avLst/>
          </a:prstGeom>
          <a:noFill/>
        </p:spPr>
        <p:txBody>
          <a:bodyPr wrap="square" anchor="t" lIns="0" rIns="0" tIns="0" bIns="0">
            <a:spAutoFit/>
          </a:bodyPr>
          <a:lstStyle/>
          <a:p>
            <a:pPr algn="l">
              <a:lnSpc>
                <a:spcPct val="112000"/>
              </a:lnSpc>
            </a:pPr>
            <a:r>
              <a:rPr sz="1050" b="0">
                <a:solidFill>
                  <a:srgbClr val="6B7D9B"/>
                </a:solidFill>
                <a:latin typeface="Calibri"/>
              </a:rPr>
              <a:t>What the reader sees</a:t>
            </a:r>
          </a:p>
        </p:txBody>
      </p:sp>
      <p:sp>
        <p:nvSpPr>
          <p:cNvPr id="13" name="Rectangle 12"/>
          <p:cNvSpPr/>
          <p:nvPr/>
        </p:nvSpPr>
        <p:spPr>
          <a:xfrm>
            <a:off x="8796528" y="4892040"/>
            <a:ext cx="2395728" cy="635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5074920"/>
            <a:ext cx="2395728" cy="457200"/>
          </a:xfrm>
          <a:prstGeom prst="rect">
            <a:avLst/>
          </a:prstGeom>
          <a:noFill/>
        </p:spPr>
        <p:txBody>
          <a:bodyPr wrap="square" anchor="t" lIns="0" rIns="0" tIns="0" bIns="0">
            <a:spAutoFit/>
          </a:bodyPr>
          <a:lstStyle/>
          <a:p>
            <a:pPr algn="l">
              <a:lnSpc>
                <a:spcPct val="112000"/>
              </a:lnSpc>
            </a:pPr>
            <a:r>
              <a:rPr sz="1050" b="1">
                <a:solidFill>
                  <a:srgbClr val="FFFFFF"/>
                </a:solidFill>
                <a:latin typeface="Calibri"/>
              </a:rPr>
              <a:t>The result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274320"/>
          </a:xfrm>
          <a:prstGeom prst="rect">
            <a:avLst/>
          </a:prstGeom>
          <a:noFill/>
        </p:spPr>
        <p:txBody>
          <a:bodyPr wrap="square" anchor="t" lIns="0" rIns="0" tIns="0" bIns="0">
            <a:spAutoFit/>
          </a:bodyPr>
          <a:lstStyle/>
          <a:p>
            <a:pPr algn="l">
              <a:lnSpc>
                <a:spcPct val="100000"/>
              </a:lnSpc>
            </a:pPr>
            <a:r>
              <a:rPr sz="1100" b="1">
                <a:solidFill>
                  <a:srgbClr val="0E8F86"/>
                </a:solidFill>
                <a:latin typeface="Arial"/>
              </a:rPr>
              <a:t>THE TOOL SURFACE</a:t>
            </a:r>
          </a:p>
        </p:txBody>
      </p:sp>
      <p:sp>
        <p:nvSpPr>
          <p:cNvPr id="3" name="TextBox 2"/>
          <p:cNvSpPr txBox="1"/>
          <p:nvPr/>
        </p:nvSpPr>
        <p:spPr>
          <a:xfrm>
            <a:off x="685800" y="868680"/>
            <a:ext cx="10789920" cy="822960"/>
          </a:xfrm>
          <a:prstGeom prst="rect">
            <a:avLst/>
          </a:prstGeom>
          <a:noFill/>
        </p:spPr>
        <p:txBody>
          <a:bodyPr wrap="square" anchor="t" lIns="0" rIns="0" tIns="0" bIns="0">
            <a:spAutoFit/>
          </a:bodyPr>
          <a:lstStyle/>
          <a:p>
            <a:pPr algn="l">
              <a:lnSpc>
                <a:spcPct val="100000"/>
              </a:lnSpc>
            </a:pPr>
            <a:r>
              <a:rPr sz="3000" b="1">
                <a:solidFill>
                  <a:srgbClr val="0D1B5C"/>
                </a:solidFill>
                <a:latin typeface="Arial"/>
              </a:rPr>
              <a:t>Seventeen flat chart types is past what a local model picks. Seven tools plus an enum is not.</a:t>
            </a:r>
          </a:p>
        </p:txBody>
      </p:sp>
      <p:sp>
        <p:nvSpPr>
          <p:cNvPr id="4" name="Rectangle 3"/>
          <p:cNvSpPr/>
          <p:nvPr/>
        </p:nvSpPr>
        <p:spPr>
          <a:xfrm>
            <a:off x="685800" y="1664208"/>
            <a:ext cx="1005840" cy="4445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95728"/>
            <a:ext cx="5760720" cy="274320"/>
          </a:xfrm>
          <a:prstGeom prst="rect">
            <a:avLst/>
          </a:prstGeom>
          <a:noFill/>
        </p:spPr>
        <p:txBody>
          <a:bodyPr wrap="square" anchor="t" lIns="0" rIns="0" tIns="0" bIns="0">
            <a:spAutoFit/>
          </a:bodyPr>
          <a:lstStyle/>
          <a:p>
            <a:pPr algn="l">
              <a:lnSpc>
                <a:spcPct val="100000"/>
              </a:lnSpc>
            </a:pPr>
            <a:r>
              <a:rPr sz="1000" b="1">
                <a:solidFill>
                  <a:srgbClr val="526173"/>
                </a:solidFill>
                <a:latin typeface="Arial"/>
              </a:rPr>
              <a:t>CHART TOOLS (7)  —  each returns a ChartPayload</a:t>
            </a:r>
          </a:p>
        </p:txBody>
      </p:sp>
      <p:sp>
        <p:nvSpPr>
          <p:cNvPr id="6" name="Rectangle 5"/>
          <p:cNvSpPr/>
          <p:nvPr/>
        </p:nvSpPr>
        <p:spPr>
          <a:xfrm>
            <a:off x="685800" y="2706624"/>
            <a:ext cx="5760720" cy="38404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4320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plot_trend_over_time</a:t>
            </a:r>
          </a:p>
        </p:txBody>
      </p:sp>
      <p:sp>
        <p:nvSpPr>
          <p:cNvPr id="8" name="TextBox 7"/>
          <p:cNvSpPr txBox="1"/>
          <p:nvPr/>
        </p:nvSpPr>
        <p:spPr>
          <a:xfrm>
            <a:off x="3520440" y="2752344"/>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line, area  (+ stack, indexed, emphasis)</a:t>
            </a:r>
          </a:p>
        </p:txBody>
      </p:sp>
      <p:sp>
        <p:nvSpPr>
          <p:cNvPr id="9" name="TextBox 8"/>
          <p:cNvSpPr txBox="1"/>
          <p:nvPr/>
        </p:nvSpPr>
        <p:spPr>
          <a:xfrm>
            <a:off x="868680" y="315468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plot_magnitude</a:t>
            </a:r>
          </a:p>
        </p:txBody>
      </p:sp>
      <p:sp>
        <p:nvSpPr>
          <p:cNvPr id="10" name="TextBox 9"/>
          <p:cNvSpPr txBox="1"/>
          <p:nvPr/>
        </p:nvSpPr>
        <p:spPr>
          <a:xfrm>
            <a:off x="3520440" y="3163824"/>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bar, lollipop, heatmap</a:t>
            </a:r>
          </a:p>
        </p:txBody>
      </p:sp>
      <p:sp>
        <p:nvSpPr>
          <p:cNvPr id="11" name="Rectangle 10"/>
          <p:cNvSpPr/>
          <p:nvPr/>
        </p:nvSpPr>
        <p:spPr>
          <a:xfrm>
            <a:off x="685800" y="3529584"/>
            <a:ext cx="5760720" cy="38404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56616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plot_change</a:t>
            </a:r>
          </a:p>
        </p:txBody>
      </p:sp>
      <p:sp>
        <p:nvSpPr>
          <p:cNvPr id="13" name="TextBox 12"/>
          <p:cNvSpPr txBox="1"/>
          <p:nvPr/>
        </p:nvSpPr>
        <p:spPr>
          <a:xfrm>
            <a:off x="3520440" y="3575303"/>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dumbbell, slope, bump</a:t>
            </a:r>
          </a:p>
        </p:txBody>
      </p:sp>
      <p:sp>
        <p:nvSpPr>
          <p:cNvPr id="14" name="TextBox 13"/>
          <p:cNvSpPr txBox="1"/>
          <p:nvPr/>
        </p:nvSpPr>
        <p:spPr>
          <a:xfrm>
            <a:off x="868680" y="3977639"/>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plot_relationship</a:t>
            </a:r>
          </a:p>
        </p:txBody>
      </p:sp>
      <p:sp>
        <p:nvSpPr>
          <p:cNvPr id="15" name="TextBox 14"/>
          <p:cNvSpPr txBox="1"/>
          <p:nvPr/>
        </p:nvSpPr>
        <p:spPr>
          <a:xfrm>
            <a:off x="3520440" y="3986783"/>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scatter, connectedScatter, parallelCoordinates</a:t>
            </a:r>
          </a:p>
        </p:txBody>
      </p:sp>
      <p:sp>
        <p:nvSpPr>
          <p:cNvPr id="16" name="Rectangle 15"/>
          <p:cNvSpPr/>
          <p:nvPr/>
        </p:nvSpPr>
        <p:spPr>
          <a:xfrm>
            <a:off x="685800" y="4352544"/>
            <a:ext cx="5760720" cy="38404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8912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plot_geographic</a:t>
            </a:r>
          </a:p>
        </p:txBody>
      </p:sp>
      <p:sp>
        <p:nvSpPr>
          <p:cNvPr id="18" name="TextBox 17"/>
          <p:cNvSpPr txBox="1"/>
          <p:nvPr/>
        </p:nvSpPr>
        <p:spPr>
          <a:xfrm>
            <a:off x="3520440" y="4398264"/>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choropleth, bivariateChoropleth</a:t>
            </a:r>
          </a:p>
        </p:txBody>
      </p:sp>
      <p:sp>
        <p:nvSpPr>
          <p:cNvPr id="19" name="TextBox 18"/>
          <p:cNvSpPr txBox="1"/>
          <p:nvPr/>
        </p:nvSpPr>
        <p:spPr>
          <a:xfrm>
            <a:off x="868680" y="480060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plot_distribution</a:t>
            </a:r>
          </a:p>
        </p:txBody>
      </p:sp>
      <p:sp>
        <p:nvSpPr>
          <p:cNvPr id="20" name="TextBox 19"/>
          <p:cNvSpPr txBox="1"/>
          <p:nvPr/>
        </p:nvSpPr>
        <p:spPr>
          <a:xfrm>
            <a:off x="3520440" y="4809744"/>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beeswarm, box, ridgeline</a:t>
            </a:r>
          </a:p>
        </p:txBody>
      </p:sp>
      <p:sp>
        <p:nvSpPr>
          <p:cNvPr id="21" name="Rectangle 20"/>
          <p:cNvSpPr/>
          <p:nvPr/>
        </p:nvSpPr>
        <p:spPr>
          <a:xfrm>
            <a:off x="685800" y="5175504"/>
            <a:ext cx="5760720" cy="384048"/>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12080"/>
            <a:ext cx="2514600" cy="274320"/>
          </a:xfrm>
          <a:prstGeom prst="rect">
            <a:avLst/>
          </a:prstGeom>
          <a:noFill/>
        </p:spPr>
        <p:txBody>
          <a:bodyPr wrap="square" anchor="t" lIns="0" rIns="0" tIns="0" bIns="0">
            <a:spAutoFit/>
          </a:bodyPr>
          <a:lstStyle/>
          <a:p>
            <a:pPr algn="l">
              <a:lnSpc>
                <a:spcPct val="100000"/>
              </a:lnSpc>
            </a:pPr>
            <a:r>
              <a:rPr sz="1200" b="1">
                <a:solidFill>
                  <a:srgbClr val="0E8F86"/>
                </a:solidFill>
                <a:latin typeface="Calibri"/>
              </a:rPr>
              <a:t>show_headline</a:t>
            </a:r>
          </a:p>
        </p:txBody>
      </p:sp>
      <p:sp>
        <p:nvSpPr>
          <p:cNvPr id="23" name="TextBox 22"/>
          <p:cNvSpPr txBox="1"/>
          <p:nvPr/>
        </p:nvSpPr>
        <p:spPr>
          <a:xfrm>
            <a:off x="3520440" y="5221224"/>
            <a:ext cx="2788920" cy="274320"/>
          </a:xfrm>
          <a:prstGeom prst="rect">
            <a:avLst/>
          </a:prstGeom>
          <a:noFill/>
        </p:spPr>
        <p:txBody>
          <a:bodyPr wrap="square" anchor="t" lIns="0" rIns="0" tIns="0" bIns="0">
            <a:spAutoFit/>
          </a:bodyPr>
          <a:lstStyle/>
          <a:p>
            <a:pPr algn="l">
              <a:lnSpc>
                <a:spcPct val="100000"/>
              </a:lnSpc>
            </a:pPr>
            <a:r>
              <a:rPr sz="1100" b="0">
                <a:solidFill>
                  <a:srgbClr val="0F172A"/>
                </a:solidFill>
                <a:latin typeface="Calibri"/>
              </a:rPr>
              <a:t>statTile</a:t>
            </a:r>
          </a:p>
        </p:txBody>
      </p:sp>
      <p:sp>
        <p:nvSpPr>
          <p:cNvPr id="24" name="TextBox 23"/>
          <p:cNvSpPr txBox="1"/>
          <p:nvPr/>
        </p:nvSpPr>
        <p:spPr>
          <a:xfrm>
            <a:off x="685800" y="5614416"/>
            <a:ext cx="5760720" cy="274320"/>
          </a:xfrm>
          <a:prstGeom prst="rect">
            <a:avLst/>
          </a:prstGeom>
          <a:noFill/>
        </p:spPr>
        <p:txBody>
          <a:bodyPr wrap="square" anchor="t" lIns="0" rIns="0" tIns="0" bIns="0">
            <a:spAutoFit/>
          </a:bodyPr>
          <a:lstStyle/>
          <a:p>
            <a:pPr algn="l">
              <a:lnSpc>
                <a:spcPct val="100000"/>
              </a:lnSpc>
            </a:pPr>
            <a:r>
              <a:rPr sz="1050" b="0">
                <a:solidFill>
                  <a:srgbClr val="526173"/>
                </a:solidFill>
                <a:latin typeface="Calibri"/>
              </a:rPr>
              <a:t>The form enum is documented with the validator's own rule text, so a tool description cannot drift from the rule it promises.</a:t>
            </a:r>
          </a:p>
        </p:txBody>
      </p:sp>
      <p:sp>
        <p:nvSpPr>
          <p:cNvPr id="25" name="TextBox 24"/>
          <p:cNvSpPr txBox="1"/>
          <p:nvPr/>
        </p:nvSpPr>
        <p:spPr>
          <a:xfrm>
            <a:off x="6720840" y="2395728"/>
            <a:ext cx="4782312" cy="274320"/>
          </a:xfrm>
          <a:prstGeom prst="rect">
            <a:avLst/>
          </a:prstGeom>
          <a:noFill/>
        </p:spPr>
        <p:txBody>
          <a:bodyPr wrap="square" anchor="t" lIns="0" rIns="0" tIns="0" bIns="0">
            <a:spAutoFit/>
          </a:bodyPr>
          <a:lstStyle/>
          <a:p>
            <a:pPr algn="l">
              <a:lnSpc>
                <a:spcPct val="100000"/>
              </a:lnSpc>
            </a:pPr>
            <a:r>
              <a:rPr sz="1000" b="1">
                <a:solidFill>
                  <a:srgbClr val="526173"/>
                </a:solidFill>
                <a:latin typeface="Arial"/>
              </a:rPr>
              <a:t>READ TOOLS (3)  —  what makes it an agent, not a classifier</a:t>
            </a:r>
          </a:p>
        </p:txBody>
      </p:sp>
      <p:sp>
        <p:nvSpPr>
          <p:cNvPr id="26" name="Rectangle 25"/>
          <p:cNvSpPr/>
          <p:nvPr/>
        </p:nvSpPr>
        <p:spPr>
          <a:xfrm>
            <a:off x="6720840" y="2706624"/>
            <a:ext cx="38100" cy="694944"/>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2743200"/>
            <a:ext cx="4480560" cy="658368"/>
          </a:xfrm>
          <a:prstGeom prst="rect">
            <a:avLst/>
          </a:prstGeom>
          <a:noFill/>
        </p:spPr>
        <p:txBody>
          <a:bodyPr wrap="square" anchor="t" lIns="0" rIns="0" tIns="0" bIns="0">
            <a:spAutoFit/>
          </a:bodyPr>
          <a:lstStyle/>
          <a:p>
            <a:pPr algn="l">
              <a:lnSpc>
                <a:spcPct val="114000"/>
              </a:lnSpc>
            </a:pPr>
            <a:r>
              <a:rPr sz="1200" b="1">
                <a:solidFill>
                  <a:srgbClr val="1E66B8"/>
                </a:solidFill>
                <a:latin typeface="Calibri"/>
              </a:rPr>
              <a:t>describe_dataset</a:t>
            </a:r>
          </a:p>
          <a:p>
            <a:pPr algn="l">
              <a:lnSpc>
                <a:spcPct val="114000"/>
              </a:lnSpc>
              <a:spcBef>
                <a:spcPts val="300"/>
              </a:spcBef>
            </a:pPr>
            <a:r>
              <a:rPr sz="1100" b="0">
                <a:solidFill>
                  <a:srgbClr val="0F172A"/>
                </a:solidFill>
                <a:latin typeface="Calibri"/>
              </a:rPr>
              <a:t>dimensions, measures, span, row count, missingness, and the magnitude ratio between measures</a:t>
            </a:r>
          </a:p>
        </p:txBody>
      </p:sp>
      <p:sp>
        <p:nvSpPr>
          <p:cNvPr id="28" name="Rectangle 27"/>
          <p:cNvSpPr/>
          <p:nvPr/>
        </p:nvSpPr>
        <p:spPr>
          <a:xfrm>
            <a:off x="6720840" y="3493008"/>
            <a:ext cx="38100" cy="694944"/>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3529584"/>
            <a:ext cx="4480560" cy="658368"/>
          </a:xfrm>
          <a:prstGeom prst="rect">
            <a:avLst/>
          </a:prstGeom>
          <a:noFill/>
        </p:spPr>
        <p:txBody>
          <a:bodyPr wrap="square" anchor="t" lIns="0" rIns="0" tIns="0" bIns="0">
            <a:spAutoFit/>
          </a:bodyPr>
          <a:lstStyle/>
          <a:p>
            <a:pPr algn="l">
              <a:lnSpc>
                <a:spcPct val="114000"/>
              </a:lnSpc>
            </a:pPr>
            <a:r>
              <a:rPr sz="1200" b="1">
                <a:solidFill>
                  <a:srgbClr val="1E66B8"/>
                </a:solidFill>
                <a:latin typeface="Calibri"/>
              </a:rPr>
              <a:t>get_series</a:t>
            </a:r>
          </a:p>
          <a:p>
            <a:pPr algn="l">
              <a:lnSpc>
                <a:spcPct val="114000"/>
              </a:lnSpc>
              <a:spcBef>
                <a:spcPts val="300"/>
              </a:spcBef>
            </a:pPr>
            <a:r>
              <a:rPr sz="1100" b="0">
                <a:solidFill>
                  <a:srgbClr val="0F172A"/>
                </a:solidFill>
                <a:latin typeface="Calibri"/>
              </a:rPr>
              <a:t>a ChartFrame for one measure, grouped, filtered and aggregated as asked</a:t>
            </a:r>
          </a:p>
        </p:txBody>
      </p:sp>
      <p:sp>
        <p:nvSpPr>
          <p:cNvPr id="30" name="Rectangle 29"/>
          <p:cNvSpPr/>
          <p:nvPr/>
        </p:nvSpPr>
        <p:spPr>
          <a:xfrm>
            <a:off x="6720840" y="4279392"/>
            <a:ext cx="38100" cy="694944"/>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0" y="4315968"/>
            <a:ext cx="4480560" cy="658368"/>
          </a:xfrm>
          <a:prstGeom prst="rect">
            <a:avLst/>
          </a:prstGeom>
          <a:noFill/>
        </p:spPr>
        <p:txBody>
          <a:bodyPr wrap="square" anchor="t" lIns="0" rIns="0" tIns="0" bIns="0">
            <a:spAutoFit/>
          </a:bodyPr>
          <a:lstStyle/>
          <a:p>
            <a:pPr algn="l">
              <a:lnSpc>
                <a:spcPct val="114000"/>
              </a:lnSpc>
            </a:pPr>
            <a:r>
              <a:rPr sz="1200" b="1">
                <a:solidFill>
                  <a:srgbClr val="1E66B8"/>
                </a:solidFill>
                <a:latin typeface="Calibri"/>
              </a:rPr>
              <a:t>check_comparability</a:t>
            </a:r>
          </a:p>
          <a:p>
            <a:pPr algn="l">
              <a:lnSpc>
                <a:spcPct val="114000"/>
              </a:lnSpc>
              <a:spcBef>
                <a:spcPts val="300"/>
              </a:spcBef>
            </a:pPr>
            <a:r>
              <a:rPr sz="1100" b="0">
                <a:solidFill>
                  <a:srgbClr val="0F172A"/>
                </a:solidFill>
                <a:latin typeface="Calibri"/>
              </a:rPr>
              <a:t>whether a per-capita denominator exists — and whether it is needed</a:t>
            </a:r>
          </a:p>
        </p:txBody>
      </p:sp>
      <p:sp>
        <p:nvSpPr>
          <p:cNvPr id="32" name="Rectangle 31"/>
          <p:cNvSpPr/>
          <p:nvPr/>
        </p:nvSpPr>
        <p:spPr>
          <a:xfrm>
            <a:off x="6720840" y="5175504"/>
            <a:ext cx="4782312" cy="82296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20840" y="5175504"/>
            <a:ext cx="44450" cy="82296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7728" y="5321808"/>
            <a:ext cx="4343400" cy="594360"/>
          </a:xfrm>
          <a:prstGeom prst="rect">
            <a:avLst/>
          </a:prstGeom>
          <a:noFill/>
        </p:spPr>
        <p:txBody>
          <a:bodyPr wrap="square" anchor="t" lIns="0" rIns="0" tIns="0" bIns="0">
            <a:spAutoFit/>
          </a:bodyPr>
          <a:lstStyle/>
          <a:p>
            <a:pPr algn="l">
              <a:lnSpc>
                <a:spcPct val="114000"/>
              </a:lnSpc>
            </a:pPr>
            <a:r>
              <a:rPr sz="1100" b="0">
                <a:solidFill>
                  <a:srgbClr val="0F172A"/>
                </a:solidFill>
                <a:latin typeface="Calibri"/>
              </a:rPr>
              <a:t>Without the read tools the model picks a form blind from a prompt string. With them it can discover that two measures differ by 100× and derive that it needs an indexed transform.</a:t>
            </a:r>
          </a:p>
        </p:txBody>
      </p:sp>
      <p:sp>
        <p:nvSpPr>
          <p:cNvPr id="35" name="TextBox 34"/>
          <p:cNvSpPr txBox="1"/>
          <p:nvPr/>
        </p:nvSpPr>
        <p:spPr>
          <a:xfrm>
            <a:off x="685800" y="6053328"/>
            <a:ext cx="10789920" cy="256032"/>
          </a:xfrm>
          <a:prstGeom prst="rect">
            <a:avLst/>
          </a:prstGeom>
          <a:noFill/>
        </p:spPr>
        <p:txBody>
          <a:bodyPr wrap="square" anchor="t" lIns="0" rIns="0" tIns="0" bIns="0">
            <a:spAutoFit/>
          </a:bodyPr>
          <a:lstStyle/>
          <a:p>
            <a:pPr algn="l">
              <a:lnSpc>
                <a:spcPct val="100000"/>
              </a:lnSpc>
            </a:pPr>
            <a:r>
              <a:rPr sz="1000" b="0">
                <a:solidFill>
                  <a:srgbClr val="526173"/>
                </a:solidFill>
                <a:latin typeface="Calibri"/>
              </a:rPr>
              <a:t>Defined in docs/CHART_CONTRACT.md and pinned by the generated docs/chart-schema.json. Today the selector makes one structured call; the tool loop is the next step.</a:t>
            </a:r>
          </a:p>
        </p:txBody>
      </p:sp>
      <p:sp>
        <p:nvSpPr>
          <p:cNvPr id="36" name="TextBox 35"/>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37" name="TextBox 36"/>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058400" cy="822960"/>
          </a:xfrm>
          <a:prstGeom prst="rect">
            <a:avLst/>
          </a:prstGeom>
          <a:noFill/>
        </p:spPr>
        <p:txBody>
          <a:bodyPr wrap="square" anchor="t" lIns="0" rIns="0" tIns="0" bIns="0">
            <a:spAutoFit/>
          </a:bodyPr>
          <a:lstStyle/>
          <a:p>
            <a:pPr algn="l">
              <a:lnSpc>
                <a:spcPct val="100000"/>
              </a:lnSpc>
            </a:pPr>
            <a:r>
              <a:rPr sz="1200" b="1">
                <a:solidFill>
                  <a:srgbClr val="20C4B0"/>
                </a:solidFill>
                <a:latin typeface="Arial"/>
              </a:rPr>
              <a:t>THE WHOLE SYSTEM</a:t>
            </a:r>
          </a:p>
          <a:p>
            <a:pPr algn="l">
              <a:lnSpc>
                <a:spcPct val="100000"/>
              </a:lnSpc>
              <a:spcBef>
                <a:spcPts val="600"/>
              </a:spcBef>
            </a:pPr>
            <a:r>
              <a:rPr sz="3400" b="1">
                <a:solidFill>
                  <a:srgbClr val="FFFFFF"/>
                </a:solidFill>
                <a:latin typeface="Arial"/>
              </a:rPr>
              <a:t>Table in, audited story out — on one laptop</a:t>
            </a:r>
          </a:p>
        </p:txBody>
      </p:sp>
      <p:sp>
        <p:nvSpPr>
          <p:cNvPr id="5" name="Rectangle 4"/>
          <p:cNvSpPr/>
          <p:nvPr/>
        </p:nvSpPr>
        <p:spPr>
          <a:xfrm>
            <a:off x="868680"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514600"/>
            <a:ext cx="1371600" cy="381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Table</a:t>
            </a:r>
          </a:p>
          <a:p>
            <a:pPr algn="ctr">
              <a:lnSpc>
                <a:spcPct val="110000"/>
              </a:lnSpc>
              <a:spcBef>
                <a:spcPts val="100"/>
              </a:spcBef>
            </a:pPr>
            <a:r>
              <a:rPr sz="900" b="0">
                <a:solidFill>
                  <a:srgbClr val="8A9CB8"/>
                </a:solidFill>
                <a:latin typeface="Calibri"/>
              </a:rPr>
              <a:t>9,959 rows</a:t>
            </a:r>
          </a:p>
        </p:txBody>
      </p:sp>
      <p:sp>
        <p:nvSpPr>
          <p:cNvPr id="8" name="TextBox 7"/>
          <p:cNvSpPr txBox="1"/>
          <p:nvPr/>
        </p:nvSpPr>
        <p:spPr>
          <a:xfrm>
            <a:off x="2240280"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9" name="Rectangle 8"/>
          <p:cNvSpPr/>
          <p:nvPr/>
        </p:nvSpPr>
        <p:spPr>
          <a:xfrm>
            <a:off x="2441448"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41448" y="2514600"/>
            <a:ext cx="1371600" cy="381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Evidence pack</a:t>
            </a:r>
          </a:p>
          <a:p>
            <a:pPr algn="ctr">
              <a:lnSpc>
                <a:spcPct val="110000"/>
              </a:lnSpc>
              <a:spcBef>
                <a:spcPts val="100"/>
              </a:spcBef>
            </a:pPr>
            <a:r>
              <a:rPr sz="900" b="0">
                <a:solidFill>
                  <a:srgbClr val="8A9CB8"/>
                </a:solidFill>
                <a:latin typeface="Calibri"/>
              </a:rPr>
              <a:t>computed</a:t>
            </a:r>
          </a:p>
        </p:txBody>
      </p:sp>
      <p:sp>
        <p:nvSpPr>
          <p:cNvPr id="12" name="TextBox 11"/>
          <p:cNvSpPr txBox="1"/>
          <p:nvPr/>
        </p:nvSpPr>
        <p:spPr>
          <a:xfrm>
            <a:off x="3813048"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13" name="Rectangle 12"/>
          <p:cNvSpPr/>
          <p:nvPr/>
        </p:nvSpPr>
        <p:spPr>
          <a:xfrm>
            <a:off x="4014215"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14215" y="2514600"/>
            <a:ext cx="1371600" cy="381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3944"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Raw story</a:t>
            </a:r>
          </a:p>
          <a:p>
            <a:pPr algn="ctr">
              <a:lnSpc>
                <a:spcPct val="110000"/>
              </a:lnSpc>
              <a:spcBef>
                <a:spcPts val="100"/>
              </a:spcBef>
            </a:pPr>
            <a:r>
              <a:rPr sz="900" b="0">
                <a:solidFill>
                  <a:srgbClr val="8A9CB8"/>
                </a:solidFill>
                <a:latin typeface="Calibri"/>
              </a:rPr>
              <a:t>llama3.1:8b</a:t>
            </a:r>
          </a:p>
        </p:txBody>
      </p:sp>
      <p:sp>
        <p:nvSpPr>
          <p:cNvPr id="16" name="TextBox 15"/>
          <p:cNvSpPr txBox="1"/>
          <p:nvPr/>
        </p:nvSpPr>
        <p:spPr>
          <a:xfrm>
            <a:off x="5385816"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17" name="Rectangle 16"/>
          <p:cNvSpPr/>
          <p:nvPr/>
        </p:nvSpPr>
        <p:spPr>
          <a:xfrm>
            <a:off x="5586984"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86984" y="2514600"/>
            <a:ext cx="1371600" cy="381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96712"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Moderated</a:t>
            </a:r>
          </a:p>
          <a:p>
            <a:pPr algn="ctr">
              <a:lnSpc>
                <a:spcPct val="110000"/>
              </a:lnSpc>
              <a:spcBef>
                <a:spcPts val="100"/>
              </a:spcBef>
            </a:pPr>
            <a:r>
              <a:rPr sz="900" b="0">
                <a:solidFill>
                  <a:srgbClr val="8A9CB8"/>
                </a:solidFill>
                <a:latin typeface="Calibri"/>
              </a:rPr>
              <a:t>gemma4:31b</a:t>
            </a:r>
          </a:p>
        </p:txBody>
      </p:sp>
      <p:sp>
        <p:nvSpPr>
          <p:cNvPr id="20" name="TextBox 19"/>
          <p:cNvSpPr txBox="1"/>
          <p:nvPr/>
        </p:nvSpPr>
        <p:spPr>
          <a:xfrm>
            <a:off x="6958584"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21" name="Rectangle 20"/>
          <p:cNvSpPr/>
          <p:nvPr/>
        </p:nvSpPr>
        <p:spPr>
          <a:xfrm>
            <a:off x="7159752"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59752" y="2514600"/>
            <a:ext cx="1371600" cy="381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Fact-check</a:t>
            </a:r>
          </a:p>
          <a:p>
            <a:pPr algn="ctr">
              <a:lnSpc>
                <a:spcPct val="110000"/>
              </a:lnSpc>
              <a:spcBef>
                <a:spcPts val="100"/>
              </a:spcBef>
            </a:pPr>
            <a:r>
              <a:rPr sz="900" b="0">
                <a:solidFill>
                  <a:srgbClr val="8A9CB8"/>
                </a:solidFill>
                <a:latin typeface="Calibri"/>
              </a:rPr>
              <a:t>same model</a:t>
            </a:r>
          </a:p>
        </p:txBody>
      </p:sp>
      <p:sp>
        <p:nvSpPr>
          <p:cNvPr id="24" name="TextBox 23"/>
          <p:cNvSpPr txBox="1"/>
          <p:nvPr/>
        </p:nvSpPr>
        <p:spPr>
          <a:xfrm>
            <a:off x="8531352"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25" name="Rectangle 24"/>
          <p:cNvSpPr/>
          <p:nvPr/>
        </p:nvSpPr>
        <p:spPr>
          <a:xfrm>
            <a:off x="8732519"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32519" y="2514600"/>
            <a:ext cx="1371600" cy="381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42247"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Charts</a:t>
            </a:r>
          </a:p>
          <a:p>
            <a:pPr algn="ctr">
              <a:lnSpc>
                <a:spcPct val="110000"/>
              </a:lnSpc>
              <a:spcBef>
                <a:spcPts val="100"/>
              </a:spcBef>
            </a:pPr>
            <a:r>
              <a:rPr sz="900" b="0">
                <a:solidFill>
                  <a:srgbClr val="8A9CB8"/>
                </a:solidFill>
                <a:latin typeface="Calibri"/>
              </a:rPr>
              <a:t>same model</a:t>
            </a:r>
          </a:p>
        </p:txBody>
      </p:sp>
      <p:sp>
        <p:nvSpPr>
          <p:cNvPr id="28" name="TextBox 27"/>
          <p:cNvSpPr txBox="1"/>
          <p:nvPr/>
        </p:nvSpPr>
        <p:spPr>
          <a:xfrm>
            <a:off x="10104119" y="2761488"/>
            <a:ext cx="201168" cy="274320"/>
          </a:xfrm>
          <a:prstGeom prst="rect">
            <a:avLst/>
          </a:prstGeom>
          <a:noFill/>
        </p:spPr>
        <p:txBody>
          <a:bodyPr wrap="square" anchor="t" lIns="0" rIns="0" tIns="0" bIns="0">
            <a:spAutoFit/>
          </a:bodyPr>
          <a:lstStyle/>
          <a:p>
            <a:pPr algn="ctr">
              <a:lnSpc>
                <a:spcPct val="100000"/>
              </a:lnSpc>
            </a:pPr>
            <a:r>
              <a:rPr sz="1500" b="1">
                <a:solidFill>
                  <a:srgbClr val="2B4A84"/>
                </a:solidFill>
                <a:latin typeface="Arial"/>
              </a:rPr>
              <a:t>›</a:t>
            </a:r>
          </a:p>
        </p:txBody>
      </p:sp>
      <p:sp>
        <p:nvSpPr>
          <p:cNvPr id="29" name="Rectangle 28"/>
          <p:cNvSpPr/>
          <p:nvPr/>
        </p:nvSpPr>
        <p:spPr>
          <a:xfrm>
            <a:off x="10305288" y="2514600"/>
            <a:ext cx="1371600" cy="777240"/>
          </a:xfrm>
          <a:prstGeom prst="rect">
            <a:avLst/>
          </a:prstGeom>
          <a:solidFill>
            <a:srgbClr val="122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305288" y="2514600"/>
            <a:ext cx="1371600" cy="38100"/>
          </a:xfrm>
          <a:prstGeom prst="rect">
            <a:avLst/>
          </a:prstGeom>
          <a:solidFill>
            <a:srgbClr val="2B4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15015" y="2697480"/>
            <a:ext cx="1152144" cy="548640"/>
          </a:xfrm>
          <a:prstGeom prst="rect">
            <a:avLst/>
          </a:prstGeom>
          <a:noFill/>
        </p:spPr>
        <p:txBody>
          <a:bodyPr wrap="square" anchor="t" lIns="0" rIns="0" tIns="0" bIns="0">
            <a:spAutoFit/>
          </a:bodyPr>
          <a:lstStyle/>
          <a:p>
            <a:pPr algn="ctr">
              <a:lnSpc>
                <a:spcPct val="110000"/>
              </a:lnSpc>
            </a:pPr>
            <a:r>
              <a:rPr sz="1150" b="1">
                <a:solidFill>
                  <a:srgbClr val="FFFFFF"/>
                </a:solidFill>
                <a:latin typeface="Calibri"/>
              </a:rPr>
              <a:t>Judged</a:t>
            </a:r>
          </a:p>
          <a:p>
            <a:pPr algn="ctr">
              <a:lnSpc>
                <a:spcPct val="110000"/>
              </a:lnSpc>
              <a:spcBef>
                <a:spcPts val="100"/>
              </a:spcBef>
            </a:pPr>
            <a:r>
              <a:rPr sz="900" b="0">
                <a:solidFill>
                  <a:srgbClr val="8A9CB8"/>
                </a:solidFill>
                <a:latin typeface="Calibri"/>
              </a:rPr>
              <a:t>Opus, blind</a:t>
            </a:r>
          </a:p>
        </p:txBody>
      </p:sp>
      <p:sp>
        <p:nvSpPr>
          <p:cNvPr id="32" name="TextBox 31"/>
          <p:cNvSpPr txBox="1"/>
          <p:nvPr/>
        </p:nvSpPr>
        <p:spPr>
          <a:xfrm>
            <a:off x="868680" y="3456432"/>
            <a:ext cx="10515600" cy="274320"/>
          </a:xfrm>
          <a:prstGeom prst="rect">
            <a:avLst/>
          </a:prstGeom>
          <a:noFill/>
        </p:spPr>
        <p:txBody>
          <a:bodyPr wrap="square" anchor="t" lIns="0" rIns="0" tIns="0" bIns="0">
            <a:spAutoFit/>
          </a:bodyPr>
          <a:lstStyle/>
          <a:p>
            <a:pPr algn="l">
              <a:lnSpc>
                <a:spcPct val="100000"/>
              </a:lnSpc>
            </a:pPr>
            <a:r>
              <a:rPr sz="1000" b="0">
                <a:solidFill>
                  <a:srgbClr val="8A9CB8"/>
                </a:solidFill>
                <a:latin typeface="Calibri"/>
              </a:rPr>
              <a:t>teal = the three stages that run on the moderator model</a:t>
            </a:r>
          </a:p>
        </p:txBody>
      </p:sp>
      <p:sp>
        <p:nvSpPr>
          <p:cNvPr id="33" name="TextBox 32"/>
          <p:cNvSpPr txBox="1"/>
          <p:nvPr/>
        </p:nvSpPr>
        <p:spPr>
          <a:xfrm>
            <a:off x="1005840" y="4114800"/>
            <a:ext cx="10058400" cy="1371600"/>
          </a:xfrm>
          <a:prstGeom prst="rect">
            <a:avLst/>
          </a:prstGeom>
          <a:noFill/>
        </p:spPr>
        <p:txBody>
          <a:bodyPr wrap="square" anchor="t" lIns="0" rIns="0" tIns="0" bIns="0">
            <a:spAutoFit/>
          </a:bodyPr>
          <a:lstStyle/>
          <a:p>
            <a:pPr algn="l">
              <a:lnSpc>
                <a:spcPct val="120000"/>
              </a:lnSpc>
            </a:pPr>
            <a:r>
              <a:rPr sz="1200" b="1">
                <a:solidFill>
                  <a:srgbClr val="20C4B0"/>
                </a:solidFill>
                <a:latin typeface="Arial"/>
              </a:rPr>
              <a:t>LIVE DEMO  ·  3:30</a:t>
            </a:r>
          </a:p>
          <a:p>
            <a:pPr algn="l">
              <a:lnSpc>
                <a:spcPct val="120000"/>
              </a:lnSpc>
              <a:spcBef>
                <a:spcPts val="800"/>
              </a:spcBef>
            </a:pPr>
            <a:r>
              <a:rPr sz="2000" b="1">
                <a:solidFill>
                  <a:srgbClr val="FFFFFF"/>
                </a:solidFill>
                <a:latin typeface="Arial"/>
              </a:rPr>
              <a:t>Table → chosen figures → raw story → moderated story → the human story beside it</a:t>
            </a:r>
          </a:p>
          <a:p>
            <a:pPr algn="l">
              <a:lnSpc>
                <a:spcPct val="120000"/>
              </a:lnSpc>
              <a:spcBef>
                <a:spcPts val="800"/>
              </a:spcBef>
            </a:pPr>
            <a:r>
              <a:rPr sz="1300" b="0">
                <a:solidFill>
                  <a:srgbClr val="8A9CB8"/>
                </a:solidFill>
                <a:latin typeface="Calibri"/>
              </a:rPr>
              <a:t>localhost:3000  ·  Django on :8000  ·  llama3.1:8b and gemma4:31b on Ollama. No API call anywhere in the generation path.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10241280" cy="1828800"/>
          </a:xfrm>
          <a:prstGeom prst="rect">
            <a:avLst/>
          </a:prstGeom>
          <a:noFill/>
        </p:spPr>
        <p:txBody>
          <a:bodyPr wrap="square" anchor="t" lIns="0" rIns="0" tIns="0" bIns="0">
            <a:spAutoFit/>
          </a:bodyPr>
          <a:lstStyle/>
          <a:p>
            <a:pPr algn="l">
              <a:lnSpc>
                <a:spcPct val="114000"/>
              </a:lnSpc>
            </a:pPr>
            <a:r>
              <a:rPr sz="1300" b="1">
                <a:solidFill>
                  <a:srgbClr val="0E8F86"/>
                </a:solidFill>
                <a:latin typeface="Arial"/>
              </a:rPr>
              <a:t>What we can defend</a:t>
            </a:r>
          </a:p>
          <a:p>
            <a:pPr algn="l">
              <a:lnSpc>
                <a:spcPct val="114000"/>
              </a:lnSpc>
              <a:spcBef>
                <a:spcPts val="1200"/>
              </a:spcBef>
            </a:pPr>
            <a:r>
              <a:rPr sz="3400" b="1">
                <a:solidFill>
                  <a:srgbClr val="0D1B5C"/>
                </a:solidFill>
                <a:latin typeface="Arial"/>
              </a:rPr>
              <a:t>A second agent reaches the human tone level,</a:t>
            </a:r>
          </a:p>
          <a:p>
            <a:pPr algn="l">
              <a:lnSpc>
                <a:spcPct val="114000"/>
              </a:lnSpc>
              <a:spcBef>
                <a:spcPts val="200"/>
              </a:spcBef>
            </a:pPr>
            <a:r>
              <a:rPr sz="3400" b="1">
                <a:solidFill>
                  <a:srgbClr val="0D1B5C"/>
                </a:solidFill>
                <a:latin typeface="Arial"/>
              </a:rPr>
              <a:t>keeps the numbers, and costs some readability.</a:t>
            </a:r>
          </a:p>
          <a:p>
            <a:pPr algn="l">
              <a:lnSpc>
                <a:spcPct val="114000"/>
              </a:lnSpc>
              <a:spcBef>
                <a:spcPts val="1200"/>
              </a:spcBef>
            </a:pPr>
            <a:r>
              <a:rPr sz="1500" b="0">
                <a:solidFill>
                  <a:srgbClr val="526173"/>
                </a:solidFill>
                <a:latin typeface="Calibri"/>
              </a:rPr>
              <a:t>All three are measured, not asserted — one number each.</a:t>
            </a:r>
          </a:p>
        </p:txBody>
      </p:sp>
      <p:sp>
        <p:nvSpPr>
          <p:cNvPr id="5" name="Rectangle 4"/>
          <p:cNvSpPr/>
          <p:nvPr/>
        </p:nvSpPr>
        <p:spPr>
          <a:xfrm>
            <a:off x="1005840" y="3611880"/>
            <a:ext cx="3154680" cy="15544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05840" y="3611880"/>
            <a:ext cx="44450" cy="1554480"/>
          </a:xfrm>
          <a:prstGeom prst="rect">
            <a:avLst/>
          </a:prstGeom>
          <a:solidFill>
            <a:srgbClr val="0E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3813048"/>
            <a:ext cx="2697480" cy="274320"/>
          </a:xfrm>
          <a:prstGeom prst="rect">
            <a:avLst/>
          </a:prstGeom>
          <a:noFill/>
        </p:spPr>
        <p:txBody>
          <a:bodyPr wrap="square" anchor="t" lIns="0" rIns="0" tIns="0" bIns="0">
            <a:spAutoFit/>
          </a:bodyPr>
          <a:lstStyle/>
          <a:p>
            <a:pPr algn="l">
              <a:lnSpc>
                <a:spcPct val="100000"/>
              </a:lnSpc>
            </a:pPr>
            <a:r>
              <a:rPr sz="950" b="1">
                <a:solidFill>
                  <a:srgbClr val="526173"/>
                </a:solidFill>
                <a:latin typeface="Arial"/>
              </a:rPr>
              <a:t>THE RESULT</a:t>
            </a:r>
          </a:p>
        </p:txBody>
      </p:sp>
      <p:sp>
        <p:nvSpPr>
          <p:cNvPr id="8" name="TextBox 7"/>
          <p:cNvSpPr txBox="1"/>
          <p:nvPr/>
        </p:nvSpPr>
        <p:spPr>
          <a:xfrm>
            <a:off x="1261872" y="4087368"/>
            <a:ext cx="2697480" cy="548640"/>
          </a:xfrm>
          <a:prstGeom prst="rect">
            <a:avLst/>
          </a:prstGeom>
          <a:noFill/>
        </p:spPr>
        <p:txBody>
          <a:bodyPr wrap="square" anchor="t" lIns="0" rIns="0" tIns="0" bIns="0">
            <a:spAutoFit/>
          </a:bodyPr>
          <a:lstStyle/>
          <a:p>
            <a:pPr algn="l">
              <a:lnSpc>
                <a:spcPct val="100000"/>
              </a:lnSpc>
            </a:pPr>
            <a:r>
              <a:rPr sz="3000" b="1">
                <a:solidFill>
                  <a:srgbClr val="0E8F86"/>
                </a:solidFill>
                <a:latin typeface="Arial"/>
              </a:rPr>
              <a:t>3.74 → 2.09</a:t>
            </a:r>
          </a:p>
        </p:txBody>
      </p:sp>
      <p:sp>
        <p:nvSpPr>
          <p:cNvPr id="9" name="TextBox 8"/>
          <p:cNvSpPr txBox="1"/>
          <p:nvPr/>
        </p:nvSpPr>
        <p:spPr>
          <a:xfrm>
            <a:off x="1261872" y="4636008"/>
            <a:ext cx="2697480" cy="640080"/>
          </a:xfrm>
          <a:prstGeom prst="rect">
            <a:avLst/>
          </a:prstGeom>
          <a:noFill/>
        </p:spPr>
        <p:txBody>
          <a:bodyPr wrap="square" anchor="t" lIns="0" rIns="0" tIns="0" bIns="0">
            <a:spAutoFit/>
          </a:bodyPr>
          <a:lstStyle/>
          <a:p>
            <a:pPr algn="l">
              <a:lnSpc>
                <a:spcPct val="110000"/>
              </a:lnSpc>
            </a:pPr>
            <a:r>
              <a:rPr sz="1100" b="0">
                <a:solidFill>
                  <a:srgbClr val="526173"/>
                </a:solidFill>
                <a:latin typeface="Calibri"/>
              </a:rPr>
              <a:t>alarmism, raw to moderated, over 32 runs. Human median 2.00.</a:t>
            </a:r>
          </a:p>
        </p:txBody>
      </p:sp>
      <p:sp>
        <p:nvSpPr>
          <p:cNvPr id="10" name="Rectangle 9"/>
          <p:cNvSpPr/>
          <p:nvPr/>
        </p:nvSpPr>
        <p:spPr>
          <a:xfrm>
            <a:off x="4434840" y="3611880"/>
            <a:ext cx="3154680" cy="15544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3611880"/>
            <a:ext cx="44450" cy="1554480"/>
          </a:xfrm>
          <a:prstGeom prst="rect">
            <a:avLst/>
          </a:prstGeom>
          <a:solidFill>
            <a:srgbClr val="1E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3813048"/>
            <a:ext cx="2697480" cy="274320"/>
          </a:xfrm>
          <a:prstGeom prst="rect">
            <a:avLst/>
          </a:prstGeom>
          <a:noFill/>
        </p:spPr>
        <p:txBody>
          <a:bodyPr wrap="square" anchor="t" lIns="0" rIns="0" tIns="0" bIns="0">
            <a:spAutoFit/>
          </a:bodyPr>
          <a:lstStyle/>
          <a:p>
            <a:pPr algn="l">
              <a:lnSpc>
                <a:spcPct val="100000"/>
              </a:lnSpc>
            </a:pPr>
            <a:r>
              <a:rPr sz="950" b="1">
                <a:solidFill>
                  <a:srgbClr val="526173"/>
                </a:solidFill>
                <a:latin typeface="Arial"/>
              </a:rPr>
              <a:t>THE INSTRUMENT</a:t>
            </a:r>
          </a:p>
        </p:txBody>
      </p:sp>
      <p:sp>
        <p:nvSpPr>
          <p:cNvPr id="13" name="TextBox 12"/>
          <p:cNvSpPr txBox="1"/>
          <p:nvPr/>
        </p:nvSpPr>
        <p:spPr>
          <a:xfrm>
            <a:off x="4690872" y="4087368"/>
            <a:ext cx="2697480" cy="548640"/>
          </a:xfrm>
          <a:prstGeom prst="rect">
            <a:avLst/>
          </a:prstGeom>
          <a:noFill/>
        </p:spPr>
        <p:txBody>
          <a:bodyPr wrap="square" anchor="t" lIns="0" rIns="0" tIns="0" bIns="0">
            <a:spAutoFit/>
          </a:bodyPr>
          <a:lstStyle/>
          <a:p>
            <a:pPr algn="l">
              <a:lnSpc>
                <a:spcPct val="100000"/>
              </a:lnSpc>
            </a:pPr>
            <a:r>
              <a:rPr sz="3000" b="1">
                <a:solidFill>
                  <a:srgbClr val="1E66B8"/>
                </a:solidFill>
                <a:latin typeface="Arial"/>
              </a:rPr>
              <a:t>0.991</a:t>
            </a:r>
          </a:p>
        </p:txBody>
      </p:sp>
      <p:sp>
        <p:nvSpPr>
          <p:cNvPr id="14" name="TextBox 13"/>
          <p:cNvSpPr txBox="1"/>
          <p:nvPr/>
        </p:nvSpPr>
        <p:spPr>
          <a:xfrm>
            <a:off x="4690872" y="4636008"/>
            <a:ext cx="2697480" cy="640080"/>
          </a:xfrm>
          <a:prstGeom prst="rect">
            <a:avLst/>
          </a:prstGeom>
          <a:noFill/>
        </p:spPr>
        <p:txBody>
          <a:bodyPr wrap="square" anchor="t" lIns="0" rIns="0" tIns="0" bIns="0">
            <a:spAutoFit/>
          </a:bodyPr>
          <a:lstStyle/>
          <a:p>
            <a:pPr algn="l">
              <a:lnSpc>
                <a:spcPct val="110000"/>
              </a:lnSpc>
            </a:pPr>
            <a:r>
              <a:rPr sz="1100" b="0">
                <a:solidFill>
                  <a:srgbClr val="526173"/>
                </a:solidFill>
                <a:latin typeface="Calibri"/>
              </a:rPr>
              <a:t>ICC over 3 blind passes: the judge agrees with itself, so the move above is real.</a:t>
            </a:r>
          </a:p>
        </p:txBody>
      </p:sp>
      <p:sp>
        <p:nvSpPr>
          <p:cNvPr id="15" name="Rectangle 14"/>
          <p:cNvSpPr/>
          <p:nvPr/>
        </p:nvSpPr>
        <p:spPr>
          <a:xfrm>
            <a:off x="7863840" y="3611880"/>
            <a:ext cx="3154680" cy="1554480"/>
          </a:xfrm>
          <a:prstGeom prst="rect">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3611880"/>
            <a:ext cx="44450" cy="1554480"/>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9872" y="3813048"/>
            <a:ext cx="2697480" cy="274320"/>
          </a:xfrm>
          <a:prstGeom prst="rect">
            <a:avLst/>
          </a:prstGeom>
          <a:noFill/>
        </p:spPr>
        <p:txBody>
          <a:bodyPr wrap="square" anchor="t" lIns="0" rIns="0" tIns="0" bIns="0">
            <a:spAutoFit/>
          </a:bodyPr>
          <a:lstStyle/>
          <a:p>
            <a:pPr algn="l">
              <a:lnSpc>
                <a:spcPct val="100000"/>
              </a:lnSpc>
            </a:pPr>
            <a:r>
              <a:rPr sz="950" b="1">
                <a:solidFill>
                  <a:srgbClr val="526173"/>
                </a:solidFill>
                <a:latin typeface="Arial"/>
              </a:rPr>
              <a:t>THE COST</a:t>
            </a:r>
          </a:p>
        </p:txBody>
      </p:sp>
      <p:sp>
        <p:nvSpPr>
          <p:cNvPr id="18" name="TextBox 17"/>
          <p:cNvSpPr txBox="1"/>
          <p:nvPr/>
        </p:nvSpPr>
        <p:spPr>
          <a:xfrm>
            <a:off x="8119872" y="4087368"/>
            <a:ext cx="2697480" cy="548640"/>
          </a:xfrm>
          <a:prstGeom prst="rect">
            <a:avLst/>
          </a:prstGeom>
          <a:noFill/>
        </p:spPr>
        <p:txBody>
          <a:bodyPr wrap="square" anchor="t" lIns="0" rIns="0" tIns="0" bIns="0">
            <a:spAutoFit/>
          </a:bodyPr>
          <a:lstStyle/>
          <a:p>
            <a:pPr algn="l">
              <a:lnSpc>
                <a:spcPct val="100000"/>
              </a:lnSpc>
            </a:pPr>
            <a:r>
              <a:rPr sz="3000" b="1">
                <a:solidFill>
                  <a:srgbClr val="B45409"/>
                </a:solidFill>
                <a:latin typeface="Arial"/>
              </a:rPr>
              <a:t>12/20</a:t>
            </a:r>
          </a:p>
        </p:txBody>
      </p:sp>
      <p:sp>
        <p:nvSpPr>
          <p:cNvPr id="19" name="TextBox 18"/>
          <p:cNvSpPr txBox="1"/>
          <p:nvPr/>
        </p:nvSpPr>
        <p:spPr>
          <a:xfrm>
            <a:off x="8119872" y="4636008"/>
            <a:ext cx="2697480" cy="640080"/>
          </a:xfrm>
          <a:prstGeom prst="rect">
            <a:avLst/>
          </a:prstGeom>
          <a:noFill/>
        </p:spPr>
        <p:txBody>
          <a:bodyPr wrap="square" anchor="t" lIns="0" rIns="0" tIns="0" bIns="0">
            <a:spAutoFit/>
          </a:bodyPr>
          <a:lstStyle/>
          <a:p>
            <a:pPr algn="l">
              <a:lnSpc>
                <a:spcPct val="110000"/>
              </a:lnSpc>
            </a:pPr>
            <a:r>
              <a:rPr sz="1100" b="0">
                <a:solidFill>
                  <a:srgbClr val="526173"/>
                </a:solidFill>
                <a:latin typeface="Calibri"/>
              </a:rPr>
              <a:t>blind pairs where the unmoderated story read better as writing.</a:t>
            </a:r>
          </a:p>
        </p:txBody>
      </p:sp>
      <p:sp>
        <p:nvSpPr>
          <p:cNvPr id="20" name="TextBox 19"/>
          <p:cNvSpPr txBox="1"/>
          <p:nvPr/>
        </p:nvSpPr>
        <p:spPr>
          <a:xfrm>
            <a:off x="1005840" y="5440680"/>
            <a:ext cx="10241280" cy="777240"/>
          </a:xfrm>
          <a:prstGeom prst="rect">
            <a:avLst/>
          </a:prstGeom>
          <a:noFill/>
        </p:spPr>
        <p:txBody>
          <a:bodyPr wrap="square" anchor="t" lIns="0" rIns="0" tIns="0" bIns="0">
            <a:spAutoFit/>
          </a:bodyPr>
          <a:lstStyle/>
          <a:p>
            <a:pPr algn="l">
              <a:lnSpc>
                <a:spcPct val="116000"/>
              </a:lnSpc>
            </a:pPr>
            <a:r>
              <a:rPr sz="1250" b="0">
                <a:solidFill>
                  <a:srgbClr val="526173"/>
                </a:solidFill>
                <a:latin typeface="Calibri"/>
              </a:rPr>
              <a:t>Not claimed: a judge panel, a user study, or a controlled writer design. One judge family, 25 stories, five writer slots.</a:t>
            </a:r>
          </a:p>
          <a:p>
            <a:pPr algn="l">
              <a:lnSpc>
                <a:spcPct val="116000"/>
              </a:lnSpc>
              <a:spcBef>
                <a:spcPts val="700"/>
              </a:spcBef>
            </a:pPr>
            <a:r>
              <a:rPr sz="1250" b="0">
                <a:solidFill>
                  <a:srgbClr val="526173"/>
                </a:solidFill>
                <a:latin typeface="Calibri"/>
              </a:rPr>
              <a:t>Every number here is read from the experiment files at build time, so the slides cannot drift from the data.</a:t>
            </a:r>
          </a:p>
        </p:txBody>
      </p:sp>
      <p:sp>
        <p:nvSpPr>
          <p:cNvPr id="21" name="TextBox 20"/>
          <p:cNvSpPr txBox="1"/>
          <p:nvPr/>
        </p:nvSpPr>
        <p:spPr>
          <a:xfrm>
            <a:off x="685800" y="6355080"/>
            <a:ext cx="8686800" cy="274320"/>
          </a:xfrm>
          <a:prstGeom prst="rect">
            <a:avLst/>
          </a:prstGeom>
          <a:noFill/>
        </p:spPr>
        <p:txBody>
          <a:bodyPr wrap="square" anchor="t" lIns="0" rIns="0" tIns="0" bIns="0">
            <a:spAutoFit/>
          </a:bodyPr>
          <a:lstStyle/>
          <a:p>
            <a:pPr algn="l">
              <a:lnSpc>
                <a:spcPct val="100000"/>
              </a:lnSpc>
            </a:pPr>
            <a:r>
              <a:rPr sz="900" b="0">
                <a:solidFill>
                  <a:srgbClr val="526173"/>
                </a:solidFill>
                <a:latin typeface="Calibri"/>
              </a:rPr>
              <a:t>AI-Powered Data Storytelling  ·  CMS Team Project  ·  TU Dresden  ·  SoSe 2026</a:t>
            </a:r>
          </a:p>
        </p:txBody>
      </p:sp>
      <p:sp>
        <p:nvSpPr>
          <p:cNvPr id="22" name="TextBox 21"/>
          <p:cNvSpPr txBox="1"/>
          <p:nvPr/>
        </p:nvSpPr>
        <p:spPr>
          <a:xfrm>
            <a:off x="10972800" y="6355080"/>
            <a:ext cx="548640" cy="274320"/>
          </a:xfrm>
          <a:prstGeom prst="rect">
            <a:avLst/>
          </a:prstGeom>
          <a:noFill/>
        </p:spPr>
        <p:txBody>
          <a:bodyPr wrap="square" anchor="t" lIns="0" rIns="0" tIns="0" bIns="0">
            <a:spAutoFit/>
          </a:bodyPr>
          <a:lstStyle/>
          <a:p>
            <a:pPr algn="r">
              <a:lnSpc>
                <a:spcPct val="100000"/>
              </a:lnSpc>
            </a:pPr>
            <a:r>
              <a:rPr sz="900" b="0">
                <a:solidFill>
                  <a:srgbClr val="526173"/>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65960"/>
            <a:ext cx="10058400" cy="1371600"/>
          </a:xfrm>
          <a:prstGeom prst="rect">
            <a:avLst/>
          </a:prstGeom>
          <a:noFill/>
        </p:spPr>
        <p:txBody>
          <a:bodyPr wrap="square" anchor="t" lIns="0" rIns="0" tIns="0" bIns="0">
            <a:spAutoFit/>
          </a:bodyPr>
          <a:lstStyle/>
          <a:p>
            <a:pPr algn="l">
              <a:lnSpc>
                <a:spcPct val="100000"/>
              </a:lnSpc>
            </a:pPr>
            <a:r>
              <a:rPr sz="6000" b="1">
                <a:solidFill>
                  <a:srgbClr val="FFFFFF"/>
                </a:solidFill>
                <a:latin typeface="Arial"/>
              </a:rPr>
              <a:t>Thank you</a:t>
            </a:r>
          </a:p>
        </p:txBody>
      </p:sp>
      <p:sp>
        <p:nvSpPr>
          <p:cNvPr id="5" name="Rectangle 4"/>
          <p:cNvSpPr/>
          <p:nvPr/>
        </p:nvSpPr>
        <p:spPr>
          <a:xfrm>
            <a:off x="1005840" y="3429000"/>
            <a:ext cx="1463040" cy="50800"/>
          </a:xfrm>
          <a:prstGeom prst="rect">
            <a:avLst/>
          </a:prstGeom>
          <a:solidFill>
            <a:srgbClr val="20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49039"/>
            <a:ext cx="10058400" cy="548640"/>
          </a:xfrm>
          <a:prstGeom prst="rect">
            <a:avLst/>
          </a:prstGeom>
          <a:noFill/>
        </p:spPr>
        <p:txBody>
          <a:bodyPr wrap="square" anchor="t" lIns="0" rIns="0" tIns="0" bIns="0">
            <a:spAutoFit/>
          </a:bodyPr>
          <a:lstStyle/>
          <a:p>
            <a:pPr algn="l">
              <a:lnSpc>
                <a:spcPct val="100000"/>
              </a:lnSpc>
            </a:pPr>
            <a:r>
              <a:rPr sz="2600" b="1">
                <a:solidFill>
                  <a:srgbClr val="20C4B0"/>
                </a:solidFill>
                <a:latin typeface="Arial"/>
              </a:rPr>
              <a:t>Questions?</a:t>
            </a:r>
          </a:p>
        </p:txBody>
      </p:sp>
      <p:sp>
        <p:nvSpPr>
          <p:cNvPr id="7" name="TextBox 6"/>
          <p:cNvSpPr txBox="1"/>
          <p:nvPr/>
        </p:nvSpPr>
        <p:spPr>
          <a:xfrm>
            <a:off x="1005840" y="4617720"/>
            <a:ext cx="10058400" cy="1188720"/>
          </a:xfrm>
          <a:prstGeom prst="rect">
            <a:avLst/>
          </a:prstGeom>
          <a:noFill/>
        </p:spPr>
        <p:txBody>
          <a:bodyPr wrap="square" anchor="t" lIns="0" rIns="0" tIns="0" bIns="0">
            <a:spAutoFit/>
          </a:bodyPr>
          <a:lstStyle/>
          <a:p>
            <a:pPr algn="l">
              <a:lnSpc>
                <a:spcPct val="118000"/>
              </a:lnSpc>
            </a:pPr>
            <a:r>
              <a:rPr sz="1400" b="1">
                <a:solidFill>
                  <a:srgbClr val="FFFFFF"/>
                </a:solidFill>
                <a:latin typeface="Calibri"/>
              </a:rPr>
              <a:t>Mahmoud Elsamadony  ·  Ahmed Okasha  ·  Ahmed Elsaadani  ·  Ahmed Saleh</a:t>
            </a:r>
          </a:p>
          <a:p>
            <a:pPr algn="l">
              <a:lnSpc>
                <a:spcPct val="118000"/>
              </a:lnSpc>
              <a:spcBef>
                <a:spcPts val="600"/>
              </a:spcBef>
            </a:pPr>
            <a:r>
              <a:rPr sz="1150" b="0">
                <a:solidFill>
                  <a:srgbClr val="8A9CB8"/>
                </a:solidFill>
                <a:latin typeface="Calibri"/>
              </a:rPr>
              <a:t>Supervisors: Susmita Khadse, Julián Méndez  ·  Chair: Prof. Dr. Raimund Dachselt (IMLD)</a:t>
            </a:r>
          </a:p>
          <a:p>
            <a:pPr algn="l">
              <a:lnSpc>
                <a:spcPct val="118000"/>
              </a:lnSpc>
              <a:spcBef>
                <a:spcPts val="800"/>
              </a:spcBef>
            </a:pPr>
            <a:r>
              <a:rPr sz="1200" b="1">
                <a:solidFill>
                  <a:srgbClr val="20C4B0"/>
                </a:solidFill>
                <a:latin typeface="Calibri"/>
              </a:rPr>
              <a:t>github.com/memoelsamadony/ai-powered-data-storytelling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